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investigate how a robot can handle a deployment situation it did not encounter during training. The idea has two components. First, the controller needs a repertoire of grasping and movement behavior that generalizes within a task. Second, the system needs a useful interpretation of its current environment so that the conditioned policy can produce appropriate commands. These are research hypotheses, not guarantees provided by reinforcement learning. The task remains pick and lift with a consistent top-down grasp strategy. This framing follows the latest proposal: policy generalization is now an explicit enabling part of the study, while initial environment estimation remains a separate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an RL framework. The policy receives standard robot and task state plus a compact set of environmental parameters, and learns grasping and movement commands from task reward. During simulation training, selected environmental values can be supplied from the simulator. During estimated-context evaluation, the corresponding values must come from the estimator. RL is a method of training the controller; successful generalization must still be measured. Selected context variables could be guided by the existing CREST workflow, but no completed CREST selection is claimed here. The current policy has 45 state values including object pose, relative geometry, supplied weight, and finger-force observations. If the future estimator predicts height or pose, true copies and derived versions of those quantities must not bypass that estimator.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evidence: the saved initial-image CNN achieved test mean absolute mass error of 2.760891 g and RMSE 4.434443 g on 12 held-out cube sizes and 48 images. The constant training-mean predictor had 106.373742 g test MAE. The complete dataset contains 96 sizes and 384 images; all views of one object stay in one split. The model checkpoint was selected by validation loss, not test results. This is a controlled visual size-to-mass prior: density, material, friction, camera and background are fixed. It does not establish general mass inference for identical-looking objects of different densities. It is not a height-estimation result. Data source: runs/visual_mass/initial_rgb_mass/model/metrics.json. Plot: runs/visual_mass/initial_rgb_mass/model/predictions.png.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integration demonstration: three configured cases, one seed per cube size, each completed the full 50-action, 2.5-second rollout and ended with task success and a grasp. The 4, 5 and 6 cm cubes had masses 64, 125 and 216 g; predicted masses were approximately 62.32, 121.24 and 212.45 g. Across the three trials the mass MAE was 2.996986 g. The estimate remained fixed throughout each episode. Final continuous success lasted about 2.10, 2.10 and 2.05 simulated seconds. These images are actual saved simulation frames. This establishes that the components can run together. Three trials are not a reliability estimate, and there is no matched true-estimate-versus-fixed-estimate benefit comparison here. The run used a saved frozen-movement/independent-strength v1 checkpoint, not a newly trained policy that generalizes over initial object elevation. Source: runs/deployment/20261022_014201_067220/summary.json and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proposed work and has not yet been done. Train a pick-and-lift RL policy across initial object elevations relative to a fixed robot base, for example by changing the height of a physically supported object. The three symbolic heights are schematic, not a chosen numerical training schedule. Height here means the initial object/support elevation, not merely the final lift target. Existing training varies a floating goal height; that does not establish training over initial object elevations. Keep mass, friction and geometry controlled in the first height study and keep required lift clearance above the supporting surface consistent. Define reachability and collision validity before training. The aim is to establish a controller that can execute the same task from multiple initial heights. Generalization to held-out heights remains an empirical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deployment test uses initial object heights that are excluded from policy training. The number line is a schematic of within-range held-out evaluation, not a result or a chosen numeric schedule. A withheld height interval is stronger than treating a previously unsampled floating-point value as meaningfully novel. Evaluate outside-range extrapolation separately. Keep policy and estimator weights fixed during evaluation and record what heights each model saw during training. Use initial observations to estimate the selected context. The present estimator predicts mass, not object height. It is still open whether the new estimator should predict height, physical properties while height tests policy generalization, or both. If it predicts height, remove simulator-true object heights and any derived height features from deployment policy inputs. If it predicts mass only, height generalization and mass-estimation quality are separate factors and should be described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protocol. First define training and test height sets or held-out bands. Do not tune on final test episodes. At each held-out height and matched physical setting, run the same frozen policy with true selected context, estimated context, and a fixed or deliberately incorrect context. Match seeds and robot starts across these context conditions. True context tests the trained policy’s capability without that estimation error; compare estimated context against it to expose the estimation gap. Fixed or incorrect context tests whether useful conditioning matters. Use repeated starts and report counts, success rates with uncertainty, estimation error, grasp loss and relevant force or timing metrics. Set the goal tolerance, required support-relative clearance, and final hold window before evaluation. Ensure estimated-context deployment observations cannot also expose simulator-true copies of the estimated variables, including derived relative-position values when height or pose is estimated. The existing state interface includes such geometry, so this must be addressed if height is the estimator target. No evaluation result is claimed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defensible current claims are a controlled visual mass prior and a working integrated simulation pipeline for three configured cases. Neither proves that estimates improve execution relative to nominal inputs, nor that an RL policy generalizes over unseen initial object heights. The next experiment is to train across initial object heights, establish execution capability using correct context, and compare estimated and fixed context on matched held-out cases. If correct context fails, investigate policy generalization, task feasibility and control limitations before attributing failures to the estimator. If correct context succeeds but estimated context fails, investigate estimation errors and policy sensitivity to those errors. This is a diagnostic guide, not a unique causal identification claim. Later work can update estimates from interaction. For PI discussion, specify the estimator target, height split and evaluation criteria before running the proposed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01 · RESEARCH IDEA</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Adaptation needs capability and information</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How can a robot execute a task in a situation it did not encounter during training?</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01 / 08</a:t>
            </a:r>
            <a:endParaRPr lang="en-US" sz="1140" dirty="0"/>
          </a:p>
        </p:txBody>
      </p:sp>
      <p:sp>
        <p:nvSpPr>
          <p:cNvPr id="10" name="Shape 8"/>
          <p:cNvSpPr/>
          <p:nvPr/>
        </p:nvSpPr>
        <p:spPr>
          <a:xfrm>
            <a:off x="609600" y="2194560"/>
            <a:ext cx="5257800" cy="3208020"/>
          </a:xfrm>
          <a:prstGeom prst="roundRect">
            <a:avLst/>
          </a:prstGeom>
          <a:solidFill>
            <a:srgbClr val="FFFFFF"/>
          </a:solidFill>
          <a:ln w="12700">
            <a:solidFill>
              <a:srgbClr val="FFFFFF">
                <a:alpha val="0"/>
              </a:srgbClr>
            </a:solidFill>
            <a:prstDash val="solid"/>
          </a:ln>
        </p:spPr>
      </p:sp>
      <p:sp>
        <p:nvSpPr>
          <p:cNvPr id="11" name="Shape 9"/>
          <p:cNvSpPr/>
          <p:nvPr/>
        </p:nvSpPr>
        <p:spPr>
          <a:xfrm>
            <a:off x="6324600" y="2194560"/>
            <a:ext cx="5257800" cy="3208020"/>
          </a:xfrm>
          <a:prstGeom prst="roundRect">
            <a:avLst/>
          </a:prstGeom>
          <a:solidFill>
            <a:srgbClr val="E1EFEB"/>
          </a:solidFill>
          <a:ln w="12700">
            <a:solidFill>
              <a:srgbClr val="E1EFEB">
                <a:alpha val="0"/>
              </a:srgbClr>
            </a:solidFill>
            <a:prstDash val="solid"/>
          </a:ln>
        </p:spPr>
      </p:sp>
      <p:sp>
        <p:nvSpPr>
          <p:cNvPr id="12" name="Shape 10"/>
          <p:cNvSpPr/>
          <p:nvPr/>
        </p:nvSpPr>
        <p:spPr>
          <a:xfrm>
            <a:off x="838200" y="2423160"/>
            <a:ext cx="304800" cy="304800"/>
          </a:xfrm>
          <a:prstGeom prst="ellipse">
            <a:avLst/>
          </a:prstGeom>
          <a:solidFill>
            <a:srgbClr val="22434A"/>
          </a:solidFill>
          <a:ln w="12700">
            <a:solidFill>
              <a:srgbClr val="22434A">
                <a:alpha val="0"/>
              </a:srgbClr>
            </a:solidFill>
            <a:prstDash val="solid"/>
          </a:ln>
        </p:spPr>
      </p:sp>
      <p:sp>
        <p:nvSpPr>
          <p:cNvPr id="13" name="Text 11"/>
          <p:cNvSpPr/>
          <p:nvPr/>
        </p:nvSpPr>
        <p:spPr>
          <a:xfrm>
            <a:off x="838200" y="246888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1</a:t>
            </a:r>
            <a:endParaRPr lang="en-US" sz="1380" dirty="0"/>
          </a:p>
        </p:txBody>
      </p:sp>
      <p:sp>
        <p:nvSpPr>
          <p:cNvPr id="14" name="Text 12"/>
          <p:cNvSpPr/>
          <p:nvPr/>
        </p:nvSpPr>
        <p:spPr>
          <a:xfrm>
            <a:off x="1295400" y="2423160"/>
            <a:ext cx="4267200" cy="388620"/>
          </a:xfrm>
          <a:prstGeom prst="rect">
            <a:avLst/>
          </a:prstGeom>
          <a:noFill/>
          <a:ln/>
        </p:spPr>
        <p:txBody>
          <a:bodyPr wrap="square" lIns="0" tIns="0" rIns="0" bIns="0" rtlCol="0" anchor="t"/>
          <a:lstStyle/>
          <a:p>
            <a:pPr algn="l" indent="0" marL="0">
              <a:lnSpc>
                <a:spcPct val="105000"/>
              </a:lnSpc>
              <a:buNone/>
            </a:pPr>
            <a:r>
              <a:rPr lang="en-US" altLang="en-US" sz="2340" b="1" dirty="0">
                <a:solidFill>
                  <a:srgbClr val="183139"/>
                </a:solidFill>
                <a:latin typeface="Arial" pitchFamily="34" charset="0"/>
                <a:ea typeface="Arial" pitchFamily="34" charset="-122"/>
                <a:cs typeface="Arial" pitchFamily="34" charset="-120"/>
              </a:rPr>
              <a:t>Movement capability</a:t>
            </a:r>
            <a:endParaRPr lang="en-US" sz="2340" dirty="0"/>
          </a:p>
        </p:txBody>
      </p:sp>
      <p:sp>
        <p:nvSpPr>
          <p:cNvPr id="15" name="Text 13"/>
          <p:cNvSpPr/>
          <p:nvPr/>
        </p:nvSpPr>
        <p:spPr>
          <a:xfrm>
            <a:off x="861060" y="3017520"/>
            <a:ext cx="4572000" cy="678180"/>
          </a:xfrm>
          <a:prstGeom prst="rect">
            <a:avLst/>
          </a:prstGeom>
          <a:noFill/>
          <a:ln/>
        </p:spPr>
        <p:txBody>
          <a:bodyPr wrap="square" lIns="0" tIns="0" rIns="0" bIns="0" rtlCol="0" anchor="t"/>
          <a:lstStyle/>
          <a:p>
            <a:pPr algn="l" indent="0" marL="0">
              <a:lnSpc>
                <a:spcPct val="105000"/>
              </a:lnSpc>
              <a:buNone/>
            </a:pPr>
            <a:r>
              <a:rPr lang="en-US" altLang="en-US" sz="1920" dirty="0">
                <a:solidFill>
                  <a:srgbClr val="183139"/>
                </a:solidFill>
                <a:latin typeface="Arial" pitchFamily="34" charset="0"/>
                <a:ea typeface="Arial" pitchFamily="34" charset="-122"/>
                <a:cs typeface="Arial" pitchFamily="34" charset="-120"/>
              </a:rPr>
              <a:t>Learn how to grasp and move</a:t>
            </a:r>
            <a:endParaRPr lang="en-US" sz="1920" dirty="0"/>
          </a:p>
          <a:p>
            <a:pPr algn="l" indent="0" marL="0">
              <a:lnSpc>
                <a:spcPct val="105000"/>
              </a:lnSpc>
              <a:buNone/>
            </a:pPr>
            <a:r>
              <a:rPr lang="en-US" altLang="en-US" sz="1920" dirty="0">
                <a:solidFill>
                  <a:srgbClr val="183139"/>
                </a:solidFill>
                <a:latin typeface="Arial" pitchFamily="34" charset="0"/>
                <a:ea typeface="Arial" pitchFamily="34" charset="-122"/>
                <a:cs typeface="Arial" pitchFamily="34" charset="-120"/>
              </a:rPr>
              <a:t>across variations of the same task.</a:t>
            </a:r>
            <a:endParaRPr lang="en-US" sz="1920" dirty="0"/>
          </a:p>
        </p:txBody>
      </p:sp>
      <p:sp>
        <p:nvSpPr>
          <p:cNvPr id="16" name="Shape 14"/>
          <p:cNvSpPr/>
          <p:nvPr/>
        </p:nvSpPr>
        <p:spPr>
          <a:xfrm flipV="1">
            <a:off x="1188720" y="4168140"/>
            <a:ext cx="647700" cy="35560"/>
          </a:xfrm>
          <a:prstGeom prst="line">
            <a:avLst/>
          </a:prstGeom>
          <a:noFill/>
          <a:ln w="11430">
            <a:solidFill>
              <a:srgbClr val="A5CBC0"/>
            </a:solidFill>
            <a:prstDash val="solid"/>
          </a:ln>
        </p:spPr>
      </p:sp>
      <p:sp>
        <p:nvSpPr>
          <p:cNvPr id="17" name="Shape 15"/>
          <p:cNvSpPr/>
          <p:nvPr/>
        </p:nvSpPr>
        <p:spPr>
          <a:xfrm>
            <a:off x="1188720" y="4203700"/>
            <a:ext cx="647700" cy="177800"/>
          </a:xfrm>
          <a:prstGeom prst="line">
            <a:avLst/>
          </a:prstGeom>
          <a:noFill/>
          <a:ln w="11430">
            <a:solidFill>
              <a:srgbClr val="A5CBC0"/>
            </a:solidFill>
            <a:prstDash val="solid"/>
          </a:ln>
        </p:spPr>
      </p:sp>
      <p:sp>
        <p:nvSpPr>
          <p:cNvPr id="18" name="Shape 16"/>
          <p:cNvSpPr/>
          <p:nvPr/>
        </p:nvSpPr>
        <p:spPr>
          <a:xfrm>
            <a:off x="1188720" y="4203700"/>
            <a:ext cx="647700" cy="391160"/>
          </a:xfrm>
          <a:prstGeom prst="line">
            <a:avLst/>
          </a:prstGeom>
          <a:noFill/>
          <a:ln w="11430">
            <a:solidFill>
              <a:srgbClr val="A5CBC0"/>
            </a:solidFill>
            <a:prstDash val="solid"/>
          </a:ln>
        </p:spPr>
      </p:sp>
      <p:sp>
        <p:nvSpPr>
          <p:cNvPr id="19" name="Shape 17"/>
          <p:cNvSpPr/>
          <p:nvPr/>
        </p:nvSpPr>
        <p:spPr>
          <a:xfrm>
            <a:off x="1188720" y="4203700"/>
            <a:ext cx="647700" cy="604520"/>
          </a:xfrm>
          <a:prstGeom prst="line">
            <a:avLst/>
          </a:prstGeom>
          <a:noFill/>
          <a:ln w="11430">
            <a:solidFill>
              <a:srgbClr val="A5CBC0"/>
            </a:solidFill>
            <a:prstDash val="solid"/>
          </a:ln>
        </p:spPr>
      </p:sp>
      <p:sp>
        <p:nvSpPr>
          <p:cNvPr id="20" name="Shape 18"/>
          <p:cNvSpPr/>
          <p:nvPr/>
        </p:nvSpPr>
        <p:spPr>
          <a:xfrm flipV="1">
            <a:off x="1188720" y="4168140"/>
            <a:ext cx="647700" cy="320040"/>
          </a:xfrm>
          <a:prstGeom prst="line">
            <a:avLst/>
          </a:prstGeom>
          <a:noFill/>
          <a:ln w="11430">
            <a:solidFill>
              <a:srgbClr val="A5CBC0"/>
            </a:solidFill>
            <a:prstDash val="solid"/>
          </a:ln>
        </p:spPr>
      </p:sp>
      <p:sp>
        <p:nvSpPr>
          <p:cNvPr id="21" name="Shape 19"/>
          <p:cNvSpPr/>
          <p:nvPr/>
        </p:nvSpPr>
        <p:spPr>
          <a:xfrm flipV="1">
            <a:off x="1188720" y="4381500"/>
            <a:ext cx="647700" cy="106680"/>
          </a:xfrm>
          <a:prstGeom prst="line">
            <a:avLst/>
          </a:prstGeom>
          <a:noFill/>
          <a:ln w="11430">
            <a:solidFill>
              <a:srgbClr val="A5CBC0"/>
            </a:solidFill>
            <a:prstDash val="solid"/>
          </a:ln>
        </p:spPr>
      </p:sp>
      <p:sp>
        <p:nvSpPr>
          <p:cNvPr id="22" name="Shape 20"/>
          <p:cNvSpPr/>
          <p:nvPr/>
        </p:nvSpPr>
        <p:spPr>
          <a:xfrm>
            <a:off x="1188720" y="4488180"/>
            <a:ext cx="647700" cy="106680"/>
          </a:xfrm>
          <a:prstGeom prst="line">
            <a:avLst/>
          </a:prstGeom>
          <a:noFill/>
          <a:ln w="11430">
            <a:solidFill>
              <a:srgbClr val="A5CBC0"/>
            </a:solidFill>
            <a:prstDash val="solid"/>
          </a:ln>
        </p:spPr>
      </p:sp>
      <p:sp>
        <p:nvSpPr>
          <p:cNvPr id="23" name="Shape 21"/>
          <p:cNvSpPr/>
          <p:nvPr/>
        </p:nvSpPr>
        <p:spPr>
          <a:xfrm>
            <a:off x="1188720" y="4488180"/>
            <a:ext cx="647700" cy="320040"/>
          </a:xfrm>
          <a:prstGeom prst="line">
            <a:avLst/>
          </a:prstGeom>
          <a:noFill/>
          <a:ln w="11430">
            <a:solidFill>
              <a:srgbClr val="A5CBC0"/>
            </a:solidFill>
            <a:prstDash val="solid"/>
          </a:ln>
        </p:spPr>
      </p:sp>
      <p:sp>
        <p:nvSpPr>
          <p:cNvPr id="24" name="Shape 22"/>
          <p:cNvSpPr/>
          <p:nvPr/>
        </p:nvSpPr>
        <p:spPr>
          <a:xfrm flipV="1">
            <a:off x="1188720" y="4168140"/>
            <a:ext cx="647700" cy="604520"/>
          </a:xfrm>
          <a:prstGeom prst="line">
            <a:avLst/>
          </a:prstGeom>
          <a:noFill/>
          <a:ln w="11430">
            <a:solidFill>
              <a:srgbClr val="A5CBC0"/>
            </a:solidFill>
            <a:prstDash val="solid"/>
          </a:ln>
        </p:spPr>
      </p:sp>
      <p:sp>
        <p:nvSpPr>
          <p:cNvPr id="25" name="Shape 23"/>
          <p:cNvSpPr/>
          <p:nvPr/>
        </p:nvSpPr>
        <p:spPr>
          <a:xfrm flipV="1">
            <a:off x="1188720" y="4381500"/>
            <a:ext cx="647700" cy="391160"/>
          </a:xfrm>
          <a:prstGeom prst="line">
            <a:avLst/>
          </a:prstGeom>
          <a:noFill/>
          <a:ln w="11430">
            <a:solidFill>
              <a:srgbClr val="A5CBC0"/>
            </a:solidFill>
            <a:prstDash val="solid"/>
          </a:ln>
        </p:spPr>
      </p:sp>
      <p:sp>
        <p:nvSpPr>
          <p:cNvPr id="26" name="Shape 24"/>
          <p:cNvSpPr/>
          <p:nvPr/>
        </p:nvSpPr>
        <p:spPr>
          <a:xfrm flipV="1">
            <a:off x="1188720" y="4594860"/>
            <a:ext cx="647700" cy="177800"/>
          </a:xfrm>
          <a:prstGeom prst="line">
            <a:avLst/>
          </a:prstGeom>
          <a:noFill/>
          <a:ln w="11430">
            <a:solidFill>
              <a:srgbClr val="A5CBC0"/>
            </a:solidFill>
            <a:prstDash val="solid"/>
          </a:ln>
        </p:spPr>
      </p:sp>
      <p:sp>
        <p:nvSpPr>
          <p:cNvPr id="27" name="Shape 25"/>
          <p:cNvSpPr/>
          <p:nvPr/>
        </p:nvSpPr>
        <p:spPr>
          <a:xfrm>
            <a:off x="1188720" y="4772660"/>
            <a:ext cx="647700" cy="35560"/>
          </a:xfrm>
          <a:prstGeom prst="line">
            <a:avLst/>
          </a:prstGeom>
          <a:noFill/>
          <a:ln w="11430">
            <a:solidFill>
              <a:srgbClr val="A5CBC0"/>
            </a:solidFill>
            <a:prstDash val="solid"/>
          </a:ln>
        </p:spPr>
      </p:sp>
      <p:sp>
        <p:nvSpPr>
          <p:cNvPr id="28" name="Shape 26"/>
          <p:cNvSpPr/>
          <p:nvPr/>
        </p:nvSpPr>
        <p:spPr>
          <a:xfrm>
            <a:off x="1836420" y="4168140"/>
            <a:ext cx="647700" cy="35560"/>
          </a:xfrm>
          <a:prstGeom prst="line">
            <a:avLst/>
          </a:prstGeom>
          <a:noFill/>
          <a:ln w="11430">
            <a:solidFill>
              <a:srgbClr val="A5CBC0"/>
            </a:solidFill>
            <a:prstDash val="solid"/>
          </a:ln>
        </p:spPr>
      </p:sp>
      <p:sp>
        <p:nvSpPr>
          <p:cNvPr id="29" name="Shape 27"/>
          <p:cNvSpPr/>
          <p:nvPr/>
        </p:nvSpPr>
        <p:spPr>
          <a:xfrm>
            <a:off x="1836420" y="4168140"/>
            <a:ext cx="647700" cy="320040"/>
          </a:xfrm>
          <a:prstGeom prst="line">
            <a:avLst/>
          </a:prstGeom>
          <a:noFill/>
          <a:ln w="11430">
            <a:solidFill>
              <a:srgbClr val="A5CBC0"/>
            </a:solidFill>
            <a:prstDash val="solid"/>
          </a:ln>
        </p:spPr>
      </p:sp>
      <p:sp>
        <p:nvSpPr>
          <p:cNvPr id="30" name="Shape 28"/>
          <p:cNvSpPr/>
          <p:nvPr/>
        </p:nvSpPr>
        <p:spPr>
          <a:xfrm>
            <a:off x="1836420" y="4168140"/>
            <a:ext cx="647700" cy="604520"/>
          </a:xfrm>
          <a:prstGeom prst="line">
            <a:avLst/>
          </a:prstGeom>
          <a:noFill/>
          <a:ln w="11430">
            <a:solidFill>
              <a:srgbClr val="A5CBC0"/>
            </a:solidFill>
            <a:prstDash val="solid"/>
          </a:ln>
        </p:spPr>
      </p:sp>
      <p:sp>
        <p:nvSpPr>
          <p:cNvPr id="31" name="Shape 29"/>
          <p:cNvSpPr/>
          <p:nvPr/>
        </p:nvSpPr>
        <p:spPr>
          <a:xfrm flipV="1">
            <a:off x="1836420" y="4203700"/>
            <a:ext cx="647700" cy="177800"/>
          </a:xfrm>
          <a:prstGeom prst="line">
            <a:avLst/>
          </a:prstGeom>
          <a:noFill/>
          <a:ln w="11430">
            <a:solidFill>
              <a:srgbClr val="A5CBC0"/>
            </a:solidFill>
            <a:prstDash val="solid"/>
          </a:ln>
        </p:spPr>
      </p:sp>
      <p:sp>
        <p:nvSpPr>
          <p:cNvPr id="32" name="Shape 30"/>
          <p:cNvSpPr/>
          <p:nvPr/>
        </p:nvSpPr>
        <p:spPr>
          <a:xfrm>
            <a:off x="1836420" y="4381500"/>
            <a:ext cx="647700" cy="106680"/>
          </a:xfrm>
          <a:prstGeom prst="line">
            <a:avLst/>
          </a:prstGeom>
          <a:noFill/>
          <a:ln w="11430">
            <a:solidFill>
              <a:srgbClr val="A5CBC0"/>
            </a:solidFill>
            <a:prstDash val="solid"/>
          </a:ln>
        </p:spPr>
      </p:sp>
      <p:sp>
        <p:nvSpPr>
          <p:cNvPr id="33" name="Shape 31"/>
          <p:cNvSpPr/>
          <p:nvPr/>
        </p:nvSpPr>
        <p:spPr>
          <a:xfrm>
            <a:off x="1836420" y="4381500"/>
            <a:ext cx="647700" cy="391160"/>
          </a:xfrm>
          <a:prstGeom prst="line">
            <a:avLst/>
          </a:prstGeom>
          <a:noFill/>
          <a:ln w="11430">
            <a:solidFill>
              <a:srgbClr val="A5CBC0"/>
            </a:solidFill>
            <a:prstDash val="solid"/>
          </a:ln>
        </p:spPr>
      </p:sp>
      <p:sp>
        <p:nvSpPr>
          <p:cNvPr id="34" name="Shape 32"/>
          <p:cNvSpPr/>
          <p:nvPr/>
        </p:nvSpPr>
        <p:spPr>
          <a:xfrm flipV="1">
            <a:off x="1836420" y="4203700"/>
            <a:ext cx="647700" cy="391160"/>
          </a:xfrm>
          <a:prstGeom prst="line">
            <a:avLst/>
          </a:prstGeom>
          <a:noFill/>
          <a:ln w="11430">
            <a:solidFill>
              <a:srgbClr val="A5CBC0"/>
            </a:solidFill>
            <a:prstDash val="solid"/>
          </a:ln>
        </p:spPr>
      </p:sp>
      <p:sp>
        <p:nvSpPr>
          <p:cNvPr id="35" name="Shape 33"/>
          <p:cNvSpPr/>
          <p:nvPr/>
        </p:nvSpPr>
        <p:spPr>
          <a:xfrm flipV="1">
            <a:off x="1836420" y="4488180"/>
            <a:ext cx="647700" cy="106680"/>
          </a:xfrm>
          <a:prstGeom prst="line">
            <a:avLst/>
          </a:prstGeom>
          <a:noFill/>
          <a:ln w="11430">
            <a:solidFill>
              <a:srgbClr val="A5CBC0"/>
            </a:solidFill>
            <a:prstDash val="solid"/>
          </a:ln>
        </p:spPr>
      </p:sp>
      <p:sp>
        <p:nvSpPr>
          <p:cNvPr id="36" name="Shape 34"/>
          <p:cNvSpPr/>
          <p:nvPr/>
        </p:nvSpPr>
        <p:spPr>
          <a:xfrm>
            <a:off x="1836420" y="4594860"/>
            <a:ext cx="647700" cy="177800"/>
          </a:xfrm>
          <a:prstGeom prst="line">
            <a:avLst/>
          </a:prstGeom>
          <a:noFill/>
          <a:ln w="11430">
            <a:solidFill>
              <a:srgbClr val="A5CBC0"/>
            </a:solidFill>
            <a:prstDash val="solid"/>
          </a:ln>
        </p:spPr>
      </p:sp>
      <p:sp>
        <p:nvSpPr>
          <p:cNvPr id="37" name="Shape 35"/>
          <p:cNvSpPr/>
          <p:nvPr/>
        </p:nvSpPr>
        <p:spPr>
          <a:xfrm flipV="1">
            <a:off x="1836420" y="4203700"/>
            <a:ext cx="647700" cy="604520"/>
          </a:xfrm>
          <a:prstGeom prst="line">
            <a:avLst/>
          </a:prstGeom>
          <a:noFill/>
          <a:ln w="11430">
            <a:solidFill>
              <a:srgbClr val="A5CBC0"/>
            </a:solidFill>
            <a:prstDash val="solid"/>
          </a:ln>
        </p:spPr>
      </p:sp>
      <p:sp>
        <p:nvSpPr>
          <p:cNvPr id="38" name="Shape 36"/>
          <p:cNvSpPr/>
          <p:nvPr/>
        </p:nvSpPr>
        <p:spPr>
          <a:xfrm flipV="1">
            <a:off x="1836420" y="4488180"/>
            <a:ext cx="647700" cy="320040"/>
          </a:xfrm>
          <a:prstGeom prst="line">
            <a:avLst/>
          </a:prstGeom>
          <a:noFill/>
          <a:ln w="11430">
            <a:solidFill>
              <a:srgbClr val="A5CBC0"/>
            </a:solidFill>
            <a:prstDash val="solid"/>
          </a:ln>
        </p:spPr>
      </p:sp>
      <p:sp>
        <p:nvSpPr>
          <p:cNvPr id="39" name="Shape 37"/>
          <p:cNvSpPr/>
          <p:nvPr/>
        </p:nvSpPr>
        <p:spPr>
          <a:xfrm flipV="1">
            <a:off x="1836420" y="4772660"/>
            <a:ext cx="647700" cy="35560"/>
          </a:xfrm>
          <a:prstGeom prst="line">
            <a:avLst/>
          </a:prstGeom>
          <a:noFill/>
          <a:ln w="11430">
            <a:solidFill>
              <a:srgbClr val="A5CBC0"/>
            </a:solidFill>
            <a:prstDash val="solid"/>
          </a:ln>
        </p:spPr>
      </p:sp>
      <p:sp>
        <p:nvSpPr>
          <p:cNvPr id="40" name="Shape 38"/>
          <p:cNvSpPr/>
          <p:nvPr/>
        </p:nvSpPr>
        <p:spPr>
          <a:xfrm>
            <a:off x="1120140" y="4135120"/>
            <a:ext cx="137160" cy="137160"/>
          </a:xfrm>
          <a:prstGeom prst="ellipse">
            <a:avLst/>
          </a:prstGeom>
          <a:solidFill>
            <a:srgbClr val="22434A"/>
          </a:solidFill>
          <a:ln w="12700">
            <a:solidFill>
              <a:srgbClr val="22434A">
                <a:alpha val="0"/>
              </a:srgbClr>
            </a:solidFill>
            <a:prstDash val="solid"/>
          </a:ln>
        </p:spPr>
      </p:sp>
      <p:sp>
        <p:nvSpPr>
          <p:cNvPr id="41" name="Shape 39"/>
          <p:cNvSpPr/>
          <p:nvPr/>
        </p:nvSpPr>
        <p:spPr>
          <a:xfrm>
            <a:off x="1120140" y="4419600"/>
            <a:ext cx="137160" cy="137160"/>
          </a:xfrm>
          <a:prstGeom prst="ellipse">
            <a:avLst/>
          </a:prstGeom>
          <a:solidFill>
            <a:srgbClr val="22434A"/>
          </a:solidFill>
          <a:ln w="12700">
            <a:solidFill>
              <a:srgbClr val="22434A">
                <a:alpha val="0"/>
              </a:srgbClr>
            </a:solidFill>
            <a:prstDash val="solid"/>
          </a:ln>
        </p:spPr>
      </p:sp>
      <p:sp>
        <p:nvSpPr>
          <p:cNvPr id="42" name="Shape 40"/>
          <p:cNvSpPr/>
          <p:nvPr/>
        </p:nvSpPr>
        <p:spPr>
          <a:xfrm>
            <a:off x="1120140" y="4704080"/>
            <a:ext cx="137160" cy="137160"/>
          </a:xfrm>
          <a:prstGeom prst="ellipse">
            <a:avLst/>
          </a:prstGeom>
          <a:solidFill>
            <a:srgbClr val="22434A"/>
          </a:solidFill>
          <a:ln w="12700">
            <a:solidFill>
              <a:srgbClr val="22434A">
                <a:alpha val="0"/>
              </a:srgbClr>
            </a:solidFill>
            <a:prstDash val="solid"/>
          </a:ln>
        </p:spPr>
      </p:sp>
      <p:sp>
        <p:nvSpPr>
          <p:cNvPr id="43" name="Shape 41"/>
          <p:cNvSpPr/>
          <p:nvPr/>
        </p:nvSpPr>
        <p:spPr>
          <a:xfrm>
            <a:off x="1767840" y="4099560"/>
            <a:ext cx="137160" cy="137160"/>
          </a:xfrm>
          <a:prstGeom prst="ellipse">
            <a:avLst/>
          </a:prstGeom>
          <a:solidFill>
            <a:srgbClr val="22434A"/>
          </a:solidFill>
          <a:ln w="12700">
            <a:solidFill>
              <a:srgbClr val="22434A">
                <a:alpha val="0"/>
              </a:srgbClr>
            </a:solidFill>
            <a:prstDash val="solid"/>
          </a:ln>
        </p:spPr>
      </p:sp>
      <p:sp>
        <p:nvSpPr>
          <p:cNvPr id="44" name="Shape 42"/>
          <p:cNvSpPr/>
          <p:nvPr/>
        </p:nvSpPr>
        <p:spPr>
          <a:xfrm>
            <a:off x="1767840" y="4312920"/>
            <a:ext cx="137160" cy="137160"/>
          </a:xfrm>
          <a:prstGeom prst="ellipse">
            <a:avLst/>
          </a:prstGeom>
          <a:solidFill>
            <a:srgbClr val="22434A"/>
          </a:solidFill>
          <a:ln w="12700">
            <a:solidFill>
              <a:srgbClr val="22434A">
                <a:alpha val="0"/>
              </a:srgbClr>
            </a:solidFill>
            <a:prstDash val="solid"/>
          </a:ln>
        </p:spPr>
      </p:sp>
      <p:sp>
        <p:nvSpPr>
          <p:cNvPr id="45" name="Shape 43"/>
          <p:cNvSpPr/>
          <p:nvPr/>
        </p:nvSpPr>
        <p:spPr>
          <a:xfrm>
            <a:off x="1767840" y="4526280"/>
            <a:ext cx="137160" cy="137160"/>
          </a:xfrm>
          <a:prstGeom prst="ellipse">
            <a:avLst/>
          </a:prstGeom>
          <a:solidFill>
            <a:srgbClr val="22434A"/>
          </a:solidFill>
          <a:ln w="12700">
            <a:solidFill>
              <a:srgbClr val="22434A">
                <a:alpha val="0"/>
              </a:srgbClr>
            </a:solidFill>
            <a:prstDash val="solid"/>
          </a:ln>
        </p:spPr>
      </p:sp>
      <p:sp>
        <p:nvSpPr>
          <p:cNvPr id="46" name="Shape 44"/>
          <p:cNvSpPr/>
          <p:nvPr/>
        </p:nvSpPr>
        <p:spPr>
          <a:xfrm>
            <a:off x="1767840" y="4739640"/>
            <a:ext cx="137160" cy="137160"/>
          </a:xfrm>
          <a:prstGeom prst="ellipse">
            <a:avLst/>
          </a:prstGeom>
          <a:solidFill>
            <a:srgbClr val="22434A"/>
          </a:solidFill>
          <a:ln w="12700">
            <a:solidFill>
              <a:srgbClr val="22434A">
                <a:alpha val="0"/>
              </a:srgbClr>
            </a:solidFill>
            <a:prstDash val="solid"/>
          </a:ln>
        </p:spPr>
      </p:sp>
      <p:sp>
        <p:nvSpPr>
          <p:cNvPr id="47" name="Shape 45"/>
          <p:cNvSpPr/>
          <p:nvPr/>
        </p:nvSpPr>
        <p:spPr>
          <a:xfrm>
            <a:off x="2415540" y="4135120"/>
            <a:ext cx="137160" cy="137160"/>
          </a:xfrm>
          <a:prstGeom prst="ellipse">
            <a:avLst/>
          </a:prstGeom>
          <a:solidFill>
            <a:srgbClr val="22434A"/>
          </a:solidFill>
          <a:ln w="12700">
            <a:solidFill>
              <a:srgbClr val="22434A">
                <a:alpha val="0"/>
              </a:srgbClr>
            </a:solidFill>
            <a:prstDash val="solid"/>
          </a:ln>
        </p:spPr>
      </p:sp>
      <p:sp>
        <p:nvSpPr>
          <p:cNvPr id="48" name="Shape 46"/>
          <p:cNvSpPr/>
          <p:nvPr/>
        </p:nvSpPr>
        <p:spPr>
          <a:xfrm>
            <a:off x="2415540" y="4419600"/>
            <a:ext cx="137160" cy="137160"/>
          </a:xfrm>
          <a:prstGeom prst="ellipse">
            <a:avLst/>
          </a:prstGeom>
          <a:solidFill>
            <a:srgbClr val="22434A"/>
          </a:solidFill>
          <a:ln w="12700">
            <a:solidFill>
              <a:srgbClr val="22434A">
                <a:alpha val="0"/>
              </a:srgbClr>
            </a:solidFill>
            <a:prstDash val="solid"/>
          </a:ln>
        </p:spPr>
      </p:sp>
      <p:sp>
        <p:nvSpPr>
          <p:cNvPr id="49" name="Shape 47"/>
          <p:cNvSpPr/>
          <p:nvPr/>
        </p:nvSpPr>
        <p:spPr>
          <a:xfrm>
            <a:off x="2415540" y="4704080"/>
            <a:ext cx="137160" cy="137160"/>
          </a:xfrm>
          <a:prstGeom prst="ellipse">
            <a:avLst/>
          </a:prstGeom>
          <a:solidFill>
            <a:srgbClr val="22434A"/>
          </a:solidFill>
          <a:ln w="12700">
            <a:solidFill>
              <a:srgbClr val="22434A">
                <a:alpha val="0"/>
              </a:srgbClr>
            </a:solidFill>
            <a:prstDash val="solid"/>
          </a:ln>
        </p:spPr>
      </p:sp>
      <p:sp>
        <p:nvSpPr>
          <p:cNvPr id="50" name="Shape 48"/>
          <p:cNvSpPr/>
          <p:nvPr/>
        </p:nvSpPr>
        <p:spPr>
          <a:xfrm>
            <a:off x="2865120" y="4480560"/>
            <a:ext cx="548640" cy="0"/>
          </a:xfrm>
          <a:prstGeom prst="line">
            <a:avLst/>
          </a:prstGeom>
          <a:noFill/>
          <a:ln w="22860">
            <a:solidFill>
              <a:srgbClr val="93A5AA"/>
            </a:solidFill>
            <a:prstDash val="solid"/>
            <a:tailEnd type="triangle"/>
          </a:ln>
        </p:spPr>
      </p:sp>
      <p:sp>
        <p:nvSpPr>
          <p:cNvPr id="51" name="Shape 49"/>
          <p:cNvSpPr/>
          <p:nvPr/>
        </p:nvSpPr>
        <p:spPr>
          <a:xfrm>
            <a:off x="4539386" y="4842624"/>
            <a:ext cx="842620" cy="0"/>
          </a:xfrm>
          <a:prstGeom prst="line">
            <a:avLst/>
          </a:prstGeom>
          <a:noFill/>
          <a:ln w="17374">
            <a:solidFill>
              <a:srgbClr val="93A5AA"/>
            </a:solidFill>
            <a:prstDash val="solid"/>
          </a:ln>
        </p:spPr>
      </p:sp>
      <p:sp>
        <p:nvSpPr>
          <p:cNvPr id="52" name="Shape 50"/>
          <p:cNvSpPr/>
          <p:nvPr/>
        </p:nvSpPr>
        <p:spPr>
          <a:xfrm>
            <a:off x="4621911" y="4851311"/>
            <a:ext cx="0" cy="134645"/>
          </a:xfrm>
          <a:prstGeom prst="line">
            <a:avLst/>
          </a:prstGeom>
          <a:noFill/>
          <a:ln w="21717">
            <a:solidFill>
              <a:srgbClr val="D8DFD9"/>
            </a:solidFill>
            <a:prstDash val="solid"/>
          </a:ln>
        </p:spPr>
      </p:sp>
      <p:sp>
        <p:nvSpPr>
          <p:cNvPr id="53" name="Shape 51"/>
          <p:cNvSpPr/>
          <p:nvPr/>
        </p:nvSpPr>
        <p:spPr>
          <a:xfrm>
            <a:off x="5312512" y="4851311"/>
            <a:ext cx="0" cy="134645"/>
          </a:xfrm>
          <a:prstGeom prst="line">
            <a:avLst/>
          </a:prstGeom>
          <a:noFill/>
          <a:ln w="21717">
            <a:solidFill>
              <a:srgbClr val="D8DFD9"/>
            </a:solidFill>
            <a:prstDash val="solid"/>
          </a:ln>
        </p:spPr>
      </p:sp>
      <p:sp>
        <p:nvSpPr>
          <p:cNvPr id="54" name="Shape 52"/>
          <p:cNvSpPr/>
          <p:nvPr/>
        </p:nvSpPr>
        <p:spPr>
          <a:xfrm>
            <a:off x="3753231" y="4851311"/>
            <a:ext cx="347472" cy="78181"/>
          </a:xfrm>
          <a:prstGeom prst="roundRect">
            <a:avLst/>
          </a:prstGeom>
          <a:solidFill>
            <a:srgbClr val="22434A"/>
          </a:solidFill>
          <a:ln w="12700">
            <a:solidFill>
              <a:srgbClr val="22434A">
                <a:alpha val="0"/>
              </a:srgbClr>
            </a:solidFill>
            <a:prstDash val="solid"/>
          </a:ln>
        </p:spPr>
      </p:sp>
      <p:sp>
        <p:nvSpPr>
          <p:cNvPr id="55" name="Shape 53"/>
          <p:cNvSpPr/>
          <p:nvPr/>
        </p:nvSpPr>
        <p:spPr>
          <a:xfrm>
            <a:off x="3861816" y="4721009"/>
            <a:ext cx="134645" cy="130302"/>
          </a:xfrm>
          <a:prstGeom prst="roundRect">
            <a:avLst/>
          </a:prstGeom>
          <a:solidFill>
            <a:srgbClr val="93A5AA"/>
          </a:solidFill>
          <a:ln w="12700">
            <a:solidFill>
              <a:srgbClr val="93A5AA">
                <a:alpha val="0"/>
              </a:srgbClr>
            </a:solidFill>
            <a:prstDash val="solid"/>
          </a:ln>
        </p:spPr>
      </p:sp>
      <p:sp>
        <p:nvSpPr>
          <p:cNvPr id="56" name="Shape 54"/>
          <p:cNvSpPr/>
          <p:nvPr/>
        </p:nvSpPr>
        <p:spPr>
          <a:xfrm flipV="1">
            <a:off x="3926967" y="4221518"/>
            <a:ext cx="221513" cy="508178"/>
          </a:xfrm>
          <a:prstGeom prst="line">
            <a:avLst/>
          </a:prstGeom>
          <a:noFill/>
          <a:ln w="86868">
            <a:solidFill>
              <a:srgbClr val="93A5AA"/>
            </a:solidFill>
            <a:prstDash val="solid"/>
          </a:ln>
        </p:spPr>
      </p:sp>
      <p:sp>
        <p:nvSpPr>
          <p:cNvPr id="57" name="Shape 55"/>
          <p:cNvSpPr/>
          <p:nvPr/>
        </p:nvSpPr>
        <p:spPr>
          <a:xfrm flipV="1">
            <a:off x="4148480" y="4134650"/>
            <a:ext cx="447370" cy="86868"/>
          </a:xfrm>
          <a:prstGeom prst="line">
            <a:avLst/>
          </a:prstGeom>
          <a:noFill/>
          <a:ln w="86868">
            <a:solidFill>
              <a:srgbClr val="93A5AA"/>
            </a:solidFill>
            <a:prstDash val="solid"/>
          </a:ln>
        </p:spPr>
      </p:sp>
      <p:sp>
        <p:nvSpPr>
          <p:cNvPr id="58" name="Shape 56"/>
          <p:cNvSpPr/>
          <p:nvPr/>
        </p:nvSpPr>
        <p:spPr>
          <a:xfrm flipV="1">
            <a:off x="4595851" y="4052126"/>
            <a:ext cx="364846" cy="82525"/>
          </a:xfrm>
          <a:prstGeom prst="line">
            <a:avLst/>
          </a:prstGeom>
          <a:noFill/>
          <a:ln w="69494">
            <a:solidFill>
              <a:srgbClr val="93A5AA"/>
            </a:solidFill>
            <a:prstDash val="solid"/>
          </a:ln>
        </p:spPr>
      </p:sp>
      <p:sp>
        <p:nvSpPr>
          <p:cNvPr id="59" name="Shape 57"/>
          <p:cNvSpPr/>
          <p:nvPr/>
        </p:nvSpPr>
        <p:spPr>
          <a:xfrm>
            <a:off x="3857473" y="4660202"/>
            <a:ext cx="138989" cy="138989"/>
          </a:xfrm>
          <a:prstGeom prst="ellipse">
            <a:avLst/>
          </a:prstGeom>
          <a:solidFill>
            <a:srgbClr val="22434A"/>
          </a:solidFill>
          <a:ln w="12700">
            <a:solidFill>
              <a:srgbClr val="22434A">
                <a:alpha val="0"/>
              </a:srgbClr>
            </a:solidFill>
            <a:prstDash val="solid"/>
          </a:ln>
        </p:spPr>
      </p:sp>
      <p:sp>
        <p:nvSpPr>
          <p:cNvPr id="60" name="Shape 58"/>
          <p:cNvSpPr/>
          <p:nvPr/>
        </p:nvSpPr>
        <p:spPr>
          <a:xfrm>
            <a:off x="4078986" y="4152024"/>
            <a:ext cx="138989" cy="138989"/>
          </a:xfrm>
          <a:prstGeom prst="ellipse">
            <a:avLst/>
          </a:prstGeom>
          <a:solidFill>
            <a:srgbClr val="22434A"/>
          </a:solidFill>
          <a:ln w="12700">
            <a:solidFill>
              <a:srgbClr val="22434A">
                <a:alpha val="0"/>
              </a:srgbClr>
            </a:solidFill>
            <a:prstDash val="solid"/>
          </a:ln>
        </p:spPr>
      </p:sp>
      <p:sp>
        <p:nvSpPr>
          <p:cNvPr id="61" name="Shape 59"/>
          <p:cNvSpPr/>
          <p:nvPr/>
        </p:nvSpPr>
        <p:spPr>
          <a:xfrm>
            <a:off x="4539386" y="4078186"/>
            <a:ext cx="112928" cy="112928"/>
          </a:xfrm>
          <a:prstGeom prst="ellipse">
            <a:avLst/>
          </a:prstGeom>
          <a:solidFill>
            <a:srgbClr val="22434A"/>
          </a:solidFill>
          <a:ln w="12700">
            <a:solidFill>
              <a:srgbClr val="22434A">
                <a:alpha val="0"/>
              </a:srgbClr>
            </a:solidFill>
            <a:prstDash val="solid"/>
          </a:ln>
        </p:spPr>
      </p:sp>
      <p:sp>
        <p:nvSpPr>
          <p:cNvPr id="62" name="Shape 60"/>
          <p:cNvSpPr/>
          <p:nvPr/>
        </p:nvSpPr>
        <p:spPr>
          <a:xfrm>
            <a:off x="3892220" y="4694949"/>
            <a:ext cx="69494" cy="69494"/>
          </a:xfrm>
          <a:prstGeom prst="ellipse">
            <a:avLst/>
          </a:prstGeom>
          <a:solidFill>
            <a:srgbClr val="F6F4EF"/>
          </a:solidFill>
          <a:ln w="12700">
            <a:solidFill>
              <a:srgbClr val="F6F4EF">
                <a:alpha val="0"/>
              </a:srgbClr>
            </a:solidFill>
            <a:prstDash val="solid"/>
          </a:ln>
        </p:spPr>
      </p:sp>
      <p:sp>
        <p:nvSpPr>
          <p:cNvPr id="63" name="Shape 61"/>
          <p:cNvSpPr/>
          <p:nvPr/>
        </p:nvSpPr>
        <p:spPr>
          <a:xfrm>
            <a:off x="4118077" y="4191114"/>
            <a:ext cx="60808" cy="60808"/>
          </a:xfrm>
          <a:prstGeom prst="ellipse">
            <a:avLst/>
          </a:prstGeom>
          <a:solidFill>
            <a:srgbClr val="F6F4EF"/>
          </a:solidFill>
          <a:ln w="12700">
            <a:solidFill>
              <a:srgbClr val="F6F4EF">
                <a:alpha val="0"/>
              </a:srgbClr>
            </a:solidFill>
            <a:prstDash val="solid"/>
          </a:ln>
        </p:spPr>
      </p:sp>
      <p:sp>
        <p:nvSpPr>
          <p:cNvPr id="64" name="Shape 62"/>
          <p:cNvSpPr/>
          <p:nvPr/>
        </p:nvSpPr>
        <p:spPr>
          <a:xfrm>
            <a:off x="4569790" y="4108590"/>
            <a:ext cx="52121" cy="52121"/>
          </a:xfrm>
          <a:prstGeom prst="ellipse">
            <a:avLst/>
          </a:prstGeom>
          <a:solidFill>
            <a:srgbClr val="F6F4EF"/>
          </a:solidFill>
          <a:ln w="12700">
            <a:solidFill>
              <a:srgbClr val="F6F4EF">
                <a:alpha val="0"/>
              </a:srgbClr>
            </a:solidFill>
            <a:prstDash val="solid"/>
          </a:ln>
        </p:spPr>
      </p:sp>
      <p:sp>
        <p:nvSpPr>
          <p:cNvPr id="65" name="Shape 63"/>
          <p:cNvSpPr/>
          <p:nvPr/>
        </p:nvSpPr>
        <p:spPr>
          <a:xfrm>
            <a:off x="4960696" y="4052126"/>
            <a:ext cx="0" cy="108585"/>
          </a:xfrm>
          <a:prstGeom prst="line">
            <a:avLst/>
          </a:prstGeom>
          <a:noFill/>
          <a:ln w="52121">
            <a:solidFill>
              <a:srgbClr val="22434A"/>
            </a:solidFill>
            <a:prstDash val="solid"/>
          </a:ln>
        </p:spPr>
      </p:sp>
      <p:sp>
        <p:nvSpPr>
          <p:cNvPr id="66" name="Shape 64"/>
          <p:cNvSpPr/>
          <p:nvPr/>
        </p:nvSpPr>
        <p:spPr>
          <a:xfrm>
            <a:off x="4804334" y="4160710"/>
            <a:ext cx="312725" cy="73838"/>
          </a:xfrm>
          <a:prstGeom prst="roundRect">
            <a:avLst/>
          </a:prstGeom>
          <a:solidFill>
            <a:srgbClr val="22434A"/>
          </a:solidFill>
          <a:ln w="12700">
            <a:solidFill>
              <a:srgbClr val="22434A">
                <a:alpha val="0"/>
              </a:srgbClr>
            </a:solidFill>
            <a:prstDash val="solid"/>
          </a:ln>
        </p:spPr>
      </p:sp>
      <p:sp>
        <p:nvSpPr>
          <p:cNvPr id="67" name="Shape 65"/>
          <p:cNvSpPr/>
          <p:nvPr/>
        </p:nvSpPr>
        <p:spPr>
          <a:xfrm>
            <a:off x="4795647" y="4217175"/>
            <a:ext cx="52121" cy="282321"/>
          </a:xfrm>
          <a:prstGeom prst="roundRect">
            <a:avLst/>
          </a:prstGeom>
          <a:solidFill>
            <a:srgbClr val="93A5AA"/>
          </a:solidFill>
          <a:ln w="12700">
            <a:solidFill>
              <a:srgbClr val="93A5AA">
                <a:alpha val="0"/>
              </a:srgbClr>
            </a:solidFill>
            <a:prstDash val="solid"/>
          </a:ln>
        </p:spPr>
      </p:sp>
      <p:sp>
        <p:nvSpPr>
          <p:cNvPr id="68" name="Shape 66"/>
          <p:cNvSpPr/>
          <p:nvPr/>
        </p:nvSpPr>
        <p:spPr>
          <a:xfrm>
            <a:off x="5073625" y="4217175"/>
            <a:ext cx="52121" cy="282321"/>
          </a:xfrm>
          <a:prstGeom prst="roundRect">
            <a:avLst/>
          </a:prstGeom>
          <a:solidFill>
            <a:srgbClr val="93A5AA"/>
          </a:solidFill>
          <a:ln w="12700">
            <a:solidFill>
              <a:srgbClr val="93A5AA">
                <a:alpha val="0"/>
              </a:srgbClr>
            </a:solidFill>
            <a:prstDash val="solid"/>
          </a:ln>
        </p:spPr>
      </p:sp>
      <p:sp>
        <p:nvSpPr>
          <p:cNvPr id="69" name="Shape 67"/>
          <p:cNvSpPr/>
          <p:nvPr/>
        </p:nvSpPr>
        <p:spPr>
          <a:xfrm>
            <a:off x="4795647" y="4451718"/>
            <a:ext cx="86868" cy="47777"/>
          </a:xfrm>
          <a:prstGeom prst="roundRect">
            <a:avLst/>
          </a:prstGeom>
          <a:solidFill>
            <a:srgbClr val="22434A"/>
          </a:solidFill>
          <a:ln w="12700">
            <a:solidFill>
              <a:srgbClr val="22434A">
                <a:alpha val="0"/>
              </a:srgbClr>
            </a:solidFill>
            <a:prstDash val="solid"/>
          </a:ln>
        </p:spPr>
      </p:sp>
      <p:sp>
        <p:nvSpPr>
          <p:cNvPr id="70" name="Shape 68"/>
          <p:cNvSpPr/>
          <p:nvPr/>
        </p:nvSpPr>
        <p:spPr>
          <a:xfrm>
            <a:off x="5038877" y="4451718"/>
            <a:ext cx="86868" cy="47777"/>
          </a:xfrm>
          <a:prstGeom prst="roundRect">
            <a:avLst/>
          </a:prstGeom>
          <a:solidFill>
            <a:srgbClr val="22434A"/>
          </a:solidFill>
          <a:ln w="12700">
            <a:solidFill>
              <a:srgbClr val="22434A">
                <a:alpha val="0"/>
              </a:srgbClr>
            </a:solidFill>
            <a:prstDash val="solid"/>
          </a:ln>
        </p:spPr>
      </p:sp>
      <p:sp>
        <p:nvSpPr>
          <p:cNvPr id="71" name="Shape 69"/>
          <p:cNvSpPr/>
          <p:nvPr/>
        </p:nvSpPr>
        <p:spPr>
          <a:xfrm>
            <a:off x="4873828" y="4321416"/>
            <a:ext cx="173736" cy="173736"/>
          </a:xfrm>
          <a:prstGeom prst="roundRect">
            <a:avLst/>
          </a:prstGeom>
          <a:solidFill>
            <a:srgbClr val="DFC28E"/>
          </a:solidFill>
          <a:ln w="12700">
            <a:solidFill>
              <a:srgbClr val="DFC28E">
                <a:alpha val="0"/>
              </a:srgbClr>
            </a:solidFill>
            <a:prstDash val="solid"/>
          </a:ln>
        </p:spPr>
      </p:sp>
      <p:sp>
        <p:nvSpPr>
          <p:cNvPr id="72" name="Shape 70"/>
          <p:cNvSpPr/>
          <p:nvPr/>
        </p:nvSpPr>
        <p:spPr>
          <a:xfrm>
            <a:off x="5004130" y="4321416"/>
            <a:ext cx="43434" cy="173736"/>
          </a:xfrm>
          <a:prstGeom prst="roundRect">
            <a:avLst/>
          </a:prstGeom>
          <a:solidFill>
            <a:srgbClr val="BA9A61"/>
          </a:solidFill>
          <a:ln w="12700">
            <a:solidFill>
              <a:srgbClr val="BA9A61">
                <a:alpha val="0"/>
              </a:srgbClr>
            </a:solidFill>
            <a:prstDash val="solid"/>
          </a:ln>
        </p:spPr>
      </p:sp>
      <p:sp>
        <p:nvSpPr>
          <p:cNvPr id="73" name="Shape 71"/>
          <p:cNvSpPr/>
          <p:nvPr/>
        </p:nvSpPr>
        <p:spPr>
          <a:xfrm>
            <a:off x="4873828" y="4373537"/>
            <a:ext cx="173736" cy="0"/>
          </a:xfrm>
          <a:prstGeom prst="line">
            <a:avLst/>
          </a:prstGeom>
          <a:noFill/>
          <a:ln w="6081">
            <a:solidFill>
              <a:srgbClr val="F4E8CE"/>
            </a:solidFill>
            <a:prstDash val="solid"/>
          </a:ln>
        </p:spPr>
      </p:sp>
      <p:sp>
        <p:nvSpPr>
          <p:cNvPr id="74" name="Shape 72"/>
          <p:cNvSpPr/>
          <p:nvPr/>
        </p:nvSpPr>
        <p:spPr>
          <a:xfrm flipV="1">
            <a:off x="5243017" y="4373537"/>
            <a:ext cx="0" cy="273634"/>
          </a:xfrm>
          <a:prstGeom prst="line">
            <a:avLst/>
          </a:prstGeom>
          <a:noFill/>
          <a:ln w="17374">
            <a:solidFill>
              <a:srgbClr val="087F7B"/>
            </a:solidFill>
            <a:prstDash val="solid"/>
            <a:tailEnd type="triangle"/>
          </a:ln>
        </p:spPr>
      </p:sp>
      <p:sp>
        <p:nvSpPr>
          <p:cNvPr id="75" name="Shape 73"/>
          <p:cNvSpPr/>
          <p:nvPr/>
        </p:nvSpPr>
        <p:spPr>
          <a:xfrm>
            <a:off x="6553200" y="2423160"/>
            <a:ext cx="304800" cy="304800"/>
          </a:xfrm>
          <a:prstGeom prst="ellipse">
            <a:avLst/>
          </a:prstGeom>
          <a:solidFill>
            <a:srgbClr val="087F7B"/>
          </a:solidFill>
          <a:ln w="12700">
            <a:solidFill>
              <a:srgbClr val="087F7B">
                <a:alpha val="0"/>
              </a:srgbClr>
            </a:solidFill>
            <a:prstDash val="solid"/>
          </a:ln>
        </p:spPr>
      </p:sp>
      <p:sp>
        <p:nvSpPr>
          <p:cNvPr id="76" name="Text 74"/>
          <p:cNvSpPr/>
          <p:nvPr/>
        </p:nvSpPr>
        <p:spPr>
          <a:xfrm>
            <a:off x="6553200" y="246888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2</a:t>
            </a:r>
            <a:endParaRPr lang="en-US" sz="1380" dirty="0"/>
          </a:p>
        </p:txBody>
      </p:sp>
      <p:sp>
        <p:nvSpPr>
          <p:cNvPr id="77" name="Text 75"/>
          <p:cNvSpPr/>
          <p:nvPr/>
        </p:nvSpPr>
        <p:spPr>
          <a:xfrm>
            <a:off x="7010400" y="2423160"/>
            <a:ext cx="4267200" cy="365760"/>
          </a:xfrm>
          <a:prstGeom prst="rect">
            <a:avLst/>
          </a:prstGeom>
          <a:noFill/>
          <a:ln/>
        </p:spPr>
        <p:txBody>
          <a:bodyPr wrap="square" lIns="0" tIns="0" rIns="0" bIns="0" rtlCol="0" anchor="t"/>
          <a:lstStyle/>
          <a:p>
            <a:pPr algn="l" indent="0" marL="0">
              <a:lnSpc>
                <a:spcPct val="105000"/>
              </a:lnSpc>
              <a:buNone/>
            </a:pPr>
            <a:r>
              <a:rPr lang="en-US" altLang="en-US" sz="2220" b="1" dirty="0">
                <a:solidFill>
                  <a:srgbClr val="183139"/>
                </a:solidFill>
                <a:latin typeface="Arial" pitchFamily="34" charset="0"/>
                <a:ea typeface="Arial" pitchFamily="34" charset="-122"/>
                <a:cs typeface="Arial" pitchFamily="34" charset="-120"/>
              </a:rPr>
              <a:t>Environment interpretation</a:t>
            </a:r>
            <a:endParaRPr lang="en-US" sz="2220" dirty="0"/>
          </a:p>
        </p:txBody>
      </p:sp>
      <p:sp>
        <p:nvSpPr>
          <p:cNvPr id="78" name="Text 76"/>
          <p:cNvSpPr/>
          <p:nvPr/>
        </p:nvSpPr>
        <p:spPr>
          <a:xfrm>
            <a:off x="6576060" y="3017520"/>
            <a:ext cx="4572000" cy="678180"/>
          </a:xfrm>
          <a:prstGeom prst="rect">
            <a:avLst/>
          </a:prstGeom>
          <a:noFill/>
          <a:ln/>
        </p:spPr>
        <p:txBody>
          <a:bodyPr wrap="square" lIns="0" tIns="0" rIns="0" bIns="0" rtlCol="0" anchor="t"/>
          <a:lstStyle/>
          <a:p>
            <a:pPr algn="l" indent="0" marL="0">
              <a:lnSpc>
                <a:spcPct val="105000"/>
              </a:lnSpc>
              <a:buNone/>
            </a:pPr>
            <a:r>
              <a:rPr lang="en-US" altLang="en-US" sz="1920" dirty="0">
                <a:solidFill>
                  <a:srgbClr val="183139"/>
                </a:solidFill>
                <a:latin typeface="Arial" pitchFamily="34" charset="0"/>
                <a:ea typeface="Arial" pitchFamily="34" charset="-122"/>
                <a:cs typeface="Arial" pitchFamily="34" charset="-120"/>
              </a:rPr>
              <a:t>Estimate the current conditions</a:t>
            </a:r>
            <a:endParaRPr lang="en-US" sz="1920" dirty="0"/>
          </a:p>
          <a:p>
            <a:pPr algn="l" indent="0" marL="0">
              <a:lnSpc>
                <a:spcPct val="105000"/>
              </a:lnSpc>
              <a:buNone/>
            </a:pPr>
            <a:r>
              <a:rPr lang="en-US" altLang="en-US" sz="1920" dirty="0">
                <a:solidFill>
                  <a:srgbClr val="183139"/>
                </a:solidFill>
                <a:latin typeface="Arial" pitchFamily="34" charset="0"/>
                <a:ea typeface="Arial" pitchFamily="34" charset="-122"/>
                <a:cs typeface="Arial" pitchFamily="34" charset="-120"/>
              </a:rPr>
              <a:t>so the policy can use suitable actions.</a:t>
            </a:r>
            <a:endParaRPr lang="en-US" sz="1920" dirty="0"/>
          </a:p>
        </p:txBody>
      </p:sp>
      <p:sp>
        <p:nvSpPr>
          <p:cNvPr id="79" name="Shape 77"/>
          <p:cNvSpPr/>
          <p:nvPr/>
        </p:nvSpPr>
        <p:spPr>
          <a:xfrm>
            <a:off x="6972300" y="4297680"/>
            <a:ext cx="822960" cy="495300"/>
          </a:xfrm>
          <a:prstGeom prst="roundRect">
            <a:avLst/>
          </a:prstGeom>
          <a:solidFill>
            <a:srgbClr val="22434A"/>
          </a:solidFill>
          <a:ln w="12700">
            <a:solidFill>
              <a:srgbClr val="22434A">
                <a:alpha val="0"/>
              </a:srgbClr>
            </a:solidFill>
            <a:prstDash val="solid"/>
          </a:ln>
        </p:spPr>
      </p:sp>
      <p:sp>
        <p:nvSpPr>
          <p:cNvPr id="80" name="Shape 78"/>
          <p:cNvSpPr/>
          <p:nvPr/>
        </p:nvSpPr>
        <p:spPr>
          <a:xfrm>
            <a:off x="7094220" y="4198620"/>
            <a:ext cx="304495" cy="175260"/>
          </a:xfrm>
          <a:prstGeom prst="roundRect">
            <a:avLst/>
          </a:prstGeom>
          <a:solidFill>
            <a:srgbClr val="22434A"/>
          </a:solidFill>
          <a:ln w="12700">
            <a:solidFill>
              <a:srgbClr val="22434A">
                <a:alpha val="0"/>
              </a:srgbClr>
            </a:solidFill>
            <a:prstDash val="solid"/>
          </a:ln>
        </p:spPr>
      </p:sp>
      <p:sp>
        <p:nvSpPr>
          <p:cNvPr id="81" name="Shape 79"/>
          <p:cNvSpPr/>
          <p:nvPr/>
        </p:nvSpPr>
        <p:spPr>
          <a:xfrm>
            <a:off x="7350862" y="4373880"/>
            <a:ext cx="327660" cy="327660"/>
          </a:xfrm>
          <a:prstGeom prst="ellipse">
            <a:avLst/>
          </a:prstGeom>
          <a:solidFill>
            <a:srgbClr val="E1EFEB"/>
          </a:solidFill>
          <a:ln w="12700">
            <a:solidFill>
              <a:srgbClr val="E1EFEB">
                <a:alpha val="0"/>
              </a:srgbClr>
            </a:solidFill>
            <a:prstDash val="solid"/>
          </a:ln>
        </p:spPr>
      </p:sp>
      <p:sp>
        <p:nvSpPr>
          <p:cNvPr id="82" name="Shape 80"/>
          <p:cNvSpPr/>
          <p:nvPr/>
        </p:nvSpPr>
        <p:spPr>
          <a:xfrm>
            <a:off x="7427062" y="4450080"/>
            <a:ext cx="175260" cy="175260"/>
          </a:xfrm>
          <a:prstGeom prst="ellipse">
            <a:avLst/>
          </a:prstGeom>
          <a:solidFill>
            <a:srgbClr val="087F7B"/>
          </a:solidFill>
          <a:ln w="12700">
            <a:solidFill>
              <a:srgbClr val="087F7B">
                <a:alpha val="0"/>
              </a:srgbClr>
            </a:solidFill>
            <a:prstDash val="solid"/>
          </a:ln>
        </p:spPr>
      </p:sp>
      <p:sp>
        <p:nvSpPr>
          <p:cNvPr id="83" name="Shape 81"/>
          <p:cNvSpPr/>
          <p:nvPr/>
        </p:nvSpPr>
        <p:spPr>
          <a:xfrm>
            <a:off x="7063740" y="4396740"/>
            <a:ext cx="76200" cy="76200"/>
          </a:xfrm>
          <a:prstGeom prst="ellipse">
            <a:avLst/>
          </a:prstGeom>
          <a:solidFill>
            <a:srgbClr val="A5CBC0"/>
          </a:solidFill>
          <a:ln w="12700">
            <a:solidFill>
              <a:srgbClr val="A5CBC0">
                <a:alpha val="0"/>
              </a:srgbClr>
            </a:solidFill>
            <a:prstDash val="solid"/>
          </a:ln>
        </p:spPr>
      </p:sp>
      <p:sp>
        <p:nvSpPr>
          <p:cNvPr id="84" name="Shape 82"/>
          <p:cNvSpPr/>
          <p:nvPr/>
        </p:nvSpPr>
        <p:spPr>
          <a:xfrm>
            <a:off x="8153400" y="4480560"/>
            <a:ext cx="571500" cy="0"/>
          </a:xfrm>
          <a:prstGeom prst="line">
            <a:avLst/>
          </a:prstGeom>
          <a:noFill/>
          <a:ln w="22860">
            <a:solidFill>
              <a:srgbClr val="087F7B"/>
            </a:solidFill>
            <a:prstDash val="solid"/>
            <a:tailEnd type="triangle"/>
          </a:ln>
        </p:spPr>
      </p:sp>
      <p:sp>
        <p:nvSpPr>
          <p:cNvPr id="85" name="Shape 83"/>
          <p:cNvSpPr/>
          <p:nvPr/>
        </p:nvSpPr>
        <p:spPr>
          <a:xfrm>
            <a:off x="9067800" y="4251960"/>
            <a:ext cx="403860" cy="525780"/>
          </a:xfrm>
          <a:prstGeom prst="roundRect">
            <a:avLst/>
          </a:prstGeom>
          <a:solidFill>
            <a:srgbClr val="E1EFEB"/>
          </a:solidFill>
          <a:ln w="12700">
            <a:solidFill>
              <a:srgbClr val="E1EFEB">
                <a:alpha val="0"/>
              </a:srgbClr>
            </a:solidFill>
            <a:prstDash val="solid"/>
          </a:ln>
        </p:spPr>
      </p:sp>
      <p:sp>
        <p:nvSpPr>
          <p:cNvPr id="86" name="Shape 84"/>
          <p:cNvSpPr/>
          <p:nvPr/>
        </p:nvSpPr>
        <p:spPr>
          <a:xfrm>
            <a:off x="9168765" y="4372889"/>
            <a:ext cx="201930" cy="289179"/>
          </a:xfrm>
          <a:prstGeom prst="roundRect">
            <a:avLst/>
          </a:prstGeom>
          <a:solidFill>
            <a:srgbClr val="087F7B"/>
          </a:solidFill>
          <a:ln w="12700">
            <a:solidFill>
              <a:srgbClr val="087F7B">
                <a:alpha val="0"/>
              </a:srgbClr>
            </a:solidFill>
            <a:prstDash val="solid"/>
          </a:ln>
        </p:spPr>
      </p:sp>
      <p:sp>
        <p:nvSpPr>
          <p:cNvPr id="87" name="Shape 85"/>
          <p:cNvSpPr/>
          <p:nvPr/>
        </p:nvSpPr>
        <p:spPr>
          <a:xfrm>
            <a:off x="9540240" y="4251960"/>
            <a:ext cx="403860" cy="525780"/>
          </a:xfrm>
          <a:prstGeom prst="roundRect">
            <a:avLst/>
          </a:prstGeom>
          <a:solidFill>
            <a:srgbClr val="E1EFEB"/>
          </a:solidFill>
          <a:ln w="12700">
            <a:solidFill>
              <a:srgbClr val="E1EFEB">
                <a:alpha val="0"/>
              </a:srgbClr>
            </a:solidFill>
            <a:prstDash val="solid"/>
          </a:ln>
        </p:spPr>
      </p:sp>
      <p:sp>
        <p:nvSpPr>
          <p:cNvPr id="88" name="Shape 86"/>
          <p:cNvSpPr/>
          <p:nvPr/>
        </p:nvSpPr>
        <p:spPr>
          <a:xfrm>
            <a:off x="9641205" y="4425467"/>
            <a:ext cx="201930" cy="236601"/>
          </a:xfrm>
          <a:prstGeom prst="roundRect">
            <a:avLst/>
          </a:prstGeom>
          <a:solidFill>
            <a:srgbClr val="087F7B"/>
          </a:solidFill>
          <a:ln w="12700">
            <a:solidFill>
              <a:srgbClr val="087F7B">
                <a:alpha val="0"/>
              </a:srgbClr>
            </a:solidFill>
            <a:prstDash val="solid"/>
          </a:ln>
        </p:spPr>
      </p:sp>
      <p:sp>
        <p:nvSpPr>
          <p:cNvPr id="89" name="Shape 87"/>
          <p:cNvSpPr/>
          <p:nvPr/>
        </p:nvSpPr>
        <p:spPr>
          <a:xfrm>
            <a:off x="10012680" y="4251960"/>
            <a:ext cx="403860" cy="525780"/>
          </a:xfrm>
          <a:prstGeom prst="roundRect">
            <a:avLst/>
          </a:prstGeom>
          <a:solidFill>
            <a:srgbClr val="E1EFEB"/>
          </a:solidFill>
          <a:ln w="12700">
            <a:solidFill>
              <a:srgbClr val="E1EFEB">
                <a:alpha val="0"/>
              </a:srgbClr>
            </a:solidFill>
            <a:prstDash val="solid"/>
          </a:ln>
        </p:spPr>
      </p:sp>
      <p:sp>
        <p:nvSpPr>
          <p:cNvPr id="90" name="Shape 88"/>
          <p:cNvSpPr/>
          <p:nvPr/>
        </p:nvSpPr>
        <p:spPr>
          <a:xfrm>
            <a:off x="10113645" y="4478045"/>
            <a:ext cx="201930" cy="184023"/>
          </a:xfrm>
          <a:prstGeom prst="roundRect">
            <a:avLst/>
          </a:prstGeom>
          <a:solidFill>
            <a:srgbClr val="087F7B"/>
          </a:solidFill>
          <a:ln w="12700">
            <a:solidFill>
              <a:srgbClr val="087F7B">
                <a:alpha val="0"/>
              </a:srgbClr>
            </a:solidFill>
            <a:prstDash val="solid"/>
          </a:ln>
        </p:spPr>
      </p:sp>
      <p:sp>
        <p:nvSpPr>
          <p:cNvPr id="91" name="Shape 89"/>
          <p:cNvSpPr/>
          <p:nvPr/>
        </p:nvSpPr>
        <p:spPr>
          <a:xfrm>
            <a:off x="10485120" y="4251960"/>
            <a:ext cx="403860" cy="525780"/>
          </a:xfrm>
          <a:prstGeom prst="roundRect">
            <a:avLst/>
          </a:prstGeom>
          <a:solidFill>
            <a:srgbClr val="E1EFEB"/>
          </a:solidFill>
          <a:ln w="12700">
            <a:solidFill>
              <a:srgbClr val="E1EFEB">
                <a:alpha val="0"/>
              </a:srgbClr>
            </a:solidFill>
            <a:prstDash val="solid"/>
          </a:ln>
        </p:spPr>
      </p:sp>
      <p:sp>
        <p:nvSpPr>
          <p:cNvPr id="92" name="Shape 90"/>
          <p:cNvSpPr/>
          <p:nvPr/>
        </p:nvSpPr>
        <p:spPr>
          <a:xfrm>
            <a:off x="10586085" y="4372889"/>
            <a:ext cx="201930" cy="289179"/>
          </a:xfrm>
          <a:prstGeom prst="roundRect">
            <a:avLst/>
          </a:prstGeom>
          <a:solidFill>
            <a:srgbClr val="087F7B"/>
          </a:solidFill>
          <a:ln w="12700">
            <a:solidFill>
              <a:srgbClr val="087F7B">
                <a:alpha val="0"/>
              </a:srgbClr>
            </a:solidFill>
            <a:prstDash val="solid"/>
          </a:ln>
        </p:spPr>
      </p:sp>
      <p:sp>
        <p:nvSpPr>
          <p:cNvPr id="93" name="Text 91"/>
          <p:cNvSpPr/>
          <p:nvPr/>
        </p:nvSpPr>
        <p:spPr>
          <a:xfrm>
            <a:off x="609600" y="5760720"/>
            <a:ext cx="109728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183139"/>
                </a:solidFill>
                <a:latin typeface="Arial" pitchFamily="34" charset="0"/>
                <a:ea typeface="Arial" pitchFamily="34" charset="-122"/>
                <a:cs typeface="Arial" pitchFamily="34" charset="-120"/>
              </a:rPr>
              <a:t>Working hypothesis: generalizable behavior and useful environmental context support adaptation.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02 · PROPOSED SETUP</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An RL policy conditioned on environment</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Standard state describes the robot and task; environmental parameters describe current conditions.</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02 / 08</a:t>
            </a:r>
            <a:endParaRPr lang="en-US" sz="1140" dirty="0"/>
          </a:p>
        </p:txBody>
      </p:sp>
      <p:sp>
        <p:nvSpPr>
          <p:cNvPr id="10" name="Shape 8"/>
          <p:cNvSpPr/>
          <p:nvPr/>
        </p:nvSpPr>
        <p:spPr>
          <a:xfrm>
            <a:off x="609600" y="2316480"/>
            <a:ext cx="3810000" cy="1203960"/>
          </a:xfrm>
          <a:prstGeom prst="roundRect">
            <a:avLst/>
          </a:prstGeom>
          <a:solidFill>
            <a:srgbClr val="FFFFFF"/>
          </a:solidFill>
          <a:ln w="12700">
            <a:solidFill>
              <a:srgbClr val="FFFFFF">
                <a:alpha val="0"/>
              </a:srgbClr>
            </a:solidFill>
            <a:prstDash val="solid"/>
          </a:ln>
        </p:spPr>
      </p:sp>
      <p:sp>
        <p:nvSpPr>
          <p:cNvPr id="11" name="Text 9"/>
          <p:cNvSpPr/>
          <p:nvPr/>
        </p:nvSpPr>
        <p:spPr>
          <a:xfrm>
            <a:off x="830580" y="2514600"/>
            <a:ext cx="3375660" cy="327660"/>
          </a:xfrm>
          <a:prstGeom prst="rect">
            <a:avLst/>
          </a:prstGeom>
          <a:noFill/>
          <a:ln/>
        </p:spPr>
        <p:txBody>
          <a:bodyPr wrap="square" lIns="0" tIns="0" rIns="0" bIns="0" rtlCol="0" anchor="t"/>
          <a:lstStyle/>
          <a:p>
            <a:pPr algn="l" indent="0" marL="0">
              <a:lnSpc>
                <a:spcPct val="105000"/>
              </a:lnSpc>
              <a:buNone/>
            </a:pPr>
            <a:r>
              <a:rPr lang="en-US" altLang="en-US" sz="1980" b="1" dirty="0">
                <a:solidFill>
                  <a:srgbClr val="183139"/>
                </a:solidFill>
                <a:latin typeface="Arial" pitchFamily="34" charset="0"/>
                <a:ea typeface="Arial" pitchFamily="34" charset="-122"/>
                <a:cs typeface="Arial" pitchFamily="34" charset="-120"/>
              </a:rPr>
              <a:t>Robot + task state</a:t>
            </a:r>
            <a:endParaRPr lang="en-US" sz="1980" dirty="0"/>
          </a:p>
        </p:txBody>
      </p:sp>
      <p:sp>
        <p:nvSpPr>
          <p:cNvPr id="12" name="Text 10"/>
          <p:cNvSpPr/>
          <p:nvPr/>
        </p:nvSpPr>
        <p:spPr>
          <a:xfrm>
            <a:off x="830580" y="2979420"/>
            <a:ext cx="3375660" cy="274320"/>
          </a:xfrm>
          <a:prstGeom prst="rect">
            <a:avLst/>
          </a:prstGeom>
          <a:noFill/>
          <a:ln/>
        </p:spPr>
        <p:txBody>
          <a:bodyPr wrap="square" lIns="0" tIns="0" rIns="0" bIns="0" rtlCol="0" anchor="t"/>
          <a:lstStyle/>
          <a:p>
            <a:pPr algn="l" indent="0" marL="0">
              <a:lnSpc>
                <a:spcPct val="105000"/>
              </a:lnSpc>
              <a:buNone/>
            </a:pPr>
            <a:r>
              <a:rPr lang="en-US" altLang="en-US" sz="1620" dirty="0">
                <a:solidFill>
                  <a:srgbClr val="62747A"/>
                </a:solidFill>
                <a:latin typeface="Arial" pitchFamily="34" charset="0"/>
                <a:ea typeface="Arial" pitchFamily="34" charset="-122"/>
                <a:cs typeface="Arial" pitchFamily="34" charset="-120"/>
              </a:rPr>
              <a:t>Joints, gripper pose, task state</a:t>
            </a:r>
            <a:endParaRPr lang="en-US" sz="1620" dirty="0"/>
          </a:p>
        </p:txBody>
      </p:sp>
      <p:sp>
        <p:nvSpPr>
          <p:cNvPr id="13" name="Shape 11"/>
          <p:cNvSpPr/>
          <p:nvPr/>
        </p:nvSpPr>
        <p:spPr>
          <a:xfrm>
            <a:off x="609600" y="3855720"/>
            <a:ext cx="3810000" cy="1203960"/>
          </a:xfrm>
          <a:prstGeom prst="roundRect">
            <a:avLst/>
          </a:prstGeom>
          <a:solidFill>
            <a:srgbClr val="E1EFEB"/>
          </a:solidFill>
          <a:ln w="12700">
            <a:solidFill>
              <a:srgbClr val="E1EFEB">
                <a:alpha val="0"/>
              </a:srgbClr>
            </a:solidFill>
            <a:prstDash val="solid"/>
          </a:ln>
        </p:spPr>
      </p:sp>
      <p:sp>
        <p:nvSpPr>
          <p:cNvPr id="14" name="Text 12"/>
          <p:cNvSpPr/>
          <p:nvPr/>
        </p:nvSpPr>
        <p:spPr>
          <a:xfrm>
            <a:off x="830580" y="4053840"/>
            <a:ext cx="3375660" cy="320040"/>
          </a:xfrm>
          <a:prstGeom prst="rect">
            <a:avLst/>
          </a:prstGeom>
          <a:noFill/>
          <a:ln/>
        </p:spPr>
        <p:txBody>
          <a:bodyPr wrap="square" lIns="0" tIns="0" rIns="0" bIns="0" rtlCol="0" anchor="t"/>
          <a:lstStyle/>
          <a:p>
            <a:pPr algn="l" indent="0" marL="0">
              <a:lnSpc>
                <a:spcPct val="105000"/>
              </a:lnSpc>
              <a:buNone/>
            </a:pPr>
            <a:r>
              <a:rPr lang="en-US" altLang="en-US" sz="1920" b="1" dirty="0">
                <a:solidFill>
                  <a:srgbClr val="087F7B"/>
                </a:solidFill>
                <a:latin typeface="Arial" pitchFamily="34" charset="0"/>
                <a:ea typeface="Arial" pitchFamily="34" charset="-122"/>
                <a:cs typeface="Arial" pitchFamily="34" charset="-120"/>
              </a:rPr>
              <a:t>Environmental parameters</a:t>
            </a:r>
            <a:endParaRPr lang="en-US" sz="1920" dirty="0"/>
          </a:p>
        </p:txBody>
      </p:sp>
      <p:sp>
        <p:nvSpPr>
          <p:cNvPr id="15" name="Text 13"/>
          <p:cNvSpPr/>
          <p:nvPr/>
        </p:nvSpPr>
        <p:spPr>
          <a:xfrm>
            <a:off x="830580" y="4472940"/>
            <a:ext cx="3375660" cy="525780"/>
          </a:xfrm>
          <a:prstGeom prst="rect">
            <a:avLst/>
          </a:prstGeom>
          <a:noFill/>
          <a:ln/>
        </p:spPr>
        <p:txBody>
          <a:bodyPr wrap="square" lIns="0" tIns="0" rIns="0" bIns="0" rtlCol="0" anchor="t"/>
          <a:lstStyle/>
          <a:p>
            <a:pPr algn="l" indent="0" marL="0">
              <a:lnSpc>
                <a:spcPct val="105000"/>
              </a:lnSpc>
              <a:buNone/>
            </a:pPr>
            <a:r>
              <a:rPr lang="en-US" altLang="en-US" sz="1620" dirty="0">
                <a:solidFill>
                  <a:srgbClr val="087F7B"/>
                </a:solidFill>
                <a:latin typeface="Arial" pitchFamily="34" charset="0"/>
                <a:ea typeface="Arial" pitchFamily="34" charset="-122"/>
                <a:cs typeface="Arial" pitchFamily="34" charset="-120"/>
              </a:rPr>
              <a:t>Known in training;</a:t>
            </a:r>
            <a:endParaRPr lang="en-US" sz="1620" dirty="0"/>
          </a:p>
          <a:p>
            <a:pPr algn="l" indent="0" marL="0">
              <a:lnSpc>
                <a:spcPct val="105000"/>
              </a:lnSpc>
              <a:buNone/>
            </a:pPr>
            <a:r>
              <a:rPr lang="en-US" altLang="en-US" sz="1620" dirty="0">
                <a:solidFill>
                  <a:srgbClr val="087F7B"/>
                </a:solidFill>
                <a:latin typeface="Arial" pitchFamily="34" charset="0"/>
                <a:ea typeface="Arial" pitchFamily="34" charset="-122"/>
                <a:cs typeface="Arial" pitchFamily="34" charset="-120"/>
              </a:rPr>
              <a:t>estimated at deployment</a:t>
            </a:r>
            <a:endParaRPr lang="en-US" sz="1620" dirty="0"/>
          </a:p>
        </p:txBody>
      </p:sp>
      <p:sp>
        <p:nvSpPr>
          <p:cNvPr id="16" name="Shape 14"/>
          <p:cNvSpPr/>
          <p:nvPr/>
        </p:nvSpPr>
        <p:spPr>
          <a:xfrm>
            <a:off x="4594860" y="2933700"/>
            <a:ext cx="655320" cy="342900"/>
          </a:xfrm>
          <a:prstGeom prst="line">
            <a:avLst/>
          </a:prstGeom>
          <a:noFill/>
          <a:ln w="22860">
            <a:solidFill>
              <a:srgbClr val="93A5AA"/>
            </a:solidFill>
            <a:prstDash val="solid"/>
            <a:tailEnd type="triangle"/>
          </a:ln>
        </p:spPr>
      </p:sp>
      <p:sp>
        <p:nvSpPr>
          <p:cNvPr id="17" name="Shape 15"/>
          <p:cNvSpPr/>
          <p:nvPr/>
        </p:nvSpPr>
        <p:spPr>
          <a:xfrm flipV="1">
            <a:off x="4594860" y="3947160"/>
            <a:ext cx="655320" cy="495300"/>
          </a:xfrm>
          <a:prstGeom prst="line">
            <a:avLst/>
          </a:prstGeom>
          <a:noFill/>
          <a:ln w="22860">
            <a:solidFill>
              <a:srgbClr val="087F7B"/>
            </a:solidFill>
            <a:prstDash val="solid"/>
            <a:tailEnd type="triangle"/>
          </a:ln>
        </p:spPr>
      </p:sp>
      <p:sp>
        <p:nvSpPr>
          <p:cNvPr id="18" name="Shape 16"/>
          <p:cNvSpPr/>
          <p:nvPr/>
        </p:nvSpPr>
        <p:spPr>
          <a:xfrm>
            <a:off x="5524500" y="2865120"/>
            <a:ext cx="2667000" cy="1638300"/>
          </a:xfrm>
          <a:prstGeom prst="roundRect">
            <a:avLst/>
          </a:prstGeom>
          <a:solidFill>
            <a:srgbClr val="FFFFFF"/>
          </a:solidFill>
          <a:ln w="11430">
            <a:solidFill>
              <a:srgbClr val="D8DFD9"/>
            </a:solidFill>
            <a:prstDash val="solid"/>
          </a:ln>
        </p:spPr>
      </p:sp>
      <p:sp>
        <p:nvSpPr>
          <p:cNvPr id="19" name="Shape 17"/>
          <p:cNvSpPr/>
          <p:nvPr/>
        </p:nvSpPr>
        <p:spPr>
          <a:xfrm flipV="1">
            <a:off x="6233160" y="3140393"/>
            <a:ext cx="628650" cy="33338"/>
          </a:xfrm>
          <a:prstGeom prst="line">
            <a:avLst/>
          </a:prstGeom>
          <a:noFill/>
          <a:ln w="11430">
            <a:solidFill>
              <a:srgbClr val="A5CBC0"/>
            </a:solidFill>
            <a:prstDash val="solid"/>
          </a:ln>
        </p:spPr>
      </p:sp>
      <p:sp>
        <p:nvSpPr>
          <p:cNvPr id="20" name="Shape 18"/>
          <p:cNvSpPr/>
          <p:nvPr/>
        </p:nvSpPr>
        <p:spPr>
          <a:xfrm>
            <a:off x="6233160" y="3173730"/>
            <a:ext cx="628650" cy="166688"/>
          </a:xfrm>
          <a:prstGeom prst="line">
            <a:avLst/>
          </a:prstGeom>
          <a:noFill/>
          <a:ln w="11430">
            <a:solidFill>
              <a:srgbClr val="A5CBC0"/>
            </a:solidFill>
            <a:prstDash val="solid"/>
          </a:ln>
        </p:spPr>
      </p:sp>
      <p:sp>
        <p:nvSpPr>
          <p:cNvPr id="21" name="Shape 19"/>
          <p:cNvSpPr/>
          <p:nvPr/>
        </p:nvSpPr>
        <p:spPr>
          <a:xfrm>
            <a:off x="6233160" y="3173730"/>
            <a:ext cx="628650" cy="366713"/>
          </a:xfrm>
          <a:prstGeom prst="line">
            <a:avLst/>
          </a:prstGeom>
          <a:noFill/>
          <a:ln w="11430">
            <a:solidFill>
              <a:srgbClr val="A5CBC0"/>
            </a:solidFill>
            <a:prstDash val="solid"/>
          </a:ln>
        </p:spPr>
      </p:sp>
      <p:sp>
        <p:nvSpPr>
          <p:cNvPr id="22" name="Shape 20"/>
          <p:cNvSpPr/>
          <p:nvPr/>
        </p:nvSpPr>
        <p:spPr>
          <a:xfrm>
            <a:off x="6233160" y="3173730"/>
            <a:ext cx="628650" cy="566738"/>
          </a:xfrm>
          <a:prstGeom prst="line">
            <a:avLst/>
          </a:prstGeom>
          <a:noFill/>
          <a:ln w="11430">
            <a:solidFill>
              <a:srgbClr val="A5CBC0"/>
            </a:solidFill>
            <a:prstDash val="solid"/>
          </a:ln>
        </p:spPr>
      </p:sp>
      <p:sp>
        <p:nvSpPr>
          <p:cNvPr id="23" name="Shape 21"/>
          <p:cNvSpPr/>
          <p:nvPr/>
        </p:nvSpPr>
        <p:spPr>
          <a:xfrm flipV="1">
            <a:off x="6233160" y="3140393"/>
            <a:ext cx="628650" cy="300038"/>
          </a:xfrm>
          <a:prstGeom prst="line">
            <a:avLst/>
          </a:prstGeom>
          <a:noFill/>
          <a:ln w="11430">
            <a:solidFill>
              <a:srgbClr val="A5CBC0"/>
            </a:solidFill>
            <a:prstDash val="solid"/>
          </a:ln>
        </p:spPr>
      </p:sp>
      <p:sp>
        <p:nvSpPr>
          <p:cNvPr id="24" name="Shape 22"/>
          <p:cNvSpPr/>
          <p:nvPr/>
        </p:nvSpPr>
        <p:spPr>
          <a:xfrm flipV="1">
            <a:off x="6233160" y="3340418"/>
            <a:ext cx="628650" cy="100013"/>
          </a:xfrm>
          <a:prstGeom prst="line">
            <a:avLst/>
          </a:prstGeom>
          <a:noFill/>
          <a:ln w="11430">
            <a:solidFill>
              <a:srgbClr val="A5CBC0"/>
            </a:solidFill>
            <a:prstDash val="solid"/>
          </a:ln>
        </p:spPr>
      </p:sp>
      <p:sp>
        <p:nvSpPr>
          <p:cNvPr id="25" name="Shape 23"/>
          <p:cNvSpPr/>
          <p:nvPr/>
        </p:nvSpPr>
        <p:spPr>
          <a:xfrm>
            <a:off x="6233160" y="3440430"/>
            <a:ext cx="628650" cy="100013"/>
          </a:xfrm>
          <a:prstGeom prst="line">
            <a:avLst/>
          </a:prstGeom>
          <a:noFill/>
          <a:ln w="11430">
            <a:solidFill>
              <a:srgbClr val="A5CBC0"/>
            </a:solidFill>
            <a:prstDash val="solid"/>
          </a:ln>
        </p:spPr>
      </p:sp>
      <p:sp>
        <p:nvSpPr>
          <p:cNvPr id="26" name="Shape 24"/>
          <p:cNvSpPr/>
          <p:nvPr/>
        </p:nvSpPr>
        <p:spPr>
          <a:xfrm>
            <a:off x="6233160" y="3440430"/>
            <a:ext cx="628650" cy="300038"/>
          </a:xfrm>
          <a:prstGeom prst="line">
            <a:avLst/>
          </a:prstGeom>
          <a:noFill/>
          <a:ln w="11430">
            <a:solidFill>
              <a:srgbClr val="A5CBC0"/>
            </a:solidFill>
            <a:prstDash val="solid"/>
          </a:ln>
        </p:spPr>
      </p:sp>
      <p:sp>
        <p:nvSpPr>
          <p:cNvPr id="27" name="Shape 25"/>
          <p:cNvSpPr/>
          <p:nvPr/>
        </p:nvSpPr>
        <p:spPr>
          <a:xfrm flipV="1">
            <a:off x="6233160" y="3140393"/>
            <a:ext cx="628650" cy="566738"/>
          </a:xfrm>
          <a:prstGeom prst="line">
            <a:avLst/>
          </a:prstGeom>
          <a:noFill/>
          <a:ln w="11430">
            <a:solidFill>
              <a:srgbClr val="A5CBC0"/>
            </a:solidFill>
            <a:prstDash val="solid"/>
          </a:ln>
        </p:spPr>
      </p:sp>
      <p:sp>
        <p:nvSpPr>
          <p:cNvPr id="28" name="Shape 26"/>
          <p:cNvSpPr/>
          <p:nvPr/>
        </p:nvSpPr>
        <p:spPr>
          <a:xfrm flipV="1">
            <a:off x="6233160" y="3340418"/>
            <a:ext cx="628650" cy="366713"/>
          </a:xfrm>
          <a:prstGeom prst="line">
            <a:avLst/>
          </a:prstGeom>
          <a:noFill/>
          <a:ln w="11430">
            <a:solidFill>
              <a:srgbClr val="A5CBC0"/>
            </a:solidFill>
            <a:prstDash val="solid"/>
          </a:ln>
        </p:spPr>
      </p:sp>
      <p:sp>
        <p:nvSpPr>
          <p:cNvPr id="29" name="Shape 27"/>
          <p:cNvSpPr/>
          <p:nvPr/>
        </p:nvSpPr>
        <p:spPr>
          <a:xfrm flipV="1">
            <a:off x="6233160" y="3540443"/>
            <a:ext cx="628650" cy="166688"/>
          </a:xfrm>
          <a:prstGeom prst="line">
            <a:avLst/>
          </a:prstGeom>
          <a:noFill/>
          <a:ln w="11430">
            <a:solidFill>
              <a:srgbClr val="A5CBC0"/>
            </a:solidFill>
            <a:prstDash val="solid"/>
          </a:ln>
        </p:spPr>
      </p:sp>
      <p:sp>
        <p:nvSpPr>
          <p:cNvPr id="30" name="Shape 28"/>
          <p:cNvSpPr/>
          <p:nvPr/>
        </p:nvSpPr>
        <p:spPr>
          <a:xfrm>
            <a:off x="6233160" y="3707130"/>
            <a:ext cx="628650" cy="33338"/>
          </a:xfrm>
          <a:prstGeom prst="line">
            <a:avLst/>
          </a:prstGeom>
          <a:noFill/>
          <a:ln w="11430">
            <a:solidFill>
              <a:srgbClr val="A5CBC0"/>
            </a:solidFill>
            <a:prstDash val="solid"/>
          </a:ln>
        </p:spPr>
      </p:sp>
      <p:sp>
        <p:nvSpPr>
          <p:cNvPr id="31" name="Shape 29"/>
          <p:cNvSpPr/>
          <p:nvPr/>
        </p:nvSpPr>
        <p:spPr>
          <a:xfrm>
            <a:off x="6861810" y="3140393"/>
            <a:ext cx="628650" cy="33338"/>
          </a:xfrm>
          <a:prstGeom prst="line">
            <a:avLst/>
          </a:prstGeom>
          <a:noFill/>
          <a:ln w="11430">
            <a:solidFill>
              <a:srgbClr val="A5CBC0"/>
            </a:solidFill>
            <a:prstDash val="solid"/>
          </a:ln>
        </p:spPr>
      </p:sp>
      <p:sp>
        <p:nvSpPr>
          <p:cNvPr id="32" name="Shape 30"/>
          <p:cNvSpPr/>
          <p:nvPr/>
        </p:nvSpPr>
        <p:spPr>
          <a:xfrm>
            <a:off x="6861810" y="3140393"/>
            <a:ext cx="628650" cy="300038"/>
          </a:xfrm>
          <a:prstGeom prst="line">
            <a:avLst/>
          </a:prstGeom>
          <a:noFill/>
          <a:ln w="11430">
            <a:solidFill>
              <a:srgbClr val="A5CBC0"/>
            </a:solidFill>
            <a:prstDash val="solid"/>
          </a:ln>
        </p:spPr>
      </p:sp>
      <p:sp>
        <p:nvSpPr>
          <p:cNvPr id="33" name="Shape 31"/>
          <p:cNvSpPr/>
          <p:nvPr/>
        </p:nvSpPr>
        <p:spPr>
          <a:xfrm>
            <a:off x="6861810" y="3140393"/>
            <a:ext cx="628650" cy="566738"/>
          </a:xfrm>
          <a:prstGeom prst="line">
            <a:avLst/>
          </a:prstGeom>
          <a:noFill/>
          <a:ln w="11430">
            <a:solidFill>
              <a:srgbClr val="A5CBC0"/>
            </a:solidFill>
            <a:prstDash val="solid"/>
          </a:ln>
        </p:spPr>
      </p:sp>
      <p:sp>
        <p:nvSpPr>
          <p:cNvPr id="34" name="Shape 32"/>
          <p:cNvSpPr/>
          <p:nvPr/>
        </p:nvSpPr>
        <p:spPr>
          <a:xfrm flipV="1">
            <a:off x="6861810" y="3173730"/>
            <a:ext cx="628650" cy="166688"/>
          </a:xfrm>
          <a:prstGeom prst="line">
            <a:avLst/>
          </a:prstGeom>
          <a:noFill/>
          <a:ln w="11430">
            <a:solidFill>
              <a:srgbClr val="A5CBC0"/>
            </a:solidFill>
            <a:prstDash val="solid"/>
          </a:ln>
        </p:spPr>
      </p:sp>
      <p:sp>
        <p:nvSpPr>
          <p:cNvPr id="35" name="Shape 33"/>
          <p:cNvSpPr/>
          <p:nvPr/>
        </p:nvSpPr>
        <p:spPr>
          <a:xfrm>
            <a:off x="6861810" y="3340418"/>
            <a:ext cx="628650" cy="100013"/>
          </a:xfrm>
          <a:prstGeom prst="line">
            <a:avLst/>
          </a:prstGeom>
          <a:noFill/>
          <a:ln w="11430">
            <a:solidFill>
              <a:srgbClr val="A5CBC0"/>
            </a:solidFill>
            <a:prstDash val="solid"/>
          </a:ln>
        </p:spPr>
      </p:sp>
      <p:sp>
        <p:nvSpPr>
          <p:cNvPr id="36" name="Shape 34"/>
          <p:cNvSpPr/>
          <p:nvPr/>
        </p:nvSpPr>
        <p:spPr>
          <a:xfrm>
            <a:off x="6861810" y="3340418"/>
            <a:ext cx="628650" cy="366713"/>
          </a:xfrm>
          <a:prstGeom prst="line">
            <a:avLst/>
          </a:prstGeom>
          <a:noFill/>
          <a:ln w="11430">
            <a:solidFill>
              <a:srgbClr val="A5CBC0"/>
            </a:solidFill>
            <a:prstDash val="solid"/>
          </a:ln>
        </p:spPr>
      </p:sp>
      <p:sp>
        <p:nvSpPr>
          <p:cNvPr id="37" name="Shape 35"/>
          <p:cNvSpPr/>
          <p:nvPr/>
        </p:nvSpPr>
        <p:spPr>
          <a:xfrm flipV="1">
            <a:off x="6861810" y="3173730"/>
            <a:ext cx="628650" cy="366713"/>
          </a:xfrm>
          <a:prstGeom prst="line">
            <a:avLst/>
          </a:prstGeom>
          <a:noFill/>
          <a:ln w="11430">
            <a:solidFill>
              <a:srgbClr val="A5CBC0"/>
            </a:solidFill>
            <a:prstDash val="solid"/>
          </a:ln>
        </p:spPr>
      </p:sp>
      <p:sp>
        <p:nvSpPr>
          <p:cNvPr id="38" name="Shape 36"/>
          <p:cNvSpPr/>
          <p:nvPr/>
        </p:nvSpPr>
        <p:spPr>
          <a:xfrm flipV="1">
            <a:off x="6861810" y="3440430"/>
            <a:ext cx="628650" cy="100013"/>
          </a:xfrm>
          <a:prstGeom prst="line">
            <a:avLst/>
          </a:prstGeom>
          <a:noFill/>
          <a:ln w="11430">
            <a:solidFill>
              <a:srgbClr val="A5CBC0"/>
            </a:solidFill>
            <a:prstDash val="solid"/>
          </a:ln>
        </p:spPr>
      </p:sp>
      <p:sp>
        <p:nvSpPr>
          <p:cNvPr id="39" name="Shape 37"/>
          <p:cNvSpPr/>
          <p:nvPr/>
        </p:nvSpPr>
        <p:spPr>
          <a:xfrm>
            <a:off x="6861810" y="3540443"/>
            <a:ext cx="628650" cy="166688"/>
          </a:xfrm>
          <a:prstGeom prst="line">
            <a:avLst/>
          </a:prstGeom>
          <a:noFill/>
          <a:ln w="11430">
            <a:solidFill>
              <a:srgbClr val="A5CBC0"/>
            </a:solidFill>
            <a:prstDash val="solid"/>
          </a:ln>
        </p:spPr>
      </p:sp>
      <p:sp>
        <p:nvSpPr>
          <p:cNvPr id="40" name="Shape 38"/>
          <p:cNvSpPr/>
          <p:nvPr/>
        </p:nvSpPr>
        <p:spPr>
          <a:xfrm flipV="1">
            <a:off x="6861810" y="3173730"/>
            <a:ext cx="628650" cy="566738"/>
          </a:xfrm>
          <a:prstGeom prst="line">
            <a:avLst/>
          </a:prstGeom>
          <a:noFill/>
          <a:ln w="11430">
            <a:solidFill>
              <a:srgbClr val="A5CBC0"/>
            </a:solidFill>
            <a:prstDash val="solid"/>
          </a:ln>
        </p:spPr>
      </p:sp>
      <p:sp>
        <p:nvSpPr>
          <p:cNvPr id="41" name="Shape 39"/>
          <p:cNvSpPr/>
          <p:nvPr/>
        </p:nvSpPr>
        <p:spPr>
          <a:xfrm flipV="1">
            <a:off x="6861810" y="3440430"/>
            <a:ext cx="628650" cy="300038"/>
          </a:xfrm>
          <a:prstGeom prst="line">
            <a:avLst/>
          </a:prstGeom>
          <a:noFill/>
          <a:ln w="11430">
            <a:solidFill>
              <a:srgbClr val="A5CBC0"/>
            </a:solidFill>
            <a:prstDash val="solid"/>
          </a:ln>
        </p:spPr>
      </p:sp>
      <p:sp>
        <p:nvSpPr>
          <p:cNvPr id="42" name="Shape 40"/>
          <p:cNvSpPr/>
          <p:nvPr/>
        </p:nvSpPr>
        <p:spPr>
          <a:xfrm flipV="1">
            <a:off x="6861810" y="3707130"/>
            <a:ext cx="628650" cy="33338"/>
          </a:xfrm>
          <a:prstGeom prst="line">
            <a:avLst/>
          </a:prstGeom>
          <a:noFill/>
          <a:ln w="11430">
            <a:solidFill>
              <a:srgbClr val="A5CBC0"/>
            </a:solidFill>
            <a:prstDash val="solid"/>
          </a:ln>
        </p:spPr>
      </p:sp>
      <p:sp>
        <p:nvSpPr>
          <p:cNvPr id="43" name="Shape 41"/>
          <p:cNvSpPr/>
          <p:nvPr/>
        </p:nvSpPr>
        <p:spPr>
          <a:xfrm>
            <a:off x="6164580" y="3105150"/>
            <a:ext cx="137160" cy="137160"/>
          </a:xfrm>
          <a:prstGeom prst="ellipse">
            <a:avLst/>
          </a:prstGeom>
          <a:solidFill>
            <a:srgbClr val="22434A"/>
          </a:solidFill>
          <a:ln w="12700">
            <a:solidFill>
              <a:srgbClr val="22434A">
                <a:alpha val="0"/>
              </a:srgbClr>
            </a:solidFill>
            <a:prstDash val="solid"/>
          </a:ln>
        </p:spPr>
      </p:sp>
      <p:sp>
        <p:nvSpPr>
          <p:cNvPr id="44" name="Shape 42"/>
          <p:cNvSpPr/>
          <p:nvPr/>
        </p:nvSpPr>
        <p:spPr>
          <a:xfrm>
            <a:off x="6164580" y="3371850"/>
            <a:ext cx="137160" cy="137160"/>
          </a:xfrm>
          <a:prstGeom prst="ellipse">
            <a:avLst/>
          </a:prstGeom>
          <a:solidFill>
            <a:srgbClr val="22434A"/>
          </a:solidFill>
          <a:ln w="12700">
            <a:solidFill>
              <a:srgbClr val="22434A">
                <a:alpha val="0"/>
              </a:srgbClr>
            </a:solidFill>
            <a:prstDash val="solid"/>
          </a:ln>
        </p:spPr>
      </p:sp>
      <p:sp>
        <p:nvSpPr>
          <p:cNvPr id="45" name="Shape 43"/>
          <p:cNvSpPr/>
          <p:nvPr/>
        </p:nvSpPr>
        <p:spPr>
          <a:xfrm>
            <a:off x="6164580" y="3638550"/>
            <a:ext cx="137160" cy="137160"/>
          </a:xfrm>
          <a:prstGeom prst="ellipse">
            <a:avLst/>
          </a:prstGeom>
          <a:solidFill>
            <a:srgbClr val="22434A"/>
          </a:solidFill>
          <a:ln w="12700">
            <a:solidFill>
              <a:srgbClr val="22434A">
                <a:alpha val="0"/>
              </a:srgbClr>
            </a:solidFill>
            <a:prstDash val="solid"/>
          </a:ln>
        </p:spPr>
      </p:sp>
      <p:sp>
        <p:nvSpPr>
          <p:cNvPr id="46" name="Shape 44"/>
          <p:cNvSpPr/>
          <p:nvPr/>
        </p:nvSpPr>
        <p:spPr>
          <a:xfrm>
            <a:off x="6793230" y="3071813"/>
            <a:ext cx="137160" cy="137160"/>
          </a:xfrm>
          <a:prstGeom prst="ellipse">
            <a:avLst/>
          </a:prstGeom>
          <a:solidFill>
            <a:srgbClr val="22434A"/>
          </a:solidFill>
          <a:ln w="12700">
            <a:solidFill>
              <a:srgbClr val="22434A">
                <a:alpha val="0"/>
              </a:srgbClr>
            </a:solidFill>
            <a:prstDash val="solid"/>
          </a:ln>
        </p:spPr>
      </p:sp>
      <p:sp>
        <p:nvSpPr>
          <p:cNvPr id="47" name="Shape 45"/>
          <p:cNvSpPr/>
          <p:nvPr/>
        </p:nvSpPr>
        <p:spPr>
          <a:xfrm>
            <a:off x="6793230" y="3271838"/>
            <a:ext cx="137160" cy="137160"/>
          </a:xfrm>
          <a:prstGeom prst="ellipse">
            <a:avLst/>
          </a:prstGeom>
          <a:solidFill>
            <a:srgbClr val="22434A"/>
          </a:solidFill>
          <a:ln w="12700">
            <a:solidFill>
              <a:srgbClr val="22434A">
                <a:alpha val="0"/>
              </a:srgbClr>
            </a:solidFill>
            <a:prstDash val="solid"/>
          </a:ln>
        </p:spPr>
      </p:sp>
      <p:sp>
        <p:nvSpPr>
          <p:cNvPr id="48" name="Shape 46"/>
          <p:cNvSpPr/>
          <p:nvPr/>
        </p:nvSpPr>
        <p:spPr>
          <a:xfrm>
            <a:off x="6793230" y="3471863"/>
            <a:ext cx="137160" cy="137160"/>
          </a:xfrm>
          <a:prstGeom prst="ellipse">
            <a:avLst/>
          </a:prstGeom>
          <a:solidFill>
            <a:srgbClr val="22434A"/>
          </a:solidFill>
          <a:ln w="12700">
            <a:solidFill>
              <a:srgbClr val="22434A">
                <a:alpha val="0"/>
              </a:srgbClr>
            </a:solidFill>
            <a:prstDash val="solid"/>
          </a:ln>
        </p:spPr>
      </p:sp>
      <p:sp>
        <p:nvSpPr>
          <p:cNvPr id="49" name="Shape 47"/>
          <p:cNvSpPr/>
          <p:nvPr/>
        </p:nvSpPr>
        <p:spPr>
          <a:xfrm>
            <a:off x="6793230" y="3671888"/>
            <a:ext cx="137160" cy="137160"/>
          </a:xfrm>
          <a:prstGeom prst="ellipse">
            <a:avLst/>
          </a:prstGeom>
          <a:solidFill>
            <a:srgbClr val="22434A"/>
          </a:solidFill>
          <a:ln w="12700">
            <a:solidFill>
              <a:srgbClr val="22434A">
                <a:alpha val="0"/>
              </a:srgbClr>
            </a:solidFill>
            <a:prstDash val="solid"/>
          </a:ln>
        </p:spPr>
      </p:sp>
      <p:sp>
        <p:nvSpPr>
          <p:cNvPr id="50" name="Shape 48"/>
          <p:cNvSpPr/>
          <p:nvPr/>
        </p:nvSpPr>
        <p:spPr>
          <a:xfrm>
            <a:off x="7421880" y="3105150"/>
            <a:ext cx="137160" cy="137160"/>
          </a:xfrm>
          <a:prstGeom prst="ellipse">
            <a:avLst/>
          </a:prstGeom>
          <a:solidFill>
            <a:srgbClr val="22434A"/>
          </a:solidFill>
          <a:ln w="12700">
            <a:solidFill>
              <a:srgbClr val="22434A">
                <a:alpha val="0"/>
              </a:srgbClr>
            </a:solidFill>
            <a:prstDash val="solid"/>
          </a:ln>
        </p:spPr>
      </p:sp>
      <p:sp>
        <p:nvSpPr>
          <p:cNvPr id="51" name="Shape 49"/>
          <p:cNvSpPr/>
          <p:nvPr/>
        </p:nvSpPr>
        <p:spPr>
          <a:xfrm>
            <a:off x="7421880" y="3371850"/>
            <a:ext cx="137160" cy="137160"/>
          </a:xfrm>
          <a:prstGeom prst="ellipse">
            <a:avLst/>
          </a:prstGeom>
          <a:solidFill>
            <a:srgbClr val="22434A"/>
          </a:solidFill>
          <a:ln w="12700">
            <a:solidFill>
              <a:srgbClr val="22434A">
                <a:alpha val="0"/>
              </a:srgbClr>
            </a:solidFill>
            <a:prstDash val="solid"/>
          </a:ln>
        </p:spPr>
      </p:sp>
      <p:sp>
        <p:nvSpPr>
          <p:cNvPr id="52" name="Shape 50"/>
          <p:cNvSpPr/>
          <p:nvPr/>
        </p:nvSpPr>
        <p:spPr>
          <a:xfrm>
            <a:off x="7421880" y="3638550"/>
            <a:ext cx="137160" cy="137160"/>
          </a:xfrm>
          <a:prstGeom prst="ellipse">
            <a:avLst/>
          </a:prstGeom>
          <a:solidFill>
            <a:srgbClr val="22434A"/>
          </a:solidFill>
          <a:ln w="12700">
            <a:solidFill>
              <a:srgbClr val="22434A">
                <a:alpha val="0"/>
              </a:srgbClr>
            </a:solidFill>
            <a:prstDash val="solid"/>
          </a:ln>
        </p:spPr>
      </p:sp>
      <p:sp>
        <p:nvSpPr>
          <p:cNvPr id="53" name="Text 51"/>
          <p:cNvSpPr/>
          <p:nvPr/>
        </p:nvSpPr>
        <p:spPr>
          <a:xfrm>
            <a:off x="5707380" y="4084320"/>
            <a:ext cx="2301240" cy="335280"/>
          </a:xfrm>
          <a:prstGeom prst="rect">
            <a:avLst/>
          </a:prstGeom>
          <a:noFill/>
          <a:ln/>
        </p:spPr>
        <p:txBody>
          <a:bodyPr wrap="square" lIns="0" tIns="0" rIns="0" bIns="0" rtlCol="0" anchor="t"/>
          <a:lstStyle/>
          <a:p>
            <a:pPr algn="ctr" indent="0" marL="0">
              <a:lnSpc>
                <a:spcPct val="105000"/>
              </a:lnSpc>
              <a:buNone/>
            </a:pPr>
            <a:r>
              <a:rPr lang="en-US" altLang="en-US" sz="2040" b="1" dirty="0">
                <a:solidFill>
                  <a:srgbClr val="183139"/>
                </a:solidFill>
                <a:latin typeface="Arial" pitchFamily="34" charset="0"/>
                <a:ea typeface="Arial" pitchFamily="34" charset="-122"/>
                <a:cs typeface="Arial" pitchFamily="34" charset="-120"/>
              </a:rPr>
              <a:t>RL policy</a:t>
            </a:r>
            <a:endParaRPr lang="en-US" sz="2040" dirty="0"/>
          </a:p>
        </p:txBody>
      </p:sp>
      <p:sp>
        <p:nvSpPr>
          <p:cNvPr id="54" name="Shape 52"/>
          <p:cNvSpPr/>
          <p:nvPr/>
        </p:nvSpPr>
        <p:spPr>
          <a:xfrm>
            <a:off x="8382000" y="3680460"/>
            <a:ext cx="487680" cy="0"/>
          </a:xfrm>
          <a:prstGeom prst="line">
            <a:avLst/>
          </a:prstGeom>
          <a:noFill/>
          <a:ln w="22860">
            <a:solidFill>
              <a:srgbClr val="93A5AA"/>
            </a:solidFill>
            <a:prstDash val="solid"/>
            <a:tailEnd type="triangle"/>
          </a:ln>
        </p:spPr>
      </p:sp>
      <p:sp>
        <p:nvSpPr>
          <p:cNvPr id="55" name="Shape 53"/>
          <p:cNvSpPr/>
          <p:nvPr/>
        </p:nvSpPr>
        <p:spPr>
          <a:xfrm>
            <a:off x="9113520" y="3101340"/>
            <a:ext cx="2468880" cy="1181100"/>
          </a:xfrm>
          <a:prstGeom prst="roundRect">
            <a:avLst/>
          </a:prstGeom>
          <a:solidFill>
            <a:srgbClr val="E8ECE8"/>
          </a:solidFill>
          <a:ln w="12700">
            <a:solidFill>
              <a:srgbClr val="E8ECE8">
                <a:alpha val="0"/>
              </a:srgbClr>
            </a:solidFill>
            <a:prstDash val="solid"/>
          </a:ln>
        </p:spPr>
      </p:sp>
      <p:sp>
        <p:nvSpPr>
          <p:cNvPr id="56" name="Text 54"/>
          <p:cNvSpPr/>
          <p:nvPr/>
        </p:nvSpPr>
        <p:spPr>
          <a:xfrm>
            <a:off x="9288780" y="3368040"/>
            <a:ext cx="2118360" cy="678180"/>
          </a:xfrm>
          <a:prstGeom prst="rect">
            <a:avLst/>
          </a:prstGeom>
          <a:noFill/>
          <a:ln/>
        </p:spPr>
        <p:txBody>
          <a:bodyPr wrap="square" lIns="0" tIns="0" rIns="0" bIns="0" rtlCol="0" anchor="t"/>
          <a:lstStyle/>
          <a:p>
            <a:pPr algn="ctr" indent="0" marL="0">
              <a:lnSpc>
                <a:spcPct val="105000"/>
              </a:lnSpc>
              <a:buNone/>
            </a:pPr>
            <a:r>
              <a:rPr lang="en-US" altLang="en-US" sz="1980" b="1" dirty="0">
                <a:solidFill>
                  <a:srgbClr val="183139"/>
                </a:solidFill>
                <a:latin typeface="Arial" pitchFamily="34" charset="0"/>
                <a:ea typeface="Arial" pitchFamily="34" charset="-122"/>
                <a:cs typeface="Arial" pitchFamily="34" charset="-120"/>
              </a:rPr>
              <a:t>Grasp and move</a:t>
            </a:r>
            <a:endParaRPr lang="en-US" sz="1980" dirty="0"/>
          </a:p>
          <a:p>
            <a:pPr algn="ctr" indent="0" marL="0">
              <a:lnSpc>
                <a:spcPct val="105000"/>
              </a:lnSpc>
              <a:buNone/>
            </a:pPr>
            <a:r>
              <a:rPr lang="en-US" altLang="en-US" sz="1980" b="1" dirty="0">
                <a:solidFill>
                  <a:srgbClr val="183139"/>
                </a:solidFill>
                <a:latin typeface="Arial" pitchFamily="34" charset="0"/>
                <a:ea typeface="Arial" pitchFamily="34" charset="-122"/>
                <a:cs typeface="Arial" pitchFamily="34" charset="-120"/>
              </a:rPr>
              <a:t>actions</a:t>
            </a:r>
            <a:endParaRPr lang="en-US" sz="1980" dirty="0"/>
          </a:p>
        </p:txBody>
      </p:sp>
      <p:sp>
        <p:nvSpPr>
          <p:cNvPr id="57" name="Text 55"/>
          <p:cNvSpPr/>
          <p:nvPr/>
        </p:nvSpPr>
        <p:spPr>
          <a:xfrm>
            <a:off x="609600" y="5494020"/>
            <a:ext cx="109728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183139"/>
                </a:solidFill>
                <a:latin typeface="Arial" pitchFamily="34" charset="0"/>
                <a:ea typeface="Arial" pitchFamily="34" charset="-122"/>
                <a:cs typeface="Arial" pitchFamily="34" charset="-120"/>
              </a:rPr>
              <a:t>Training: learn policy weights from reward. Deployment test: keep those weights fixed.</a:t>
            </a:r>
            <a:endParaRPr lang="en-US" sz="1800" dirty="0"/>
          </a:p>
        </p:txBody>
      </p:sp>
      <p:sp>
        <p:nvSpPr>
          <p:cNvPr id="58" name="Text 56"/>
          <p:cNvSpPr/>
          <p:nvPr/>
        </p:nvSpPr>
        <p:spPr>
          <a:xfrm>
            <a:off x="609600" y="5989320"/>
            <a:ext cx="109728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Assumption to test: varied training produces a policy capable of executing at held-out heights.</a:t>
            </a:r>
            <a:endParaRPr lang="en-US" sz="1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03 · FINDING 1 · COMPLETED</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A controlled visual mass estimate works</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Fixed-density cubes provide a visible size-to-mass relationship.</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03 / 08</a:t>
            </a:r>
            <a:endParaRPr lang="en-US" sz="1140" dirty="0"/>
          </a:p>
        </p:txBody>
      </p:sp>
      <p:sp>
        <p:nvSpPr>
          <p:cNvPr id="10" name="Shape 8"/>
          <p:cNvSpPr/>
          <p:nvPr/>
        </p:nvSpPr>
        <p:spPr>
          <a:xfrm>
            <a:off x="609600" y="2179320"/>
            <a:ext cx="7901940" cy="2880360"/>
          </a:xfrm>
          <a:prstGeom prst="roundRect">
            <a:avLst/>
          </a:prstGeom>
          <a:solidFill>
            <a:srgbClr val="FFFFFF"/>
          </a:solidFill>
          <a:ln w="12700">
            <a:solidFill>
              <a:srgbClr val="FFFFFF">
                <a:alpha val="0"/>
              </a:srgbClr>
            </a:solidFill>
            <a:prstDash val="solid"/>
          </a:ln>
        </p:spPr>
      </p:sp>
      <p:pic>
        <p:nvPicPr>
          <p:cNvPr id="11" name="Image 0" descr="\\wsl.localhost\Ubuntu\home\ubuntu\faliure\runs\visual_mass\initial_rgb_mass\model\predictions.png">    </p:cNvPr>
          <p:cNvPicPr>
            <a:picLocks noChangeAspect="1"/>
          </p:cNvPicPr>
          <p:nvPr/>
        </p:nvPicPr>
        <p:blipFill>
          <a:blip r:embed="rId1"/>
          <a:stretch>
            <a:fillRect/>
          </a:stretch>
        </p:blipFill>
        <p:spPr>
          <a:xfrm>
            <a:off x="754380" y="2362200"/>
            <a:ext cx="7612380" cy="2407920"/>
          </a:xfrm>
          <a:prstGeom prst="rect">
            <a:avLst/>
          </a:prstGeom>
        </p:spPr>
      </p:pic>
      <p:sp>
        <p:nvSpPr>
          <p:cNvPr id="12" name="Shape 9"/>
          <p:cNvSpPr/>
          <p:nvPr/>
        </p:nvSpPr>
        <p:spPr>
          <a:xfrm>
            <a:off x="8778240" y="2179320"/>
            <a:ext cx="2804160" cy="2880360"/>
          </a:xfrm>
          <a:prstGeom prst="roundRect">
            <a:avLst/>
          </a:prstGeom>
          <a:solidFill>
            <a:srgbClr val="E1EFEB"/>
          </a:solidFill>
          <a:ln w="12700">
            <a:solidFill>
              <a:srgbClr val="E1EFEB">
                <a:alpha val="0"/>
              </a:srgbClr>
            </a:solidFill>
            <a:prstDash val="solid"/>
          </a:ln>
        </p:spPr>
      </p:sp>
      <p:sp>
        <p:nvSpPr>
          <p:cNvPr id="13" name="Text 10"/>
          <p:cNvSpPr/>
          <p:nvPr/>
        </p:nvSpPr>
        <p:spPr>
          <a:xfrm>
            <a:off x="8968740" y="2392680"/>
            <a:ext cx="2423160" cy="205740"/>
          </a:xfrm>
          <a:prstGeom prst="rect">
            <a:avLst/>
          </a:prstGeom>
          <a:noFill/>
          <a:ln/>
        </p:spPr>
        <p:txBody>
          <a:bodyPr wrap="square" lIns="0" tIns="0" rIns="0" bIns="0" rtlCol="0" anchor="t"/>
          <a:lstStyle/>
          <a:p>
            <a:pPr algn="l" indent="0" marL="0">
              <a:lnSpc>
                <a:spcPct val="105000"/>
              </a:lnSpc>
              <a:buNone/>
            </a:pPr>
            <a:r>
              <a:rPr lang="en-US" altLang="en-US" sz="1200" b="1" dirty="0">
                <a:solidFill>
                  <a:srgbClr val="087F7B"/>
                </a:solidFill>
                <a:latin typeface="Arial" pitchFamily="34" charset="0"/>
                <a:ea typeface="Arial" pitchFamily="34" charset="-122"/>
                <a:cs typeface="Arial" pitchFamily="34" charset="-120"/>
              </a:rPr>
              <a:t>TEST MASS ERROR</a:t>
            </a:r>
            <a:endParaRPr lang="en-US" sz="1200" dirty="0"/>
          </a:p>
        </p:txBody>
      </p:sp>
      <p:sp>
        <p:nvSpPr>
          <p:cNvPr id="14" name="Text 11"/>
          <p:cNvSpPr/>
          <p:nvPr/>
        </p:nvSpPr>
        <p:spPr>
          <a:xfrm>
            <a:off x="8968740" y="2705100"/>
            <a:ext cx="2423160" cy="624840"/>
          </a:xfrm>
          <a:prstGeom prst="rect">
            <a:avLst/>
          </a:prstGeom>
          <a:noFill/>
          <a:ln/>
        </p:spPr>
        <p:txBody>
          <a:bodyPr wrap="square" lIns="0" tIns="0" rIns="0" bIns="0" rtlCol="0" anchor="t"/>
          <a:lstStyle/>
          <a:p>
            <a:pPr algn="l" indent="0" marL="0">
              <a:lnSpc>
                <a:spcPct val="105000"/>
              </a:lnSpc>
              <a:buNone/>
            </a:pPr>
            <a:r>
              <a:rPr lang="en-US" altLang="en-US" sz="3900" b="1" dirty="0">
                <a:solidFill>
                  <a:srgbClr val="183139"/>
                </a:solidFill>
                <a:latin typeface="Arial" pitchFamily="34" charset="0"/>
                <a:ea typeface="Arial" pitchFamily="34" charset="-122"/>
                <a:cs typeface="Arial" pitchFamily="34" charset="-120"/>
              </a:rPr>
              <a:t>2.76 g</a:t>
            </a:r>
            <a:endParaRPr lang="en-US" sz="3900" dirty="0"/>
          </a:p>
        </p:txBody>
      </p:sp>
      <p:sp>
        <p:nvSpPr>
          <p:cNvPr id="15" name="Text 12"/>
          <p:cNvSpPr/>
          <p:nvPr/>
        </p:nvSpPr>
        <p:spPr>
          <a:xfrm>
            <a:off x="8968740" y="3337560"/>
            <a:ext cx="2423160" cy="259080"/>
          </a:xfrm>
          <a:prstGeom prst="rect">
            <a:avLst/>
          </a:prstGeom>
          <a:noFill/>
          <a:ln/>
        </p:spPr>
        <p:txBody>
          <a:bodyPr wrap="square" lIns="0" tIns="0" rIns="0" bIns="0" rtlCol="0" anchor="t"/>
          <a:lstStyle/>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Mean absolute error</a:t>
            </a:r>
            <a:endParaRPr lang="en-US" sz="1500" dirty="0"/>
          </a:p>
        </p:txBody>
      </p:sp>
      <p:sp>
        <p:nvSpPr>
          <p:cNvPr id="16" name="Shape 13"/>
          <p:cNvSpPr/>
          <p:nvPr/>
        </p:nvSpPr>
        <p:spPr>
          <a:xfrm>
            <a:off x="8968740" y="3733800"/>
            <a:ext cx="2423160" cy="0"/>
          </a:xfrm>
          <a:prstGeom prst="line">
            <a:avLst/>
          </a:prstGeom>
          <a:noFill/>
          <a:ln w="11430">
            <a:solidFill>
              <a:srgbClr val="A5CBC0"/>
            </a:solidFill>
            <a:prstDash val="solid"/>
          </a:ln>
        </p:spPr>
      </p:sp>
      <p:sp>
        <p:nvSpPr>
          <p:cNvPr id="17" name="Text 14"/>
          <p:cNvSpPr/>
          <p:nvPr/>
        </p:nvSpPr>
        <p:spPr>
          <a:xfrm>
            <a:off x="8968740" y="3947160"/>
            <a:ext cx="2423160" cy="259080"/>
          </a:xfrm>
          <a:prstGeom prst="rect">
            <a:avLst/>
          </a:prstGeom>
          <a:noFill/>
          <a:ln/>
        </p:spPr>
        <p:txBody>
          <a:bodyPr wrap="square" lIns="0" tIns="0" rIns="0" bIns="0" rtlCol="0" anchor="t"/>
          <a:lstStyle/>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Constant baseline</a:t>
            </a:r>
            <a:endParaRPr lang="en-US" sz="1500" dirty="0"/>
          </a:p>
        </p:txBody>
      </p:sp>
      <p:sp>
        <p:nvSpPr>
          <p:cNvPr id="18" name="Text 15"/>
          <p:cNvSpPr/>
          <p:nvPr/>
        </p:nvSpPr>
        <p:spPr>
          <a:xfrm>
            <a:off x="8968740" y="4274820"/>
            <a:ext cx="2423160" cy="419100"/>
          </a:xfrm>
          <a:prstGeom prst="rect">
            <a:avLst/>
          </a:prstGeom>
          <a:noFill/>
          <a:ln/>
        </p:spPr>
        <p:txBody>
          <a:bodyPr wrap="square" lIns="0" tIns="0" rIns="0" bIns="0" rtlCol="0" anchor="t"/>
          <a:lstStyle/>
          <a:p>
            <a:pPr algn="l" indent="0" marL="0">
              <a:lnSpc>
                <a:spcPct val="105000"/>
              </a:lnSpc>
              <a:buNone/>
            </a:pPr>
            <a:r>
              <a:rPr lang="en-US" altLang="en-US" sz="2580" b="1" dirty="0">
                <a:solidFill>
                  <a:srgbClr val="183139"/>
                </a:solidFill>
                <a:latin typeface="Arial" pitchFamily="34" charset="0"/>
                <a:ea typeface="Arial" pitchFamily="34" charset="-122"/>
                <a:cs typeface="Arial" pitchFamily="34" charset="-120"/>
              </a:rPr>
              <a:t>106.37 g</a:t>
            </a:r>
            <a:endParaRPr lang="en-US" sz="2580" dirty="0"/>
          </a:p>
        </p:txBody>
      </p:sp>
      <p:sp>
        <p:nvSpPr>
          <p:cNvPr id="19" name="Text 16"/>
          <p:cNvSpPr/>
          <p:nvPr/>
        </p:nvSpPr>
        <p:spPr>
          <a:xfrm>
            <a:off x="609600" y="5364480"/>
            <a:ext cx="10972800" cy="320040"/>
          </a:xfrm>
          <a:prstGeom prst="rect">
            <a:avLst/>
          </a:prstGeom>
          <a:noFill/>
          <a:ln/>
        </p:spPr>
        <p:txBody>
          <a:bodyPr wrap="square" lIns="0" tIns="0" rIns="0" bIns="0" rtlCol="0" anchor="t"/>
          <a:lstStyle/>
          <a:p>
            <a:pPr algn="l" indent="0" marL="0">
              <a:lnSpc>
                <a:spcPct val="105000"/>
              </a:lnSpc>
              <a:buNone/>
            </a:pPr>
            <a:r>
              <a:rPr lang="en-US" altLang="en-US" sz="1920" b="1" dirty="0">
                <a:solidFill>
                  <a:srgbClr val="183139"/>
                </a:solidFill>
                <a:latin typeface="Arial" pitchFamily="34" charset="0"/>
                <a:ea typeface="Arial" pitchFamily="34" charset="-122"/>
                <a:cs typeface="Arial" pitchFamily="34" charset="-120"/>
              </a:rPr>
              <a:t>12 held-out sizes / 48 test images</a:t>
            </a:r>
            <a:endParaRPr lang="en-US" sz="1920" dirty="0"/>
          </a:p>
        </p:txBody>
      </p:sp>
      <p:sp>
        <p:nvSpPr>
          <p:cNvPr id="20" name="Text 17"/>
          <p:cNvSpPr/>
          <p:nvPr/>
        </p:nvSpPr>
        <p:spPr>
          <a:xfrm>
            <a:off x="609600" y="5814060"/>
            <a:ext cx="109728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Scope: one material, fixed density and friction, fixed camera. This tests interpolation over size.</a:t>
            </a:r>
            <a:endParaRPr lang="en-US" sz="1560" dirty="0"/>
          </a:p>
        </p:txBody>
      </p:sp>
      <p:sp>
        <p:nvSpPr>
          <p:cNvPr id="21" name="Text 18"/>
          <p:cNvSpPr/>
          <p:nvPr/>
        </p:nvSpPr>
        <p:spPr>
          <a:xfrm>
            <a:off x="609600" y="6195060"/>
            <a:ext cx="109728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Evidence: runs/visual_mass/initial_rgb_mass/model/metrics.json and predictions.png</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04 · FINDING 2 · COMPLETED</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The full pipeline runs in simulation</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Initial RGB image → mass estimate → supplied policy input → pick-and-lift execution.</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04 / 08</a:t>
            </a:r>
            <a:endParaRPr lang="en-US" sz="1140" dirty="0"/>
          </a:p>
        </p:txBody>
      </p:sp>
      <p:sp>
        <p:nvSpPr>
          <p:cNvPr id="10" name="Shape 8"/>
          <p:cNvSpPr/>
          <p:nvPr/>
        </p:nvSpPr>
        <p:spPr>
          <a:xfrm>
            <a:off x="609600" y="2148840"/>
            <a:ext cx="3429000" cy="3048000"/>
          </a:xfrm>
          <a:prstGeom prst="roundRect">
            <a:avLst/>
          </a:prstGeom>
          <a:solidFill>
            <a:srgbClr val="FFFFFF"/>
          </a:solidFill>
          <a:ln w="12700">
            <a:solidFill>
              <a:srgbClr val="FFFFFF">
                <a:alpha val="0"/>
              </a:srgbClr>
            </a:solidFill>
            <a:prstDash val="solid"/>
          </a:ln>
        </p:spPr>
      </p:sp>
      <p:sp>
        <p:nvSpPr>
          <p:cNvPr id="11" name="Text 9"/>
          <p:cNvSpPr/>
          <p:nvPr/>
        </p:nvSpPr>
        <p:spPr>
          <a:xfrm>
            <a:off x="800100" y="2331720"/>
            <a:ext cx="3048000" cy="312420"/>
          </a:xfrm>
          <a:prstGeom prst="rect">
            <a:avLst/>
          </a:prstGeom>
          <a:noFill/>
          <a:ln/>
        </p:spPr>
        <p:txBody>
          <a:bodyPr wrap="square" lIns="0" tIns="0" rIns="0" bIns="0" rtlCol="0" anchor="t"/>
          <a:lstStyle/>
          <a:p>
            <a:pPr algn="ctr" indent="0" marL="0">
              <a:lnSpc>
                <a:spcPct val="105000"/>
              </a:lnSpc>
              <a:buNone/>
            </a:pPr>
            <a:r>
              <a:rPr lang="en-US" altLang="en-US" sz="1860" b="1" dirty="0">
                <a:solidFill>
                  <a:srgbClr val="183139"/>
                </a:solidFill>
                <a:latin typeface="Arial" pitchFamily="34" charset="0"/>
                <a:ea typeface="Arial" pitchFamily="34" charset="-122"/>
                <a:cs typeface="Arial" pitchFamily="34" charset="-120"/>
              </a:rPr>
              <a:t>4 cm cube</a:t>
            </a:r>
            <a:endParaRPr lang="en-US" sz="1860" dirty="0"/>
          </a:p>
        </p:txBody>
      </p:sp>
      <p:pic>
        <p:nvPicPr>
          <p:cNvPr id="12" name="Image 0" descr="\\wsl.localhost\Ubuntu\home\ubuntu\faliure\runs\deployment\20261022_014201_067220\episode_000\final.png">    </p:cNvPr>
          <p:cNvPicPr>
            <a:picLocks noChangeAspect="1"/>
          </p:cNvPicPr>
          <p:nvPr/>
        </p:nvPicPr>
        <p:blipFill>
          <a:blip r:embed="rId1"/>
          <a:stretch>
            <a:fillRect/>
          </a:stretch>
        </p:blipFill>
        <p:spPr>
          <a:xfrm>
            <a:off x="1493520" y="2727960"/>
            <a:ext cx="1661160" cy="1661160"/>
          </a:xfrm>
          <a:prstGeom prst="rect">
            <a:avLst/>
          </a:prstGeom>
        </p:spPr>
      </p:pic>
      <p:sp>
        <p:nvSpPr>
          <p:cNvPr id="13" name="Text 10"/>
          <p:cNvSpPr/>
          <p:nvPr/>
        </p:nvSpPr>
        <p:spPr>
          <a:xfrm>
            <a:off x="800100" y="453390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64.0 g → 62.32 g</a:t>
            </a:r>
            <a:endParaRPr lang="en-US" sz="1740" dirty="0"/>
          </a:p>
        </p:txBody>
      </p:sp>
      <p:sp>
        <p:nvSpPr>
          <p:cNvPr id="14" name="Text 11"/>
          <p:cNvSpPr/>
          <p:nvPr/>
        </p:nvSpPr>
        <p:spPr>
          <a:xfrm>
            <a:off x="800100" y="4869180"/>
            <a:ext cx="3048000" cy="228600"/>
          </a:xfrm>
          <a:prstGeom prst="rect">
            <a:avLst/>
          </a:prstGeom>
          <a:noFill/>
          <a:ln/>
        </p:spPr>
        <p:txBody>
          <a:bodyPr wrap="square" lIns="0" tIns="0" rIns="0" bIns="0" rtlCol="0" anchor="t"/>
          <a:lstStyle/>
          <a:p>
            <a:pPr algn="ctr" indent="0" marL="0">
              <a:lnSpc>
                <a:spcPct val="105000"/>
              </a:lnSpc>
              <a:buNone/>
            </a:pPr>
            <a:r>
              <a:rPr lang="en-US" altLang="en-US" sz="1320" dirty="0">
                <a:solidFill>
                  <a:srgbClr val="62747A"/>
                </a:solidFill>
                <a:latin typeface="Arial" pitchFamily="34" charset="0"/>
                <a:ea typeface="Arial" pitchFamily="34" charset="-122"/>
                <a:cs typeface="Arial" pitchFamily="34" charset="-120"/>
              </a:rPr>
              <a:t>actual mass → predicted mass</a:t>
            </a:r>
            <a:endParaRPr lang="en-US" sz="1320" dirty="0"/>
          </a:p>
        </p:txBody>
      </p:sp>
      <p:sp>
        <p:nvSpPr>
          <p:cNvPr id="15" name="Shape 12"/>
          <p:cNvSpPr/>
          <p:nvPr/>
        </p:nvSpPr>
        <p:spPr>
          <a:xfrm>
            <a:off x="4381500" y="2148840"/>
            <a:ext cx="3429000" cy="3048000"/>
          </a:xfrm>
          <a:prstGeom prst="roundRect">
            <a:avLst/>
          </a:prstGeom>
          <a:solidFill>
            <a:srgbClr val="FFFFFF"/>
          </a:solidFill>
          <a:ln w="12700">
            <a:solidFill>
              <a:srgbClr val="FFFFFF">
                <a:alpha val="0"/>
              </a:srgbClr>
            </a:solidFill>
            <a:prstDash val="solid"/>
          </a:ln>
        </p:spPr>
      </p:sp>
      <p:sp>
        <p:nvSpPr>
          <p:cNvPr id="16" name="Text 13"/>
          <p:cNvSpPr/>
          <p:nvPr/>
        </p:nvSpPr>
        <p:spPr>
          <a:xfrm>
            <a:off x="4572000" y="2331720"/>
            <a:ext cx="3048000" cy="312420"/>
          </a:xfrm>
          <a:prstGeom prst="rect">
            <a:avLst/>
          </a:prstGeom>
          <a:noFill/>
          <a:ln/>
        </p:spPr>
        <p:txBody>
          <a:bodyPr wrap="square" lIns="0" tIns="0" rIns="0" bIns="0" rtlCol="0" anchor="t"/>
          <a:lstStyle/>
          <a:p>
            <a:pPr algn="ctr" indent="0" marL="0">
              <a:lnSpc>
                <a:spcPct val="105000"/>
              </a:lnSpc>
              <a:buNone/>
            </a:pPr>
            <a:r>
              <a:rPr lang="en-US" altLang="en-US" sz="1860" b="1" dirty="0">
                <a:solidFill>
                  <a:srgbClr val="183139"/>
                </a:solidFill>
                <a:latin typeface="Arial" pitchFamily="34" charset="0"/>
                <a:ea typeface="Arial" pitchFamily="34" charset="-122"/>
                <a:cs typeface="Arial" pitchFamily="34" charset="-120"/>
              </a:rPr>
              <a:t>5 cm cube</a:t>
            </a:r>
            <a:endParaRPr lang="en-US" sz="1860" dirty="0"/>
          </a:p>
        </p:txBody>
      </p:sp>
      <p:pic>
        <p:nvPicPr>
          <p:cNvPr id="17" name="Image 1" descr="\\wsl.localhost\Ubuntu\home\ubuntu\faliure\runs\deployment\20261022_014201_067220\episode_001\final.png">    </p:cNvPr>
          <p:cNvPicPr>
            <a:picLocks noChangeAspect="1"/>
          </p:cNvPicPr>
          <p:nvPr/>
        </p:nvPicPr>
        <p:blipFill>
          <a:blip r:embed="rId2"/>
          <a:stretch>
            <a:fillRect/>
          </a:stretch>
        </p:blipFill>
        <p:spPr>
          <a:xfrm>
            <a:off x="5265420" y="2727960"/>
            <a:ext cx="1661160" cy="1661160"/>
          </a:xfrm>
          <a:prstGeom prst="rect">
            <a:avLst/>
          </a:prstGeom>
        </p:spPr>
      </p:pic>
      <p:sp>
        <p:nvSpPr>
          <p:cNvPr id="18" name="Text 14"/>
          <p:cNvSpPr/>
          <p:nvPr/>
        </p:nvSpPr>
        <p:spPr>
          <a:xfrm>
            <a:off x="4572000" y="453390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125.0 g → 121.24 g</a:t>
            </a:r>
            <a:endParaRPr lang="en-US" sz="1740" dirty="0"/>
          </a:p>
        </p:txBody>
      </p:sp>
      <p:sp>
        <p:nvSpPr>
          <p:cNvPr id="19" name="Text 15"/>
          <p:cNvSpPr/>
          <p:nvPr/>
        </p:nvSpPr>
        <p:spPr>
          <a:xfrm>
            <a:off x="4572000" y="4869180"/>
            <a:ext cx="3048000" cy="228600"/>
          </a:xfrm>
          <a:prstGeom prst="rect">
            <a:avLst/>
          </a:prstGeom>
          <a:noFill/>
          <a:ln/>
        </p:spPr>
        <p:txBody>
          <a:bodyPr wrap="square" lIns="0" tIns="0" rIns="0" bIns="0" rtlCol="0" anchor="t"/>
          <a:lstStyle/>
          <a:p>
            <a:pPr algn="ctr" indent="0" marL="0">
              <a:lnSpc>
                <a:spcPct val="105000"/>
              </a:lnSpc>
              <a:buNone/>
            </a:pPr>
            <a:r>
              <a:rPr lang="en-US" altLang="en-US" sz="1320" dirty="0">
                <a:solidFill>
                  <a:srgbClr val="62747A"/>
                </a:solidFill>
                <a:latin typeface="Arial" pitchFamily="34" charset="0"/>
                <a:ea typeface="Arial" pitchFamily="34" charset="-122"/>
                <a:cs typeface="Arial" pitchFamily="34" charset="-120"/>
              </a:rPr>
              <a:t>actual mass → predicted mass</a:t>
            </a:r>
            <a:endParaRPr lang="en-US" sz="1320" dirty="0"/>
          </a:p>
        </p:txBody>
      </p:sp>
      <p:sp>
        <p:nvSpPr>
          <p:cNvPr id="20" name="Shape 16"/>
          <p:cNvSpPr/>
          <p:nvPr/>
        </p:nvSpPr>
        <p:spPr>
          <a:xfrm>
            <a:off x="8153400" y="2148840"/>
            <a:ext cx="3429000" cy="3048000"/>
          </a:xfrm>
          <a:prstGeom prst="roundRect">
            <a:avLst/>
          </a:prstGeom>
          <a:solidFill>
            <a:srgbClr val="FFFFFF"/>
          </a:solidFill>
          <a:ln w="12700">
            <a:solidFill>
              <a:srgbClr val="FFFFFF">
                <a:alpha val="0"/>
              </a:srgbClr>
            </a:solidFill>
            <a:prstDash val="solid"/>
          </a:ln>
        </p:spPr>
      </p:sp>
      <p:sp>
        <p:nvSpPr>
          <p:cNvPr id="21" name="Text 17"/>
          <p:cNvSpPr/>
          <p:nvPr/>
        </p:nvSpPr>
        <p:spPr>
          <a:xfrm>
            <a:off x="8343900" y="2331720"/>
            <a:ext cx="3048000" cy="312420"/>
          </a:xfrm>
          <a:prstGeom prst="rect">
            <a:avLst/>
          </a:prstGeom>
          <a:noFill/>
          <a:ln/>
        </p:spPr>
        <p:txBody>
          <a:bodyPr wrap="square" lIns="0" tIns="0" rIns="0" bIns="0" rtlCol="0" anchor="t"/>
          <a:lstStyle/>
          <a:p>
            <a:pPr algn="ctr" indent="0" marL="0">
              <a:lnSpc>
                <a:spcPct val="105000"/>
              </a:lnSpc>
              <a:buNone/>
            </a:pPr>
            <a:r>
              <a:rPr lang="en-US" altLang="en-US" sz="1860" b="1" dirty="0">
                <a:solidFill>
                  <a:srgbClr val="183139"/>
                </a:solidFill>
                <a:latin typeface="Arial" pitchFamily="34" charset="0"/>
                <a:ea typeface="Arial" pitchFamily="34" charset="-122"/>
                <a:cs typeface="Arial" pitchFamily="34" charset="-120"/>
              </a:rPr>
              <a:t>6 cm cube</a:t>
            </a:r>
            <a:endParaRPr lang="en-US" sz="1860" dirty="0"/>
          </a:p>
        </p:txBody>
      </p:sp>
      <p:pic>
        <p:nvPicPr>
          <p:cNvPr id="22" name="Image 2" descr="\\wsl.localhost\Ubuntu\home\ubuntu\faliure\runs\deployment\20261022_014201_067220\episode_002\final.png">    </p:cNvPr>
          <p:cNvPicPr>
            <a:picLocks noChangeAspect="1"/>
          </p:cNvPicPr>
          <p:nvPr/>
        </p:nvPicPr>
        <p:blipFill>
          <a:blip r:embed="rId3"/>
          <a:stretch>
            <a:fillRect/>
          </a:stretch>
        </p:blipFill>
        <p:spPr>
          <a:xfrm>
            <a:off x="9037320" y="2727960"/>
            <a:ext cx="1661160" cy="1661160"/>
          </a:xfrm>
          <a:prstGeom prst="rect">
            <a:avLst/>
          </a:prstGeom>
        </p:spPr>
      </p:pic>
      <p:sp>
        <p:nvSpPr>
          <p:cNvPr id="23" name="Text 18"/>
          <p:cNvSpPr/>
          <p:nvPr/>
        </p:nvSpPr>
        <p:spPr>
          <a:xfrm>
            <a:off x="8343900" y="453390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216.0 g → 212.45 g</a:t>
            </a:r>
            <a:endParaRPr lang="en-US" sz="1740" dirty="0"/>
          </a:p>
        </p:txBody>
      </p:sp>
      <p:sp>
        <p:nvSpPr>
          <p:cNvPr id="24" name="Text 19"/>
          <p:cNvSpPr/>
          <p:nvPr/>
        </p:nvSpPr>
        <p:spPr>
          <a:xfrm>
            <a:off x="8343900" y="4869180"/>
            <a:ext cx="3048000" cy="228600"/>
          </a:xfrm>
          <a:prstGeom prst="rect">
            <a:avLst/>
          </a:prstGeom>
          <a:noFill/>
          <a:ln/>
        </p:spPr>
        <p:txBody>
          <a:bodyPr wrap="square" lIns="0" tIns="0" rIns="0" bIns="0" rtlCol="0" anchor="t"/>
          <a:lstStyle/>
          <a:p>
            <a:pPr algn="ctr" indent="0" marL="0">
              <a:lnSpc>
                <a:spcPct val="105000"/>
              </a:lnSpc>
              <a:buNone/>
            </a:pPr>
            <a:r>
              <a:rPr lang="en-US" altLang="en-US" sz="1320" dirty="0">
                <a:solidFill>
                  <a:srgbClr val="62747A"/>
                </a:solidFill>
                <a:latin typeface="Arial" pitchFamily="34" charset="0"/>
                <a:ea typeface="Arial" pitchFamily="34" charset="-122"/>
                <a:cs typeface="Arial" pitchFamily="34" charset="-120"/>
              </a:rPr>
              <a:t>actual mass → predicted mass</a:t>
            </a:r>
            <a:endParaRPr lang="en-US" sz="1320" dirty="0"/>
          </a:p>
        </p:txBody>
      </p:sp>
      <p:sp>
        <p:nvSpPr>
          <p:cNvPr id="25" name="Shape 20"/>
          <p:cNvSpPr/>
          <p:nvPr/>
        </p:nvSpPr>
        <p:spPr>
          <a:xfrm>
            <a:off x="609600" y="5433060"/>
            <a:ext cx="10972800" cy="464820"/>
          </a:xfrm>
          <a:prstGeom prst="roundRect">
            <a:avLst/>
          </a:prstGeom>
          <a:solidFill>
            <a:srgbClr val="E1EFEB"/>
          </a:solidFill>
          <a:ln w="12700">
            <a:solidFill>
              <a:srgbClr val="E1EFEB">
                <a:alpha val="0"/>
              </a:srgbClr>
            </a:solidFill>
            <a:prstDash val="solid"/>
          </a:ln>
        </p:spPr>
      </p:sp>
      <p:sp>
        <p:nvSpPr>
          <p:cNvPr id="26" name="Text 21"/>
          <p:cNvSpPr/>
          <p:nvPr/>
        </p:nvSpPr>
        <p:spPr>
          <a:xfrm>
            <a:off x="762000" y="5547360"/>
            <a:ext cx="10668000" cy="312420"/>
          </a:xfrm>
          <a:prstGeom prst="rect">
            <a:avLst/>
          </a:prstGeom>
          <a:noFill/>
          <a:ln/>
        </p:spPr>
        <p:txBody>
          <a:bodyPr wrap="square" lIns="0" tIns="0" rIns="0" bIns="0" rtlCol="0" anchor="t"/>
          <a:lstStyle/>
          <a:p>
            <a:pPr algn="ctr" indent="0" marL="0">
              <a:lnSpc>
                <a:spcPct val="105000"/>
              </a:lnSpc>
              <a:buNone/>
            </a:pPr>
            <a:r>
              <a:rPr lang="en-US" altLang="en-US" sz="1860" b="1" dirty="0">
                <a:solidFill>
                  <a:srgbClr val="183139"/>
                </a:solidFill>
                <a:latin typeface="Arial" pitchFamily="34" charset="0"/>
                <a:ea typeface="Arial" pitchFamily="34" charset="-122"/>
                <a:cs typeface="Arial" pitchFamily="34" charset="-120"/>
              </a:rPr>
              <a:t>3 configured trials · 3 final successes · 50 actions per trial</a:t>
            </a:r>
            <a:endParaRPr lang="en-US" sz="1860" dirty="0"/>
          </a:p>
        </p:txBody>
      </p:sp>
      <p:sp>
        <p:nvSpPr>
          <p:cNvPr id="27" name="Text 22"/>
          <p:cNvSpPr/>
          <p:nvPr/>
        </p:nvSpPr>
        <p:spPr>
          <a:xfrm>
            <a:off x="609600" y="5951220"/>
            <a:ext cx="10972800" cy="236220"/>
          </a:xfrm>
          <a:prstGeom prst="rect">
            <a:avLst/>
          </a:prstGeom>
          <a:noFill/>
          <a:ln/>
        </p:spPr>
        <p:txBody>
          <a:bodyPr wrap="square" lIns="0" tIns="0" rIns="0" bIns="0" rtlCol="0" anchor="t"/>
          <a:lstStyle/>
          <a:p>
            <a:pPr algn="l" indent="0" marL="0">
              <a:lnSpc>
                <a:spcPct val="105000"/>
              </a:lnSpc>
              <a:buNone/>
            </a:pPr>
            <a:r>
              <a:rPr lang="en-US" altLang="en-US" sz="1380" dirty="0">
                <a:solidFill>
                  <a:srgbClr val="62747A"/>
                </a:solidFill>
                <a:latin typeface="Arial" pitchFamily="34" charset="0"/>
                <a:ea typeface="Arial" pitchFamily="34" charset="-122"/>
                <a:cs typeface="Arial" pitchFamily="34" charset="-120"/>
              </a:rPr>
              <a:t>One seed per size. Integration is demonstrated; estimation benefit and unseen-height adaptation remain untested.</a:t>
            </a:r>
            <a:endParaRPr lang="en-US" sz="1380" dirty="0"/>
          </a:p>
        </p:txBody>
      </p:sp>
      <p:sp>
        <p:nvSpPr>
          <p:cNvPr id="28" name="Text 23"/>
          <p:cNvSpPr/>
          <p:nvPr/>
        </p:nvSpPr>
        <p:spPr>
          <a:xfrm>
            <a:off x="609600" y="6195060"/>
            <a:ext cx="109728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Evidence: runs/deployment/20261022_014201_067220/summary.json, manifest.json, and final frames</a:t>
            </a:r>
            <a:endParaRPr lang="en-US" sz="9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05 · PLANNED POLICY EXPERIMENT</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360" b="1" dirty="0">
                <a:solidFill>
                  <a:srgbClr val="183139"/>
                </a:solidFill>
                <a:latin typeface="Arial" pitchFamily="34" charset="0"/>
                <a:ea typeface="Arial" pitchFamily="34" charset="-122"/>
                <a:cs typeface="Arial" pitchFamily="34" charset="-120"/>
              </a:rPr>
              <a:t>Train pick and lift across object heights</a:t>
            </a:r>
            <a:endParaRPr lang="en-US" sz="336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Vary initial object elevation relative to the arm while keeping the task and grasp strategy consistent.</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05 / 08</a:t>
            </a:r>
            <a:endParaRPr lang="en-US" sz="1140" dirty="0"/>
          </a:p>
        </p:txBody>
      </p:sp>
      <p:sp>
        <p:nvSpPr>
          <p:cNvPr id="10" name="Shape 8"/>
          <p:cNvSpPr/>
          <p:nvPr/>
        </p:nvSpPr>
        <p:spPr>
          <a:xfrm>
            <a:off x="9646920" y="266700"/>
            <a:ext cx="1935480" cy="289560"/>
          </a:xfrm>
          <a:prstGeom prst="roundRect">
            <a:avLst/>
          </a:prstGeom>
          <a:solidFill>
            <a:srgbClr val="F3E5DD"/>
          </a:solidFill>
          <a:ln w="12700">
            <a:solidFill>
              <a:srgbClr val="F3E5DD">
                <a:alpha val="0"/>
              </a:srgbClr>
            </a:solidFill>
            <a:prstDash val="solid"/>
          </a:ln>
        </p:spPr>
      </p:sp>
      <p:sp>
        <p:nvSpPr>
          <p:cNvPr id="11" name="Text 9"/>
          <p:cNvSpPr/>
          <p:nvPr/>
        </p:nvSpPr>
        <p:spPr>
          <a:xfrm>
            <a:off x="9646920" y="312420"/>
            <a:ext cx="1935480" cy="205740"/>
          </a:xfrm>
          <a:prstGeom prst="rect">
            <a:avLst/>
          </a:prstGeom>
          <a:noFill/>
          <a:ln/>
        </p:spPr>
        <p:txBody>
          <a:bodyPr wrap="square" lIns="0" tIns="0" rIns="0" bIns="0" rtlCol="0" anchor="t"/>
          <a:lstStyle/>
          <a:p>
            <a:pPr algn="ctr" indent="0" marL="0">
              <a:lnSpc>
                <a:spcPct val="105000"/>
              </a:lnSpc>
              <a:buNone/>
            </a:pPr>
            <a:r>
              <a:rPr lang="en-US" altLang="en-US" sz="1080" b="1" dirty="0">
                <a:solidFill>
                  <a:srgbClr val="C86B52"/>
                </a:solidFill>
                <a:latin typeface="Arial" pitchFamily="34" charset="0"/>
                <a:ea typeface="Arial" pitchFamily="34" charset="-122"/>
                <a:cs typeface="Arial" pitchFamily="34" charset="-120"/>
              </a:rPr>
              <a:t>TO BE DONE</a:t>
            </a:r>
            <a:endParaRPr lang="en-US" sz="1080" dirty="0"/>
          </a:p>
        </p:txBody>
      </p:sp>
      <p:sp>
        <p:nvSpPr>
          <p:cNvPr id="12" name="Shape 10"/>
          <p:cNvSpPr/>
          <p:nvPr/>
        </p:nvSpPr>
        <p:spPr>
          <a:xfrm>
            <a:off x="609600" y="2286000"/>
            <a:ext cx="3429000" cy="3040380"/>
          </a:xfrm>
          <a:prstGeom prst="roundRect">
            <a:avLst/>
          </a:prstGeom>
          <a:solidFill>
            <a:srgbClr val="FFFFFF"/>
          </a:solidFill>
          <a:ln w="12700">
            <a:solidFill>
              <a:srgbClr val="FFFFFF">
                <a:alpha val="0"/>
              </a:srgbClr>
            </a:solidFill>
            <a:prstDash val="solid"/>
          </a:ln>
        </p:spPr>
      </p:sp>
      <p:sp>
        <p:nvSpPr>
          <p:cNvPr id="13" name="Text 11"/>
          <p:cNvSpPr/>
          <p:nvPr/>
        </p:nvSpPr>
        <p:spPr>
          <a:xfrm>
            <a:off x="800100" y="248412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Training height h1</a:t>
            </a:r>
            <a:endParaRPr lang="en-US" sz="1740" dirty="0"/>
          </a:p>
        </p:txBody>
      </p:sp>
      <p:sp>
        <p:nvSpPr>
          <p:cNvPr id="14" name="Shape 12"/>
          <p:cNvSpPr/>
          <p:nvPr/>
        </p:nvSpPr>
        <p:spPr>
          <a:xfrm>
            <a:off x="867918" y="5001768"/>
            <a:ext cx="2904935" cy="0"/>
          </a:xfrm>
          <a:prstGeom prst="line">
            <a:avLst/>
          </a:prstGeom>
          <a:noFill/>
          <a:ln w="14859">
            <a:solidFill>
              <a:srgbClr val="D8DFD9"/>
            </a:solidFill>
            <a:prstDash val="dash"/>
          </a:ln>
        </p:spPr>
      </p:sp>
      <p:sp>
        <p:nvSpPr>
          <p:cNvPr id="15" name="Shape 13"/>
          <p:cNvSpPr/>
          <p:nvPr/>
        </p:nvSpPr>
        <p:spPr>
          <a:xfrm>
            <a:off x="942213" y="4853178"/>
            <a:ext cx="594360" cy="133731"/>
          </a:xfrm>
          <a:prstGeom prst="roundRect">
            <a:avLst/>
          </a:prstGeom>
          <a:solidFill>
            <a:srgbClr val="22434A"/>
          </a:solidFill>
          <a:ln w="12700">
            <a:solidFill>
              <a:srgbClr val="22434A">
                <a:alpha val="0"/>
              </a:srgbClr>
            </a:solidFill>
            <a:prstDash val="solid"/>
          </a:ln>
        </p:spPr>
      </p:sp>
      <p:sp>
        <p:nvSpPr>
          <p:cNvPr id="16" name="Shape 14"/>
          <p:cNvSpPr/>
          <p:nvPr/>
        </p:nvSpPr>
        <p:spPr>
          <a:xfrm>
            <a:off x="1127951" y="4637723"/>
            <a:ext cx="230314" cy="215456"/>
          </a:xfrm>
          <a:prstGeom prst="roundRect">
            <a:avLst/>
          </a:prstGeom>
          <a:solidFill>
            <a:srgbClr val="93A5AA"/>
          </a:solidFill>
          <a:ln w="12700">
            <a:solidFill>
              <a:srgbClr val="93A5AA">
                <a:alpha val="0"/>
              </a:srgbClr>
            </a:solidFill>
            <a:prstDash val="solid"/>
          </a:ln>
        </p:spPr>
      </p:sp>
      <p:sp>
        <p:nvSpPr>
          <p:cNvPr id="17" name="Shape 15"/>
          <p:cNvSpPr/>
          <p:nvPr/>
        </p:nvSpPr>
        <p:spPr>
          <a:xfrm flipV="1">
            <a:off x="1246823" y="3671888"/>
            <a:ext cx="393764" cy="965835"/>
          </a:xfrm>
          <a:prstGeom prst="line">
            <a:avLst/>
          </a:prstGeom>
          <a:noFill/>
          <a:ln w="141160">
            <a:solidFill>
              <a:srgbClr val="93A5AA"/>
            </a:solidFill>
            <a:prstDash val="solid"/>
          </a:ln>
        </p:spPr>
      </p:sp>
      <p:sp>
        <p:nvSpPr>
          <p:cNvPr id="18" name="Shape 16"/>
          <p:cNvSpPr/>
          <p:nvPr/>
        </p:nvSpPr>
        <p:spPr>
          <a:xfrm flipV="1">
            <a:off x="1640586" y="3530727"/>
            <a:ext cx="698373" cy="141160"/>
          </a:xfrm>
          <a:prstGeom prst="line">
            <a:avLst/>
          </a:prstGeom>
          <a:noFill/>
          <a:ln w="141160">
            <a:solidFill>
              <a:srgbClr val="93A5AA"/>
            </a:solidFill>
            <a:prstDash val="solid"/>
          </a:ln>
        </p:spPr>
      </p:sp>
      <p:sp>
        <p:nvSpPr>
          <p:cNvPr id="19" name="Shape 17"/>
          <p:cNvSpPr/>
          <p:nvPr/>
        </p:nvSpPr>
        <p:spPr>
          <a:xfrm>
            <a:off x="2338959" y="3530727"/>
            <a:ext cx="705803" cy="579501"/>
          </a:xfrm>
          <a:prstGeom prst="line">
            <a:avLst/>
          </a:prstGeom>
          <a:noFill/>
          <a:ln w="111443">
            <a:solidFill>
              <a:srgbClr val="93A5AA"/>
            </a:solidFill>
            <a:prstDash val="solid"/>
          </a:ln>
        </p:spPr>
      </p:sp>
      <p:sp>
        <p:nvSpPr>
          <p:cNvPr id="20" name="Shape 18"/>
          <p:cNvSpPr/>
          <p:nvPr/>
        </p:nvSpPr>
        <p:spPr>
          <a:xfrm>
            <a:off x="1127951" y="4518851"/>
            <a:ext cx="237744" cy="237744"/>
          </a:xfrm>
          <a:prstGeom prst="ellipse">
            <a:avLst/>
          </a:prstGeom>
          <a:solidFill>
            <a:srgbClr val="22434A"/>
          </a:solidFill>
          <a:ln w="12700">
            <a:solidFill>
              <a:srgbClr val="22434A">
                <a:alpha val="0"/>
              </a:srgbClr>
            </a:solidFill>
            <a:prstDash val="solid"/>
          </a:ln>
        </p:spPr>
      </p:sp>
      <p:sp>
        <p:nvSpPr>
          <p:cNvPr id="21" name="Shape 19"/>
          <p:cNvSpPr/>
          <p:nvPr/>
        </p:nvSpPr>
        <p:spPr>
          <a:xfrm>
            <a:off x="1521714" y="3553015"/>
            <a:ext cx="237744" cy="237744"/>
          </a:xfrm>
          <a:prstGeom prst="ellipse">
            <a:avLst/>
          </a:prstGeom>
          <a:solidFill>
            <a:srgbClr val="22434A"/>
          </a:solidFill>
          <a:ln w="12700">
            <a:solidFill>
              <a:srgbClr val="22434A">
                <a:alpha val="0"/>
              </a:srgbClr>
            </a:solidFill>
            <a:prstDash val="solid"/>
          </a:ln>
        </p:spPr>
      </p:sp>
      <p:sp>
        <p:nvSpPr>
          <p:cNvPr id="22" name="Shape 20"/>
          <p:cNvSpPr/>
          <p:nvPr/>
        </p:nvSpPr>
        <p:spPr>
          <a:xfrm>
            <a:off x="2242376" y="3434144"/>
            <a:ext cx="193167" cy="193167"/>
          </a:xfrm>
          <a:prstGeom prst="ellipse">
            <a:avLst/>
          </a:prstGeom>
          <a:solidFill>
            <a:srgbClr val="22434A"/>
          </a:solidFill>
          <a:ln w="12700">
            <a:solidFill>
              <a:srgbClr val="22434A">
                <a:alpha val="0"/>
              </a:srgbClr>
            </a:solidFill>
            <a:prstDash val="solid"/>
          </a:ln>
        </p:spPr>
      </p:sp>
      <p:sp>
        <p:nvSpPr>
          <p:cNvPr id="23" name="Shape 21"/>
          <p:cNvSpPr/>
          <p:nvPr/>
        </p:nvSpPr>
        <p:spPr>
          <a:xfrm>
            <a:off x="1187386" y="4578287"/>
            <a:ext cx="118872" cy="118872"/>
          </a:xfrm>
          <a:prstGeom prst="ellipse">
            <a:avLst/>
          </a:prstGeom>
          <a:solidFill>
            <a:srgbClr val="F6F4EF"/>
          </a:solidFill>
          <a:ln w="12700">
            <a:solidFill>
              <a:srgbClr val="F6F4EF">
                <a:alpha val="0"/>
              </a:srgbClr>
            </a:solidFill>
            <a:prstDash val="solid"/>
          </a:ln>
        </p:spPr>
      </p:sp>
      <p:sp>
        <p:nvSpPr>
          <p:cNvPr id="24" name="Shape 22"/>
          <p:cNvSpPr/>
          <p:nvPr/>
        </p:nvSpPr>
        <p:spPr>
          <a:xfrm>
            <a:off x="1588580" y="3619881"/>
            <a:ext cx="104013" cy="104013"/>
          </a:xfrm>
          <a:prstGeom prst="ellipse">
            <a:avLst/>
          </a:prstGeom>
          <a:solidFill>
            <a:srgbClr val="F6F4EF"/>
          </a:solidFill>
          <a:ln w="12700">
            <a:solidFill>
              <a:srgbClr val="F6F4EF">
                <a:alpha val="0"/>
              </a:srgbClr>
            </a:solidFill>
            <a:prstDash val="solid"/>
          </a:ln>
        </p:spPr>
      </p:sp>
      <p:sp>
        <p:nvSpPr>
          <p:cNvPr id="25" name="Shape 23"/>
          <p:cNvSpPr/>
          <p:nvPr/>
        </p:nvSpPr>
        <p:spPr>
          <a:xfrm>
            <a:off x="2294382" y="3486150"/>
            <a:ext cx="89154" cy="89154"/>
          </a:xfrm>
          <a:prstGeom prst="ellipse">
            <a:avLst/>
          </a:prstGeom>
          <a:solidFill>
            <a:srgbClr val="F6F4EF"/>
          </a:solidFill>
          <a:ln w="12700">
            <a:solidFill>
              <a:srgbClr val="F6F4EF">
                <a:alpha val="0"/>
              </a:srgbClr>
            </a:solidFill>
            <a:prstDash val="solid"/>
          </a:ln>
        </p:spPr>
      </p:sp>
      <p:sp>
        <p:nvSpPr>
          <p:cNvPr id="26" name="Shape 24"/>
          <p:cNvSpPr/>
          <p:nvPr/>
        </p:nvSpPr>
        <p:spPr>
          <a:xfrm>
            <a:off x="3044762" y="4110228"/>
            <a:ext cx="0" cy="178308"/>
          </a:xfrm>
          <a:prstGeom prst="line">
            <a:avLst/>
          </a:prstGeom>
          <a:noFill/>
          <a:ln w="81725">
            <a:solidFill>
              <a:srgbClr val="22434A"/>
            </a:solidFill>
            <a:prstDash val="solid"/>
          </a:ln>
        </p:spPr>
      </p:sp>
      <p:sp>
        <p:nvSpPr>
          <p:cNvPr id="27" name="Shape 25"/>
          <p:cNvSpPr/>
          <p:nvPr/>
        </p:nvSpPr>
        <p:spPr>
          <a:xfrm>
            <a:off x="2784729" y="4288536"/>
            <a:ext cx="520065" cy="126302"/>
          </a:xfrm>
          <a:prstGeom prst="roundRect">
            <a:avLst/>
          </a:prstGeom>
          <a:solidFill>
            <a:srgbClr val="22434A"/>
          </a:solidFill>
          <a:ln w="12700">
            <a:solidFill>
              <a:srgbClr val="22434A">
                <a:alpha val="0"/>
              </a:srgbClr>
            </a:solidFill>
            <a:prstDash val="solid"/>
          </a:ln>
        </p:spPr>
      </p:sp>
      <p:sp>
        <p:nvSpPr>
          <p:cNvPr id="28" name="Shape 26"/>
          <p:cNvSpPr/>
          <p:nvPr/>
        </p:nvSpPr>
        <p:spPr>
          <a:xfrm>
            <a:off x="2762441" y="4399979"/>
            <a:ext cx="81725" cy="468059"/>
          </a:xfrm>
          <a:prstGeom prst="roundRect">
            <a:avLst/>
          </a:prstGeom>
          <a:solidFill>
            <a:srgbClr val="93A5AA"/>
          </a:solidFill>
          <a:ln w="12700">
            <a:solidFill>
              <a:srgbClr val="93A5AA">
                <a:alpha val="0"/>
              </a:srgbClr>
            </a:solidFill>
            <a:prstDash val="solid"/>
          </a:ln>
        </p:spPr>
      </p:sp>
      <p:sp>
        <p:nvSpPr>
          <p:cNvPr id="29" name="Shape 27"/>
          <p:cNvSpPr/>
          <p:nvPr/>
        </p:nvSpPr>
        <p:spPr>
          <a:xfrm>
            <a:off x="3245358" y="4399979"/>
            <a:ext cx="81725" cy="468059"/>
          </a:xfrm>
          <a:prstGeom prst="roundRect">
            <a:avLst/>
          </a:prstGeom>
          <a:solidFill>
            <a:srgbClr val="93A5AA"/>
          </a:solidFill>
          <a:ln w="12700">
            <a:solidFill>
              <a:srgbClr val="93A5AA">
                <a:alpha val="0"/>
              </a:srgbClr>
            </a:solidFill>
            <a:prstDash val="solid"/>
          </a:ln>
        </p:spPr>
      </p:sp>
      <p:sp>
        <p:nvSpPr>
          <p:cNvPr id="30" name="Shape 28"/>
          <p:cNvSpPr/>
          <p:nvPr/>
        </p:nvSpPr>
        <p:spPr>
          <a:xfrm>
            <a:off x="2762441" y="4786313"/>
            <a:ext cx="148590" cy="81725"/>
          </a:xfrm>
          <a:prstGeom prst="roundRect">
            <a:avLst/>
          </a:prstGeom>
          <a:solidFill>
            <a:srgbClr val="22434A"/>
          </a:solidFill>
          <a:ln w="12700">
            <a:solidFill>
              <a:srgbClr val="22434A">
                <a:alpha val="0"/>
              </a:srgbClr>
            </a:solidFill>
            <a:prstDash val="solid"/>
          </a:ln>
        </p:spPr>
      </p:sp>
      <p:sp>
        <p:nvSpPr>
          <p:cNvPr id="31" name="Shape 29"/>
          <p:cNvSpPr/>
          <p:nvPr/>
        </p:nvSpPr>
        <p:spPr>
          <a:xfrm>
            <a:off x="3178493" y="4786313"/>
            <a:ext cx="148590" cy="81725"/>
          </a:xfrm>
          <a:prstGeom prst="roundRect">
            <a:avLst/>
          </a:prstGeom>
          <a:solidFill>
            <a:srgbClr val="22434A"/>
          </a:solidFill>
          <a:ln w="12700">
            <a:solidFill>
              <a:srgbClr val="22434A">
                <a:alpha val="0"/>
              </a:srgbClr>
            </a:solidFill>
            <a:prstDash val="solid"/>
          </a:ln>
        </p:spPr>
      </p:sp>
      <p:sp>
        <p:nvSpPr>
          <p:cNvPr id="32" name="Shape 30"/>
          <p:cNvSpPr/>
          <p:nvPr/>
        </p:nvSpPr>
        <p:spPr>
          <a:xfrm>
            <a:off x="2896171" y="4555998"/>
            <a:ext cx="297180" cy="297180"/>
          </a:xfrm>
          <a:prstGeom prst="roundRect">
            <a:avLst/>
          </a:prstGeom>
          <a:solidFill>
            <a:srgbClr val="DFC28E"/>
          </a:solidFill>
          <a:ln w="12700">
            <a:solidFill>
              <a:srgbClr val="DFC28E">
                <a:alpha val="0"/>
              </a:srgbClr>
            </a:solidFill>
            <a:prstDash val="solid"/>
          </a:ln>
        </p:spPr>
      </p:sp>
      <p:sp>
        <p:nvSpPr>
          <p:cNvPr id="33" name="Shape 31"/>
          <p:cNvSpPr/>
          <p:nvPr/>
        </p:nvSpPr>
        <p:spPr>
          <a:xfrm>
            <a:off x="3119057" y="4555998"/>
            <a:ext cx="74295" cy="297180"/>
          </a:xfrm>
          <a:prstGeom prst="roundRect">
            <a:avLst/>
          </a:prstGeom>
          <a:solidFill>
            <a:srgbClr val="BA9A61"/>
          </a:solidFill>
          <a:ln w="12700">
            <a:solidFill>
              <a:srgbClr val="BA9A61">
                <a:alpha val="0"/>
              </a:srgbClr>
            </a:solidFill>
            <a:prstDash val="solid"/>
          </a:ln>
        </p:spPr>
      </p:sp>
      <p:sp>
        <p:nvSpPr>
          <p:cNvPr id="34" name="Shape 32"/>
          <p:cNvSpPr/>
          <p:nvPr/>
        </p:nvSpPr>
        <p:spPr>
          <a:xfrm>
            <a:off x="2480120" y="4853178"/>
            <a:ext cx="1211008" cy="0"/>
          </a:xfrm>
          <a:prstGeom prst="line">
            <a:avLst/>
          </a:prstGeom>
          <a:noFill/>
          <a:ln w="29718">
            <a:solidFill>
              <a:srgbClr val="93A5AA"/>
            </a:solidFill>
            <a:prstDash val="solid"/>
          </a:ln>
        </p:spPr>
      </p:sp>
      <p:sp>
        <p:nvSpPr>
          <p:cNvPr id="35" name="Shape 33"/>
          <p:cNvSpPr/>
          <p:nvPr/>
        </p:nvSpPr>
        <p:spPr>
          <a:xfrm>
            <a:off x="2598992" y="4875467"/>
            <a:ext cx="0" cy="126301"/>
          </a:xfrm>
          <a:prstGeom prst="line">
            <a:avLst/>
          </a:prstGeom>
          <a:noFill/>
          <a:ln w="37148">
            <a:solidFill>
              <a:srgbClr val="D8DFD9"/>
            </a:solidFill>
            <a:prstDash val="solid"/>
          </a:ln>
        </p:spPr>
      </p:sp>
      <p:sp>
        <p:nvSpPr>
          <p:cNvPr id="36" name="Shape 34"/>
          <p:cNvSpPr/>
          <p:nvPr/>
        </p:nvSpPr>
        <p:spPr>
          <a:xfrm>
            <a:off x="3579686" y="4875467"/>
            <a:ext cx="0" cy="126301"/>
          </a:xfrm>
          <a:prstGeom prst="line">
            <a:avLst/>
          </a:prstGeom>
          <a:noFill/>
          <a:ln w="37148">
            <a:solidFill>
              <a:srgbClr val="D8DFD9"/>
            </a:solidFill>
            <a:prstDash val="solid"/>
          </a:ln>
        </p:spPr>
      </p:sp>
      <p:sp>
        <p:nvSpPr>
          <p:cNvPr id="37" name="Shape 35"/>
          <p:cNvSpPr/>
          <p:nvPr/>
        </p:nvSpPr>
        <p:spPr>
          <a:xfrm>
            <a:off x="4381500" y="2286000"/>
            <a:ext cx="3429000" cy="3040380"/>
          </a:xfrm>
          <a:prstGeom prst="roundRect">
            <a:avLst/>
          </a:prstGeom>
          <a:solidFill>
            <a:srgbClr val="FFFFFF"/>
          </a:solidFill>
          <a:ln w="12700">
            <a:solidFill>
              <a:srgbClr val="FFFFFF">
                <a:alpha val="0"/>
              </a:srgbClr>
            </a:solidFill>
            <a:prstDash val="solid"/>
          </a:ln>
        </p:spPr>
      </p:sp>
      <p:sp>
        <p:nvSpPr>
          <p:cNvPr id="38" name="Text 36"/>
          <p:cNvSpPr/>
          <p:nvPr/>
        </p:nvSpPr>
        <p:spPr>
          <a:xfrm>
            <a:off x="4572000" y="248412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Training height h2</a:t>
            </a:r>
            <a:endParaRPr lang="en-US" sz="1740" dirty="0"/>
          </a:p>
        </p:txBody>
      </p:sp>
      <p:sp>
        <p:nvSpPr>
          <p:cNvPr id="39" name="Shape 37"/>
          <p:cNvSpPr/>
          <p:nvPr/>
        </p:nvSpPr>
        <p:spPr>
          <a:xfrm>
            <a:off x="4639818" y="5001768"/>
            <a:ext cx="2904935" cy="0"/>
          </a:xfrm>
          <a:prstGeom prst="line">
            <a:avLst/>
          </a:prstGeom>
          <a:noFill/>
          <a:ln w="14859">
            <a:solidFill>
              <a:srgbClr val="D8DFD9"/>
            </a:solidFill>
            <a:prstDash val="dash"/>
          </a:ln>
        </p:spPr>
      </p:sp>
      <p:sp>
        <p:nvSpPr>
          <p:cNvPr id="40" name="Shape 38"/>
          <p:cNvSpPr/>
          <p:nvPr/>
        </p:nvSpPr>
        <p:spPr>
          <a:xfrm>
            <a:off x="4714113" y="4853178"/>
            <a:ext cx="594360" cy="133731"/>
          </a:xfrm>
          <a:prstGeom prst="roundRect">
            <a:avLst/>
          </a:prstGeom>
          <a:solidFill>
            <a:srgbClr val="22434A"/>
          </a:solidFill>
          <a:ln w="12700">
            <a:solidFill>
              <a:srgbClr val="22434A">
                <a:alpha val="0"/>
              </a:srgbClr>
            </a:solidFill>
            <a:prstDash val="solid"/>
          </a:ln>
        </p:spPr>
      </p:sp>
      <p:sp>
        <p:nvSpPr>
          <p:cNvPr id="41" name="Shape 39"/>
          <p:cNvSpPr/>
          <p:nvPr/>
        </p:nvSpPr>
        <p:spPr>
          <a:xfrm>
            <a:off x="4899851" y="4637723"/>
            <a:ext cx="230314" cy="215456"/>
          </a:xfrm>
          <a:prstGeom prst="roundRect">
            <a:avLst/>
          </a:prstGeom>
          <a:solidFill>
            <a:srgbClr val="93A5AA"/>
          </a:solidFill>
          <a:ln w="12700">
            <a:solidFill>
              <a:srgbClr val="93A5AA">
                <a:alpha val="0"/>
              </a:srgbClr>
            </a:solidFill>
            <a:prstDash val="solid"/>
          </a:ln>
        </p:spPr>
      </p:sp>
      <p:sp>
        <p:nvSpPr>
          <p:cNvPr id="42" name="Shape 40"/>
          <p:cNvSpPr/>
          <p:nvPr/>
        </p:nvSpPr>
        <p:spPr>
          <a:xfrm flipV="1">
            <a:off x="5018723" y="3671888"/>
            <a:ext cx="393763" cy="965835"/>
          </a:xfrm>
          <a:prstGeom prst="line">
            <a:avLst/>
          </a:prstGeom>
          <a:noFill/>
          <a:ln w="141160">
            <a:solidFill>
              <a:srgbClr val="93A5AA"/>
            </a:solidFill>
            <a:prstDash val="solid"/>
          </a:ln>
        </p:spPr>
      </p:sp>
      <p:sp>
        <p:nvSpPr>
          <p:cNvPr id="43" name="Shape 41"/>
          <p:cNvSpPr/>
          <p:nvPr/>
        </p:nvSpPr>
        <p:spPr>
          <a:xfrm flipV="1">
            <a:off x="5412486" y="3530727"/>
            <a:ext cx="698373" cy="141160"/>
          </a:xfrm>
          <a:prstGeom prst="line">
            <a:avLst/>
          </a:prstGeom>
          <a:noFill/>
          <a:ln w="141160">
            <a:solidFill>
              <a:srgbClr val="93A5AA"/>
            </a:solidFill>
            <a:prstDash val="solid"/>
          </a:ln>
        </p:spPr>
      </p:sp>
      <p:sp>
        <p:nvSpPr>
          <p:cNvPr id="44" name="Shape 42"/>
          <p:cNvSpPr/>
          <p:nvPr/>
        </p:nvSpPr>
        <p:spPr>
          <a:xfrm>
            <a:off x="6110859" y="3530727"/>
            <a:ext cx="705803" cy="274891"/>
          </a:xfrm>
          <a:prstGeom prst="line">
            <a:avLst/>
          </a:prstGeom>
          <a:noFill/>
          <a:ln w="111443">
            <a:solidFill>
              <a:srgbClr val="93A5AA"/>
            </a:solidFill>
            <a:prstDash val="solid"/>
          </a:ln>
        </p:spPr>
      </p:sp>
      <p:sp>
        <p:nvSpPr>
          <p:cNvPr id="45" name="Shape 43"/>
          <p:cNvSpPr/>
          <p:nvPr/>
        </p:nvSpPr>
        <p:spPr>
          <a:xfrm>
            <a:off x="4899851" y="4518851"/>
            <a:ext cx="237744" cy="237744"/>
          </a:xfrm>
          <a:prstGeom prst="ellipse">
            <a:avLst/>
          </a:prstGeom>
          <a:solidFill>
            <a:srgbClr val="22434A"/>
          </a:solidFill>
          <a:ln w="12700">
            <a:solidFill>
              <a:srgbClr val="22434A">
                <a:alpha val="0"/>
              </a:srgbClr>
            </a:solidFill>
            <a:prstDash val="solid"/>
          </a:ln>
        </p:spPr>
      </p:sp>
      <p:sp>
        <p:nvSpPr>
          <p:cNvPr id="46" name="Shape 44"/>
          <p:cNvSpPr/>
          <p:nvPr/>
        </p:nvSpPr>
        <p:spPr>
          <a:xfrm>
            <a:off x="5293614" y="3553015"/>
            <a:ext cx="237744" cy="237744"/>
          </a:xfrm>
          <a:prstGeom prst="ellipse">
            <a:avLst/>
          </a:prstGeom>
          <a:solidFill>
            <a:srgbClr val="22434A"/>
          </a:solidFill>
          <a:ln w="12700">
            <a:solidFill>
              <a:srgbClr val="22434A">
                <a:alpha val="0"/>
              </a:srgbClr>
            </a:solidFill>
            <a:prstDash val="solid"/>
          </a:ln>
        </p:spPr>
      </p:sp>
      <p:sp>
        <p:nvSpPr>
          <p:cNvPr id="47" name="Shape 45"/>
          <p:cNvSpPr/>
          <p:nvPr/>
        </p:nvSpPr>
        <p:spPr>
          <a:xfrm>
            <a:off x="6014276" y="3434144"/>
            <a:ext cx="193167" cy="193167"/>
          </a:xfrm>
          <a:prstGeom prst="ellipse">
            <a:avLst/>
          </a:prstGeom>
          <a:solidFill>
            <a:srgbClr val="22434A"/>
          </a:solidFill>
          <a:ln w="12700">
            <a:solidFill>
              <a:srgbClr val="22434A">
                <a:alpha val="0"/>
              </a:srgbClr>
            </a:solidFill>
            <a:prstDash val="solid"/>
          </a:ln>
        </p:spPr>
      </p:sp>
      <p:sp>
        <p:nvSpPr>
          <p:cNvPr id="48" name="Shape 46"/>
          <p:cNvSpPr/>
          <p:nvPr/>
        </p:nvSpPr>
        <p:spPr>
          <a:xfrm>
            <a:off x="4959287" y="4578287"/>
            <a:ext cx="118872" cy="118872"/>
          </a:xfrm>
          <a:prstGeom prst="ellipse">
            <a:avLst/>
          </a:prstGeom>
          <a:solidFill>
            <a:srgbClr val="F6F4EF"/>
          </a:solidFill>
          <a:ln w="12700">
            <a:solidFill>
              <a:srgbClr val="F6F4EF">
                <a:alpha val="0"/>
              </a:srgbClr>
            </a:solidFill>
            <a:prstDash val="solid"/>
          </a:ln>
        </p:spPr>
      </p:sp>
      <p:sp>
        <p:nvSpPr>
          <p:cNvPr id="49" name="Shape 47"/>
          <p:cNvSpPr/>
          <p:nvPr/>
        </p:nvSpPr>
        <p:spPr>
          <a:xfrm>
            <a:off x="5360480" y="3619881"/>
            <a:ext cx="104013" cy="104013"/>
          </a:xfrm>
          <a:prstGeom prst="ellipse">
            <a:avLst/>
          </a:prstGeom>
          <a:solidFill>
            <a:srgbClr val="F6F4EF"/>
          </a:solidFill>
          <a:ln w="12700">
            <a:solidFill>
              <a:srgbClr val="F6F4EF">
                <a:alpha val="0"/>
              </a:srgbClr>
            </a:solidFill>
            <a:prstDash val="solid"/>
          </a:ln>
        </p:spPr>
      </p:sp>
      <p:sp>
        <p:nvSpPr>
          <p:cNvPr id="50" name="Shape 48"/>
          <p:cNvSpPr/>
          <p:nvPr/>
        </p:nvSpPr>
        <p:spPr>
          <a:xfrm>
            <a:off x="6066282" y="3486150"/>
            <a:ext cx="89154" cy="89154"/>
          </a:xfrm>
          <a:prstGeom prst="ellipse">
            <a:avLst/>
          </a:prstGeom>
          <a:solidFill>
            <a:srgbClr val="F6F4EF"/>
          </a:solidFill>
          <a:ln w="12700">
            <a:solidFill>
              <a:srgbClr val="F6F4EF">
                <a:alpha val="0"/>
              </a:srgbClr>
            </a:solidFill>
            <a:prstDash val="solid"/>
          </a:ln>
        </p:spPr>
      </p:sp>
      <p:sp>
        <p:nvSpPr>
          <p:cNvPr id="51" name="Shape 49"/>
          <p:cNvSpPr/>
          <p:nvPr/>
        </p:nvSpPr>
        <p:spPr>
          <a:xfrm>
            <a:off x="6816662" y="3805619"/>
            <a:ext cx="0" cy="178308"/>
          </a:xfrm>
          <a:prstGeom prst="line">
            <a:avLst/>
          </a:prstGeom>
          <a:noFill/>
          <a:ln w="81725">
            <a:solidFill>
              <a:srgbClr val="22434A"/>
            </a:solidFill>
            <a:prstDash val="solid"/>
          </a:ln>
        </p:spPr>
      </p:sp>
      <p:sp>
        <p:nvSpPr>
          <p:cNvPr id="52" name="Shape 50"/>
          <p:cNvSpPr/>
          <p:nvPr/>
        </p:nvSpPr>
        <p:spPr>
          <a:xfrm>
            <a:off x="6556629" y="3983927"/>
            <a:ext cx="520065" cy="126302"/>
          </a:xfrm>
          <a:prstGeom prst="roundRect">
            <a:avLst/>
          </a:prstGeom>
          <a:solidFill>
            <a:srgbClr val="22434A"/>
          </a:solidFill>
          <a:ln w="12700">
            <a:solidFill>
              <a:srgbClr val="22434A">
                <a:alpha val="0"/>
              </a:srgbClr>
            </a:solidFill>
            <a:prstDash val="solid"/>
          </a:ln>
        </p:spPr>
      </p:sp>
      <p:sp>
        <p:nvSpPr>
          <p:cNvPr id="53" name="Shape 51"/>
          <p:cNvSpPr/>
          <p:nvPr/>
        </p:nvSpPr>
        <p:spPr>
          <a:xfrm>
            <a:off x="6534341" y="4095369"/>
            <a:ext cx="81725" cy="468059"/>
          </a:xfrm>
          <a:prstGeom prst="roundRect">
            <a:avLst/>
          </a:prstGeom>
          <a:solidFill>
            <a:srgbClr val="93A5AA"/>
          </a:solidFill>
          <a:ln w="12700">
            <a:solidFill>
              <a:srgbClr val="93A5AA">
                <a:alpha val="0"/>
              </a:srgbClr>
            </a:solidFill>
            <a:prstDash val="solid"/>
          </a:ln>
        </p:spPr>
      </p:sp>
      <p:sp>
        <p:nvSpPr>
          <p:cNvPr id="54" name="Shape 52"/>
          <p:cNvSpPr/>
          <p:nvPr/>
        </p:nvSpPr>
        <p:spPr>
          <a:xfrm>
            <a:off x="7017258" y="4095369"/>
            <a:ext cx="81725" cy="468059"/>
          </a:xfrm>
          <a:prstGeom prst="roundRect">
            <a:avLst/>
          </a:prstGeom>
          <a:solidFill>
            <a:srgbClr val="93A5AA"/>
          </a:solidFill>
          <a:ln w="12700">
            <a:solidFill>
              <a:srgbClr val="93A5AA">
                <a:alpha val="0"/>
              </a:srgbClr>
            </a:solidFill>
            <a:prstDash val="solid"/>
          </a:ln>
        </p:spPr>
      </p:sp>
      <p:sp>
        <p:nvSpPr>
          <p:cNvPr id="55" name="Shape 53"/>
          <p:cNvSpPr/>
          <p:nvPr/>
        </p:nvSpPr>
        <p:spPr>
          <a:xfrm>
            <a:off x="6534341" y="4481703"/>
            <a:ext cx="148590" cy="81725"/>
          </a:xfrm>
          <a:prstGeom prst="roundRect">
            <a:avLst/>
          </a:prstGeom>
          <a:solidFill>
            <a:srgbClr val="22434A"/>
          </a:solidFill>
          <a:ln w="12700">
            <a:solidFill>
              <a:srgbClr val="22434A">
                <a:alpha val="0"/>
              </a:srgbClr>
            </a:solidFill>
            <a:prstDash val="solid"/>
          </a:ln>
        </p:spPr>
      </p:sp>
      <p:sp>
        <p:nvSpPr>
          <p:cNvPr id="56" name="Shape 54"/>
          <p:cNvSpPr/>
          <p:nvPr/>
        </p:nvSpPr>
        <p:spPr>
          <a:xfrm>
            <a:off x="6950393" y="4481703"/>
            <a:ext cx="148590" cy="81725"/>
          </a:xfrm>
          <a:prstGeom prst="roundRect">
            <a:avLst/>
          </a:prstGeom>
          <a:solidFill>
            <a:srgbClr val="22434A"/>
          </a:solidFill>
          <a:ln w="12700">
            <a:solidFill>
              <a:srgbClr val="22434A">
                <a:alpha val="0"/>
              </a:srgbClr>
            </a:solidFill>
            <a:prstDash val="solid"/>
          </a:ln>
        </p:spPr>
      </p:sp>
      <p:sp>
        <p:nvSpPr>
          <p:cNvPr id="57" name="Shape 55"/>
          <p:cNvSpPr/>
          <p:nvPr/>
        </p:nvSpPr>
        <p:spPr>
          <a:xfrm>
            <a:off x="6668072" y="4251389"/>
            <a:ext cx="297180" cy="297180"/>
          </a:xfrm>
          <a:prstGeom prst="roundRect">
            <a:avLst/>
          </a:prstGeom>
          <a:solidFill>
            <a:srgbClr val="DFC28E"/>
          </a:solidFill>
          <a:ln w="12700">
            <a:solidFill>
              <a:srgbClr val="DFC28E">
                <a:alpha val="0"/>
              </a:srgbClr>
            </a:solidFill>
            <a:prstDash val="solid"/>
          </a:ln>
        </p:spPr>
      </p:sp>
      <p:sp>
        <p:nvSpPr>
          <p:cNvPr id="58" name="Shape 56"/>
          <p:cNvSpPr/>
          <p:nvPr/>
        </p:nvSpPr>
        <p:spPr>
          <a:xfrm>
            <a:off x="6890957" y="4251389"/>
            <a:ext cx="74295" cy="297180"/>
          </a:xfrm>
          <a:prstGeom prst="roundRect">
            <a:avLst/>
          </a:prstGeom>
          <a:solidFill>
            <a:srgbClr val="BA9A61"/>
          </a:solidFill>
          <a:ln w="12700">
            <a:solidFill>
              <a:srgbClr val="BA9A61">
                <a:alpha val="0"/>
              </a:srgbClr>
            </a:solidFill>
            <a:prstDash val="solid"/>
          </a:ln>
        </p:spPr>
      </p:sp>
      <p:sp>
        <p:nvSpPr>
          <p:cNvPr id="59" name="Shape 57"/>
          <p:cNvSpPr/>
          <p:nvPr/>
        </p:nvSpPr>
        <p:spPr>
          <a:xfrm>
            <a:off x="6252020" y="4548568"/>
            <a:ext cx="1211008" cy="0"/>
          </a:xfrm>
          <a:prstGeom prst="line">
            <a:avLst/>
          </a:prstGeom>
          <a:noFill/>
          <a:ln w="29718">
            <a:solidFill>
              <a:srgbClr val="93A5AA"/>
            </a:solidFill>
            <a:prstDash val="solid"/>
          </a:ln>
        </p:spPr>
      </p:sp>
      <p:sp>
        <p:nvSpPr>
          <p:cNvPr id="60" name="Shape 58"/>
          <p:cNvSpPr/>
          <p:nvPr/>
        </p:nvSpPr>
        <p:spPr>
          <a:xfrm>
            <a:off x="6370892" y="4570857"/>
            <a:ext cx="0" cy="430911"/>
          </a:xfrm>
          <a:prstGeom prst="line">
            <a:avLst/>
          </a:prstGeom>
          <a:noFill/>
          <a:ln w="37148">
            <a:solidFill>
              <a:srgbClr val="D8DFD9"/>
            </a:solidFill>
            <a:prstDash val="solid"/>
          </a:ln>
        </p:spPr>
      </p:sp>
      <p:sp>
        <p:nvSpPr>
          <p:cNvPr id="61" name="Shape 59"/>
          <p:cNvSpPr/>
          <p:nvPr/>
        </p:nvSpPr>
        <p:spPr>
          <a:xfrm>
            <a:off x="7351585" y="4570857"/>
            <a:ext cx="0" cy="430911"/>
          </a:xfrm>
          <a:prstGeom prst="line">
            <a:avLst/>
          </a:prstGeom>
          <a:noFill/>
          <a:ln w="37148">
            <a:solidFill>
              <a:srgbClr val="D8DFD9"/>
            </a:solidFill>
            <a:prstDash val="solid"/>
          </a:ln>
        </p:spPr>
      </p:sp>
      <p:sp>
        <p:nvSpPr>
          <p:cNvPr id="62" name="Shape 60"/>
          <p:cNvSpPr/>
          <p:nvPr/>
        </p:nvSpPr>
        <p:spPr>
          <a:xfrm>
            <a:off x="8153400" y="2286000"/>
            <a:ext cx="3429000" cy="3040380"/>
          </a:xfrm>
          <a:prstGeom prst="roundRect">
            <a:avLst/>
          </a:prstGeom>
          <a:solidFill>
            <a:srgbClr val="FFFFFF"/>
          </a:solidFill>
          <a:ln w="12700">
            <a:solidFill>
              <a:srgbClr val="FFFFFF">
                <a:alpha val="0"/>
              </a:srgbClr>
            </a:solidFill>
            <a:prstDash val="solid"/>
          </a:ln>
        </p:spPr>
      </p:sp>
      <p:sp>
        <p:nvSpPr>
          <p:cNvPr id="63" name="Text 61"/>
          <p:cNvSpPr/>
          <p:nvPr/>
        </p:nvSpPr>
        <p:spPr>
          <a:xfrm>
            <a:off x="8343900" y="2484120"/>
            <a:ext cx="30480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Training height h3</a:t>
            </a:r>
            <a:endParaRPr lang="en-US" sz="1740" dirty="0"/>
          </a:p>
        </p:txBody>
      </p:sp>
      <p:sp>
        <p:nvSpPr>
          <p:cNvPr id="64" name="Shape 62"/>
          <p:cNvSpPr/>
          <p:nvPr/>
        </p:nvSpPr>
        <p:spPr>
          <a:xfrm>
            <a:off x="8411718" y="5001768"/>
            <a:ext cx="2904934" cy="0"/>
          </a:xfrm>
          <a:prstGeom prst="line">
            <a:avLst/>
          </a:prstGeom>
          <a:noFill/>
          <a:ln w="14859">
            <a:solidFill>
              <a:srgbClr val="D8DFD9"/>
            </a:solidFill>
            <a:prstDash val="dash"/>
          </a:ln>
        </p:spPr>
      </p:sp>
      <p:sp>
        <p:nvSpPr>
          <p:cNvPr id="65" name="Shape 63"/>
          <p:cNvSpPr/>
          <p:nvPr/>
        </p:nvSpPr>
        <p:spPr>
          <a:xfrm>
            <a:off x="8486013" y="4853178"/>
            <a:ext cx="594360" cy="133731"/>
          </a:xfrm>
          <a:prstGeom prst="roundRect">
            <a:avLst/>
          </a:prstGeom>
          <a:solidFill>
            <a:srgbClr val="22434A"/>
          </a:solidFill>
          <a:ln w="12700">
            <a:solidFill>
              <a:srgbClr val="22434A">
                <a:alpha val="0"/>
              </a:srgbClr>
            </a:solidFill>
            <a:prstDash val="solid"/>
          </a:ln>
        </p:spPr>
      </p:sp>
      <p:sp>
        <p:nvSpPr>
          <p:cNvPr id="66" name="Shape 64"/>
          <p:cNvSpPr/>
          <p:nvPr/>
        </p:nvSpPr>
        <p:spPr>
          <a:xfrm>
            <a:off x="8671751" y="4637723"/>
            <a:ext cx="230314" cy="215456"/>
          </a:xfrm>
          <a:prstGeom prst="roundRect">
            <a:avLst/>
          </a:prstGeom>
          <a:solidFill>
            <a:srgbClr val="93A5AA"/>
          </a:solidFill>
          <a:ln w="12700">
            <a:solidFill>
              <a:srgbClr val="93A5AA">
                <a:alpha val="0"/>
              </a:srgbClr>
            </a:solidFill>
            <a:prstDash val="solid"/>
          </a:ln>
        </p:spPr>
      </p:sp>
      <p:sp>
        <p:nvSpPr>
          <p:cNvPr id="67" name="Shape 65"/>
          <p:cNvSpPr/>
          <p:nvPr/>
        </p:nvSpPr>
        <p:spPr>
          <a:xfrm flipV="1">
            <a:off x="8790623" y="3671888"/>
            <a:ext cx="393763" cy="965835"/>
          </a:xfrm>
          <a:prstGeom prst="line">
            <a:avLst/>
          </a:prstGeom>
          <a:noFill/>
          <a:ln w="141160">
            <a:solidFill>
              <a:srgbClr val="93A5AA"/>
            </a:solidFill>
            <a:prstDash val="solid"/>
          </a:ln>
        </p:spPr>
      </p:sp>
      <p:sp>
        <p:nvSpPr>
          <p:cNvPr id="68" name="Shape 66"/>
          <p:cNvSpPr/>
          <p:nvPr/>
        </p:nvSpPr>
        <p:spPr>
          <a:xfrm flipV="1">
            <a:off x="9184386" y="3530727"/>
            <a:ext cx="698373" cy="141160"/>
          </a:xfrm>
          <a:prstGeom prst="line">
            <a:avLst/>
          </a:prstGeom>
          <a:noFill/>
          <a:ln w="141160">
            <a:solidFill>
              <a:srgbClr val="93A5AA"/>
            </a:solidFill>
            <a:prstDash val="solid"/>
          </a:ln>
        </p:spPr>
      </p:sp>
      <p:sp>
        <p:nvSpPr>
          <p:cNvPr id="69" name="Shape 67"/>
          <p:cNvSpPr/>
          <p:nvPr/>
        </p:nvSpPr>
        <p:spPr>
          <a:xfrm flipV="1">
            <a:off x="9882759" y="3501009"/>
            <a:ext cx="705803" cy="29718"/>
          </a:xfrm>
          <a:prstGeom prst="line">
            <a:avLst/>
          </a:prstGeom>
          <a:noFill/>
          <a:ln w="111443">
            <a:solidFill>
              <a:srgbClr val="93A5AA"/>
            </a:solidFill>
            <a:prstDash val="solid"/>
          </a:ln>
        </p:spPr>
      </p:sp>
      <p:sp>
        <p:nvSpPr>
          <p:cNvPr id="70" name="Shape 68"/>
          <p:cNvSpPr/>
          <p:nvPr/>
        </p:nvSpPr>
        <p:spPr>
          <a:xfrm>
            <a:off x="8671751" y="4518851"/>
            <a:ext cx="237744" cy="237744"/>
          </a:xfrm>
          <a:prstGeom prst="ellipse">
            <a:avLst/>
          </a:prstGeom>
          <a:solidFill>
            <a:srgbClr val="22434A"/>
          </a:solidFill>
          <a:ln w="12700">
            <a:solidFill>
              <a:srgbClr val="22434A">
                <a:alpha val="0"/>
              </a:srgbClr>
            </a:solidFill>
            <a:prstDash val="solid"/>
          </a:ln>
        </p:spPr>
      </p:sp>
      <p:sp>
        <p:nvSpPr>
          <p:cNvPr id="71" name="Shape 69"/>
          <p:cNvSpPr/>
          <p:nvPr/>
        </p:nvSpPr>
        <p:spPr>
          <a:xfrm>
            <a:off x="9065514" y="3553015"/>
            <a:ext cx="237744" cy="237744"/>
          </a:xfrm>
          <a:prstGeom prst="ellipse">
            <a:avLst/>
          </a:prstGeom>
          <a:solidFill>
            <a:srgbClr val="22434A"/>
          </a:solidFill>
          <a:ln w="12700">
            <a:solidFill>
              <a:srgbClr val="22434A">
                <a:alpha val="0"/>
              </a:srgbClr>
            </a:solidFill>
            <a:prstDash val="solid"/>
          </a:ln>
        </p:spPr>
      </p:sp>
      <p:sp>
        <p:nvSpPr>
          <p:cNvPr id="72" name="Shape 70"/>
          <p:cNvSpPr/>
          <p:nvPr/>
        </p:nvSpPr>
        <p:spPr>
          <a:xfrm>
            <a:off x="9786176" y="3434144"/>
            <a:ext cx="193167" cy="193167"/>
          </a:xfrm>
          <a:prstGeom prst="ellipse">
            <a:avLst/>
          </a:prstGeom>
          <a:solidFill>
            <a:srgbClr val="22434A"/>
          </a:solidFill>
          <a:ln w="12700">
            <a:solidFill>
              <a:srgbClr val="22434A">
                <a:alpha val="0"/>
              </a:srgbClr>
            </a:solidFill>
            <a:prstDash val="solid"/>
          </a:ln>
        </p:spPr>
      </p:sp>
      <p:sp>
        <p:nvSpPr>
          <p:cNvPr id="73" name="Shape 71"/>
          <p:cNvSpPr/>
          <p:nvPr/>
        </p:nvSpPr>
        <p:spPr>
          <a:xfrm>
            <a:off x="8731187" y="4578287"/>
            <a:ext cx="118872" cy="118872"/>
          </a:xfrm>
          <a:prstGeom prst="ellipse">
            <a:avLst/>
          </a:prstGeom>
          <a:solidFill>
            <a:srgbClr val="F6F4EF"/>
          </a:solidFill>
          <a:ln w="12700">
            <a:solidFill>
              <a:srgbClr val="F6F4EF">
                <a:alpha val="0"/>
              </a:srgbClr>
            </a:solidFill>
            <a:prstDash val="solid"/>
          </a:ln>
        </p:spPr>
      </p:sp>
      <p:sp>
        <p:nvSpPr>
          <p:cNvPr id="74" name="Shape 72"/>
          <p:cNvSpPr/>
          <p:nvPr/>
        </p:nvSpPr>
        <p:spPr>
          <a:xfrm>
            <a:off x="9132380" y="3619881"/>
            <a:ext cx="104013" cy="104013"/>
          </a:xfrm>
          <a:prstGeom prst="ellipse">
            <a:avLst/>
          </a:prstGeom>
          <a:solidFill>
            <a:srgbClr val="F6F4EF"/>
          </a:solidFill>
          <a:ln w="12700">
            <a:solidFill>
              <a:srgbClr val="F6F4EF">
                <a:alpha val="0"/>
              </a:srgbClr>
            </a:solidFill>
            <a:prstDash val="solid"/>
          </a:ln>
        </p:spPr>
      </p:sp>
      <p:sp>
        <p:nvSpPr>
          <p:cNvPr id="75" name="Shape 73"/>
          <p:cNvSpPr/>
          <p:nvPr/>
        </p:nvSpPr>
        <p:spPr>
          <a:xfrm>
            <a:off x="9838182" y="3486150"/>
            <a:ext cx="89154" cy="89154"/>
          </a:xfrm>
          <a:prstGeom prst="ellipse">
            <a:avLst/>
          </a:prstGeom>
          <a:solidFill>
            <a:srgbClr val="F6F4EF"/>
          </a:solidFill>
          <a:ln w="12700">
            <a:solidFill>
              <a:srgbClr val="F6F4EF">
                <a:alpha val="0"/>
              </a:srgbClr>
            </a:solidFill>
            <a:prstDash val="solid"/>
          </a:ln>
        </p:spPr>
      </p:sp>
      <p:sp>
        <p:nvSpPr>
          <p:cNvPr id="76" name="Shape 74"/>
          <p:cNvSpPr/>
          <p:nvPr/>
        </p:nvSpPr>
        <p:spPr>
          <a:xfrm>
            <a:off x="10588562" y="3501009"/>
            <a:ext cx="0" cy="178308"/>
          </a:xfrm>
          <a:prstGeom prst="line">
            <a:avLst/>
          </a:prstGeom>
          <a:noFill/>
          <a:ln w="81725">
            <a:solidFill>
              <a:srgbClr val="22434A"/>
            </a:solidFill>
            <a:prstDash val="solid"/>
          </a:ln>
        </p:spPr>
      </p:sp>
      <p:sp>
        <p:nvSpPr>
          <p:cNvPr id="77" name="Shape 75"/>
          <p:cNvSpPr/>
          <p:nvPr/>
        </p:nvSpPr>
        <p:spPr>
          <a:xfrm>
            <a:off x="10328529" y="3679317"/>
            <a:ext cx="520065" cy="126302"/>
          </a:xfrm>
          <a:prstGeom prst="roundRect">
            <a:avLst/>
          </a:prstGeom>
          <a:solidFill>
            <a:srgbClr val="22434A"/>
          </a:solidFill>
          <a:ln w="12700">
            <a:solidFill>
              <a:srgbClr val="22434A">
                <a:alpha val="0"/>
              </a:srgbClr>
            </a:solidFill>
            <a:prstDash val="solid"/>
          </a:ln>
        </p:spPr>
      </p:sp>
      <p:sp>
        <p:nvSpPr>
          <p:cNvPr id="78" name="Shape 76"/>
          <p:cNvSpPr/>
          <p:nvPr/>
        </p:nvSpPr>
        <p:spPr>
          <a:xfrm>
            <a:off x="10306241" y="3790760"/>
            <a:ext cx="81725" cy="468059"/>
          </a:xfrm>
          <a:prstGeom prst="roundRect">
            <a:avLst/>
          </a:prstGeom>
          <a:solidFill>
            <a:srgbClr val="93A5AA"/>
          </a:solidFill>
          <a:ln w="12700">
            <a:solidFill>
              <a:srgbClr val="93A5AA">
                <a:alpha val="0"/>
              </a:srgbClr>
            </a:solidFill>
            <a:prstDash val="solid"/>
          </a:ln>
        </p:spPr>
      </p:sp>
      <p:sp>
        <p:nvSpPr>
          <p:cNvPr id="79" name="Shape 77"/>
          <p:cNvSpPr/>
          <p:nvPr/>
        </p:nvSpPr>
        <p:spPr>
          <a:xfrm>
            <a:off x="10789158" y="3790760"/>
            <a:ext cx="81725" cy="468059"/>
          </a:xfrm>
          <a:prstGeom prst="roundRect">
            <a:avLst/>
          </a:prstGeom>
          <a:solidFill>
            <a:srgbClr val="93A5AA"/>
          </a:solidFill>
          <a:ln w="12700">
            <a:solidFill>
              <a:srgbClr val="93A5AA">
                <a:alpha val="0"/>
              </a:srgbClr>
            </a:solidFill>
            <a:prstDash val="solid"/>
          </a:ln>
        </p:spPr>
      </p:sp>
      <p:sp>
        <p:nvSpPr>
          <p:cNvPr id="80" name="Shape 78"/>
          <p:cNvSpPr/>
          <p:nvPr/>
        </p:nvSpPr>
        <p:spPr>
          <a:xfrm>
            <a:off x="10306241" y="4177093"/>
            <a:ext cx="148590" cy="81725"/>
          </a:xfrm>
          <a:prstGeom prst="roundRect">
            <a:avLst/>
          </a:prstGeom>
          <a:solidFill>
            <a:srgbClr val="22434A"/>
          </a:solidFill>
          <a:ln w="12700">
            <a:solidFill>
              <a:srgbClr val="22434A">
                <a:alpha val="0"/>
              </a:srgbClr>
            </a:solidFill>
            <a:prstDash val="solid"/>
          </a:ln>
        </p:spPr>
      </p:sp>
      <p:sp>
        <p:nvSpPr>
          <p:cNvPr id="81" name="Shape 79"/>
          <p:cNvSpPr/>
          <p:nvPr/>
        </p:nvSpPr>
        <p:spPr>
          <a:xfrm>
            <a:off x="10722293" y="4177093"/>
            <a:ext cx="148590" cy="81725"/>
          </a:xfrm>
          <a:prstGeom prst="roundRect">
            <a:avLst/>
          </a:prstGeom>
          <a:solidFill>
            <a:srgbClr val="22434A"/>
          </a:solidFill>
          <a:ln w="12700">
            <a:solidFill>
              <a:srgbClr val="22434A">
                <a:alpha val="0"/>
              </a:srgbClr>
            </a:solidFill>
            <a:prstDash val="solid"/>
          </a:ln>
        </p:spPr>
      </p:sp>
      <p:sp>
        <p:nvSpPr>
          <p:cNvPr id="82" name="Shape 80"/>
          <p:cNvSpPr/>
          <p:nvPr/>
        </p:nvSpPr>
        <p:spPr>
          <a:xfrm>
            <a:off x="10439972" y="3946779"/>
            <a:ext cx="297180" cy="297180"/>
          </a:xfrm>
          <a:prstGeom prst="roundRect">
            <a:avLst/>
          </a:prstGeom>
          <a:solidFill>
            <a:srgbClr val="DFC28E"/>
          </a:solidFill>
          <a:ln w="12700">
            <a:solidFill>
              <a:srgbClr val="DFC28E">
                <a:alpha val="0"/>
              </a:srgbClr>
            </a:solidFill>
            <a:prstDash val="solid"/>
          </a:ln>
        </p:spPr>
      </p:sp>
      <p:sp>
        <p:nvSpPr>
          <p:cNvPr id="83" name="Shape 81"/>
          <p:cNvSpPr/>
          <p:nvPr/>
        </p:nvSpPr>
        <p:spPr>
          <a:xfrm>
            <a:off x="10662857" y="3946779"/>
            <a:ext cx="74295" cy="297180"/>
          </a:xfrm>
          <a:prstGeom prst="roundRect">
            <a:avLst/>
          </a:prstGeom>
          <a:solidFill>
            <a:srgbClr val="BA9A61"/>
          </a:solidFill>
          <a:ln w="12700">
            <a:solidFill>
              <a:srgbClr val="BA9A61">
                <a:alpha val="0"/>
              </a:srgbClr>
            </a:solidFill>
            <a:prstDash val="solid"/>
          </a:ln>
        </p:spPr>
      </p:sp>
      <p:sp>
        <p:nvSpPr>
          <p:cNvPr id="84" name="Shape 82"/>
          <p:cNvSpPr/>
          <p:nvPr/>
        </p:nvSpPr>
        <p:spPr>
          <a:xfrm>
            <a:off x="10023919" y="4243959"/>
            <a:ext cx="1211009" cy="0"/>
          </a:xfrm>
          <a:prstGeom prst="line">
            <a:avLst/>
          </a:prstGeom>
          <a:noFill/>
          <a:ln w="29718">
            <a:solidFill>
              <a:srgbClr val="93A5AA"/>
            </a:solidFill>
            <a:prstDash val="solid"/>
          </a:ln>
        </p:spPr>
      </p:sp>
      <p:sp>
        <p:nvSpPr>
          <p:cNvPr id="85" name="Shape 83"/>
          <p:cNvSpPr/>
          <p:nvPr/>
        </p:nvSpPr>
        <p:spPr>
          <a:xfrm>
            <a:off x="10142792" y="4266248"/>
            <a:ext cx="0" cy="735520"/>
          </a:xfrm>
          <a:prstGeom prst="line">
            <a:avLst/>
          </a:prstGeom>
          <a:noFill/>
          <a:ln w="37148">
            <a:solidFill>
              <a:srgbClr val="D8DFD9"/>
            </a:solidFill>
            <a:prstDash val="solid"/>
          </a:ln>
        </p:spPr>
      </p:sp>
      <p:sp>
        <p:nvSpPr>
          <p:cNvPr id="86" name="Shape 84"/>
          <p:cNvSpPr/>
          <p:nvPr/>
        </p:nvSpPr>
        <p:spPr>
          <a:xfrm>
            <a:off x="11123486" y="4266248"/>
            <a:ext cx="0" cy="735520"/>
          </a:xfrm>
          <a:prstGeom prst="line">
            <a:avLst/>
          </a:prstGeom>
          <a:noFill/>
          <a:ln w="37148">
            <a:solidFill>
              <a:srgbClr val="D8DFD9"/>
            </a:solidFill>
            <a:prstDash val="solid"/>
          </a:ln>
        </p:spPr>
      </p:sp>
      <p:sp>
        <p:nvSpPr>
          <p:cNvPr id="87" name="Text 85"/>
          <p:cNvSpPr/>
          <p:nvPr/>
        </p:nvSpPr>
        <p:spPr>
          <a:xfrm>
            <a:off x="609600" y="5638800"/>
            <a:ext cx="10972800" cy="304800"/>
          </a:xfrm>
          <a:prstGeom prst="rect">
            <a:avLst/>
          </a:prstGeom>
          <a:noFill/>
          <a:ln/>
        </p:spPr>
        <p:txBody>
          <a:bodyPr wrap="square" lIns="0" tIns="0" rIns="0" bIns="0" rtlCol="0" anchor="t"/>
          <a:lstStyle/>
          <a:p>
            <a:pPr algn="l" indent="0" marL="0">
              <a:lnSpc>
                <a:spcPct val="105000"/>
              </a:lnSpc>
              <a:buNone/>
            </a:pPr>
            <a:r>
              <a:rPr lang="en-US" altLang="en-US" sz="1800" dirty="0">
                <a:solidFill>
                  <a:srgbClr val="183139"/>
                </a:solidFill>
                <a:latin typeface="Arial" pitchFamily="34" charset="0"/>
                <a:ea typeface="Arial" pitchFamily="34" charset="-122"/>
                <a:cs typeface="Arial" pitchFamily="34" charset="-120"/>
              </a:rPr>
              <a:t>The robot base stays fixed. The object starts at different elevations.</a:t>
            </a:r>
            <a:endParaRPr lang="en-US" sz="1800" dirty="0"/>
          </a:p>
        </p:txBody>
      </p:sp>
      <p:sp>
        <p:nvSpPr>
          <p:cNvPr id="88" name="Text 86"/>
          <p:cNvSpPr/>
          <p:nvPr/>
        </p:nvSpPr>
        <p:spPr>
          <a:xfrm>
            <a:off x="609600" y="6050280"/>
            <a:ext cx="109728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First height study: control mass, friction, object geometry, and required lift clearance.</a:t>
            </a:r>
            <a:endParaRPr lang="en-US" sz="1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06 · PLANNED DEPLOYMENT TEST</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Deploy at a held-out initial height</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Freeze the trained policy and provide environmental context estimated from deployment observations.</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06 / 08</a:t>
            </a:r>
            <a:endParaRPr lang="en-US" sz="1140" dirty="0"/>
          </a:p>
        </p:txBody>
      </p:sp>
      <p:sp>
        <p:nvSpPr>
          <p:cNvPr id="10" name="Text 8"/>
          <p:cNvSpPr/>
          <p:nvPr/>
        </p:nvSpPr>
        <p:spPr>
          <a:xfrm>
            <a:off x="609600" y="2110740"/>
            <a:ext cx="10668000" cy="19812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HEIGHT SPLIT: SCHEMATIC</a:t>
            </a:r>
            <a:endParaRPr lang="en-US" sz="1140" dirty="0"/>
          </a:p>
        </p:txBody>
      </p:sp>
      <p:sp>
        <p:nvSpPr>
          <p:cNvPr id="11" name="Shape 9"/>
          <p:cNvSpPr/>
          <p:nvPr/>
        </p:nvSpPr>
        <p:spPr>
          <a:xfrm>
            <a:off x="4960620" y="2446020"/>
            <a:ext cx="1661160" cy="906780"/>
          </a:xfrm>
          <a:prstGeom prst="roundRect">
            <a:avLst/>
          </a:prstGeom>
          <a:solidFill>
            <a:srgbClr val="F3E5DD"/>
          </a:solidFill>
          <a:ln w="12700">
            <a:solidFill>
              <a:srgbClr val="F3E5DD">
                <a:alpha val="0"/>
              </a:srgbClr>
            </a:solidFill>
            <a:prstDash val="solid"/>
          </a:ln>
        </p:spPr>
      </p:sp>
      <p:sp>
        <p:nvSpPr>
          <p:cNvPr id="12" name="Shape 10"/>
          <p:cNvSpPr/>
          <p:nvPr/>
        </p:nvSpPr>
        <p:spPr>
          <a:xfrm>
            <a:off x="1059180" y="2788920"/>
            <a:ext cx="10142220" cy="0"/>
          </a:xfrm>
          <a:prstGeom prst="line">
            <a:avLst/>
          </a:prstGeom>
          <a:noFill/>
          <a:ln w="22860">
            <a:solidFill>
              <a:srgbClr val="93A5AA"/>
            </a:solidFill>
            <a:prstDash val="solid"/>
          </a:ln>
        </p:spPr>
      </p:sp>
      <p:sp>
        <p:nvSpPr>
          <p:cNvPr id="13" name="Shape 11"/>
          <p:cNvSpPr/>
          <p:nvPr/>
        </p:nvSpPr>
        <p:spPr>
          <a:xfrm>
            <a:off x="1333500" y="2720340"/>
            <a:ext cx="137160" cy="137160"/>
          </a:xfrm>
          <a:prstGeom prst="ellipse">
            <a:avLst/>
          </a:prstGeom>
          <a:solidFill>
            <a:srgbClr val="22434A"/>
          </a:solidFill>
          <a:ln w="12700">
            <a:solidFill>
              <a:srgbClr val="22434A">
                <a:alpha val="0"/>
              </a:srgbClr>
            </a:solidFill>
            <a:prstDash val="solid"/>
          </a:ln>
        </p:spPr>
      </p:sp>
      <p:sp>
        <p:nvSpPr>
          <p:cNvPr id="14" name="Text 12"/>
          <p:cNvSpPr/>
          <p:nvPr/>
        </p:nvSpPr>
        <p:spPr>
          <a:xfrm>
            <a:off x="982980" y="3055620"/>
            <a:ext cx="83820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h1</a:t>
            </a:r>
            <a:endParaRPr lang="en-US" sz="1500" dirty="0"/>
          </a:p>
        </p:txBody>
      </p:sp>
      <p:sp>
        <p:nvSpPr>
          <p:cNvPr id="15" name="Shape 13"/>
          <p:cNvSpPr/>
          <p:nvPr/>
        </p:nvSpPr>
        <p:spPr>
          <a:xfrm>
            <a:off x="3505200" y="2720340"/>
            <a:ext cx="137160" cy="137160"/>
          </a:xfrm>
          <a:prstGeom prst="ellipse">
            <a:avLst/>
          </a:prstGeom>
          <a:solidFill>
            <a:srgbClr val="22434A"/>
          </a:solidFill>
          <a:ln w="12700">
            <a:solidFill>
              <a:srgbClr val="22434A">
                <a:alpha val="0"/>
              </a:srgbClr>
            </a:solidFill>
            <a:prstDash val="solid"/>
          </a:ln>
        </p:spPr>
      </p:sp>
      <p:sp>
        <p:nvSpPr>
          <p:cNvPr id="16" name="Text 14"/>
          <p:cNvSpPr/>
          <p:nvPr/>
        </p:nvSpPr>
        <p:spPr>
          <a:xfrm>
            <a:off x="3154680" y="3055620"/>
            <a:ext cx="83820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h2</a:t>
            </a:r>
            <a:endParaRPr lang="en-US" sz="1500" dirty="0"/>
          </a:p>
        </p:txBody>
      </p:sp>
      <p:sp>
        <p:nvSpPr>
          <p:cNvPr id="17" name="Shape 15"/>
          <p:cNvSpPr/>
          <p:nvPr/>
        </p:nvSpPr>
        <p:spPr>
          <a:xfrm>
            <a:off x="8122920" y="2720340"/>
            <a:ext cx="137160" cy="137160"/>
          </a:xfrm>
          <a:prstGeom prst="ellipse">
            <a:avLst/>
          </a:prstGeom>
          <a:solidFill>
            <a:srgbClr val="22434A"/>
          </a:solidFill>
          <a:ln w="12700">
            <a:solidFill>
              <a:srgbClr val="22434A">
                <a:alpha val="0"/>
              </a:srgbClr>
            </a:solidFill>
            <a:prstDash val="solid"/>
          </a:ln>
        </p:spPr>
      </p:sp>
      <p:sp>
        <p:nvSpPr>
          <p:cNvPr id="18" name="Text 16"/>
          <p:cNvSpPr/>
          <p:nvPr/>
        </p:nvSpPr>
        <p:spPr>
          <a:xfrm>
            <a:off x="7772400" y="3055620"/>
            <a:ext cx="83820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h3</a:t>
            </a:r>
            <a:endParaRPr lang="en-US" sz="1500" dirty="0"/>
          </a:p>
        </p:txBody>
      </p:sp>
      <p:sp>
        <p:nvSpPr>
          <p:cNvPr id="19" name="Shape 17"/>
          <p:cNvSpPr/>
          <p:nvPr/>
        </p:nvSpPr>
        <p:spPr>
          <a:xfrm>
            <a:off x="10675620" y="2720340"/>
            <a:ext cx="137160" cy="137160"/>
          </a:xfrm>
          <a:prstGeom prst="ellipse">
            <a:avLst/>
          </a:prstGeom>
          <a:solidFill>
            <a:srgbClr val="22434A"/>
          </a:solidFill>
          <a:ln w="12700">
            <a:solidFill>
              <a:srgbClr val="22434A">
                <a:alpha val="0"/>
              </a:srgbClr>
            </a:solidFill>
            <a:prstDash val="solid"/>
          </a:ln>
        </p:spPr>
      </p:sp>
      <p:sp>
        <p:nvSpPr>
          <p:cNvPr id="20" name="Text 18"/>
          <p:cNvSpPr/>
          <p:nvPr/>
        </p:nvSpPr>
        <p:spPr>
          <a:xfrm>
            <a:off x="10325100" y="3055620"/>
            <a:ext cx="83820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h4</a:t>
            </a:r>
            <a:endParaRPr lang="en-US" sz="1500" dirty="0"/>
          </a:p>
        </p:txBody>
      </p:sp>
      <p:sp>
        <p:nvSpPr>
          <p:cNvPr id="21" name="Shape 19"/>
          <p:cNvSpPr/>
          <p:nvPr/>
        </p:nvSpPr>
        <p:spPr>
          <a:xfrm>
            <a:off x="5707380" y="2705100"/>
            <a:ext cx="167640" cy="167640"/>
          </a:xfrm>
          <a:prstGeom prst="ellipse">
            <a:avLst/>
          </a:prstGeom>
          <a:solidFill>
            <a:srgbClr val="C86B52"/>
          </a:solidFill>
          <a:ln w="12700">
            <a:solidFill>
              <a:srgbClr val="C86B52">
                <a:alpha val="0"/>
              </a:srgbClr>
            </a:solidFill>
            <a:prstDash val="solid"/>
          </a:ln>
        </p:spPr>
      </p:sp>
      <p:sp>
        <p:nvSpPr>
          <p:cNvPr id="22" name="Text 20"/>
          <p:cNvSpPr/>
          <p:nvPr/>
        </p:nvSpPr>
        <p:spPr>
          <a:xfrm>
            <a:off x="5006340" y="2133600"/>
            <a:ext cx="1569720" cy="243840"/>
          </a:xfrm>
          <a:prstGeom prst="rect">
            <a:avLst/>
          </a:prstGeom>
          <a:noFill/>
          <a:ln/>
        </p:spPr>
        <p:txBody>
          <a:bodyPr wrap="square" lIns="0" tIns="0" rIns="0" bIns="0" rtlCol="0" anchor="t"/>
          <a:lstStyle/>
          <a:p>
            <a:pPr algn="ctr" indent="0" marL="0">
              <a:lnSpc>
                <a:spcPct val="105000"/>
              </a:lnSpc>
              <a:buNone/>
            </a:pPr>
            <a:r>
              <a:rPr lang="en-US" altLang="en-US" sz="1440" b="1" dirty="0">
                <a:solidFill>
                  <a:srgbClr val="C86B52"/>
                </a:solidFill>
                <a:latin typeface="Arial" pitchFamily="34" charset="0"/>
                <a:ea typeface="Arial" pitchFamily="34" charset="-122"/>
                <a:cs typeface="Arial" pitchFamily="34" charset="-120"/>
              </a:rPr>
              <a:t>held-out height</a:t>
            </a:r>
            <a:endParaRPr lang="en-US" sz="1440" dirty="0"/>
          </a:p>
        </p:txBody>
      </p:sp>
      <p:sp>
        <p:nvSpPr>
          <p:cNvPr id="23" name="Text 21"/>
          <p:cNvSpPr/>
          <p:nvPr/>
        </p:nvSpPr>
        <p:spPr>
          <a:xfrm>
            <a:off x="5379720" y="3055620"/>
            <a:ext cx="822960" cy="274320"/>
          </a:xfrm>
          <a:prstGeom prst="rect">
            <a:avLst/>
          </a:prstGeom>
          <a:noFill/>
          <a:ln/>
        </p:spPr>
        <p:txBody>
          <a:bodyPr wrap="square" lIns="0" tIns="0" rIns="0" bIns="0" rtlCol="0" anchor="t"/>
          <a:lstStyle/>
          <a:p>
            <a:pPr algn="ctr" indent="0" marL="0">
              <a:lnSpc>
                <a:spcPct val="105000"/>
              </a:lnSpc>
              <a:buNone/>
            </a:pPr>
            <a:r>
              <a:rPr lang="en-US" altLang="en-US" sz="1620" b="1" dirty="0">
                <a:solidFill>
                  <a:srgbClr val="C86B52"/>
                </a:solidFill>
                <a:latin typeface="Arial" pitchFamily="34" charset="0"/>
                <a:ea typeface="Arial" pitchFamily="34" charset="-122"/>
                <a:cs typeface="Arial" pitchFamily="34" charset="-120"/>
              </a:rPr>
              <a:t>h*</a:t>
            </a:r>
            <a:endParaRPr lang="en-US" sz="1620" dirty="0"/>
          </a:p>
        </p:txBody>
      </p:sp>
      <p:sp>
        <p:nvSpPr>
          <p:cNvPr id="24" name="Shape 22"/>
          <p:cNvSpPr/>
          <p:nvPr/>
        </p:nvSpPr>
        <p:spPr>
          <a:xfrm>
            <a:off x="609600" y="4053840"/>
            <a:ext cx="2194560" cy="1150620"/>
          </a:xfrm>
          <a:prstGeom prst="roundRect">
            <a:avLst/>
          </a:prstGeom>
          <a:solidFill>
            <a:srgbClr val="FFFFFF"/>
          </a:solidFill>
          <a:ln w="12700">
            <a:solidFill>
              <a:srgbClr val="FFFFFF">
                <a:alpha val="0"/>
              </a:srgbClr>
            </a:solidFill>
            <a:prstDash val="solid"/>
          </a:ln>
        </p:spPr>
      </p:sp>
      <p:sp>
        <p:nvSpPr>
          <p:cNvPr id="25" name="Text 23"/>
          <p:cNvSpPr/>
          <p:nvPr/>
        </p:nvSpPr>
        <p:spPr>
          <a:xfrm>
            <a:off x="746760" y="4335780"/>
            <a:ext cx="1920240" cy="60198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Initial</a:t>
            </a:r>
            <a:endParaRPr lang="en-US" sz="1740" dirty="0"/>
          </a:p>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observations</a:t>
            </a:r>
            <a:endParaRPr lang="en-US" sz="1740" dirty="0"/>
          </a:p>
        </p:txBody>
      </p:sp>
      <p:sp>
        <p:nvSpPr>
          <p:cNvPr id="26" name="Shape 24"/>
          <p:cNvSpPr/>
          <p:nvPr/>
        </p:nvSpPr>
        <p:spPr>
          <a:xfrm>
            <a:off x="2941320" y="4632960"/>
            <a:ext cx="457200" cy="0"/>
          </a:xfrm>
          <a:prstGeom prst="line">
            <a:avLst/>
          </a:prstGeom>
          <a:noFill/>
          <a:ln w="19050">
            <a:solidFill>
              <a:srgbClr val="93A5AA"/>
            </a:solidFill>
            <a:prstDash val="solid"/>
            <a:tailEnd type="triangle"/>
          </a:ln>
        </p:spPr>
      </p:sp>
      <p:sp>
        <p:nvSpPr>
          <p:cNvPr id="27" name="Shape 25"/>
          <p:cNvSpPr/>
          <p:nvPr/>
        </p:nvSpPr>
        <p:spPr>
          <a:xfrm>
            <a:off x="3535680" y="4053840"/>
            <a:ext cx="2194560" cy="1150620"/>
          </a:xfrm>
          <a:prstGeom prst="roundRect">
            <a:avLst/>
          </a:prstGeom>
          <a:solidFill>
            <a:srgbClr val="E1EFEB"/>
          </a:solidFill>
          <a:ln w="11430">
            <a:solidFill>
              <a:srgbClr val="087F7B"/>
            </a:solidFill>
            <a:prstDash val="solid"/>
          </a:ln>
        </p:spPr>
      </p:sp>
      <p:sp>
        <p:nvSpPr>
          <p:cNvPr id="28" name="Text 26"/>
          <p:cNvSpPr/>
          <p:nvPr/>
        </p:nvSpPr>
        <p:spPr>
          <a:xfrm>
            <a:off x="3672840" y="4335780"/>
            <a:ext cx="1920240" cy="60198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Estimator</a:t>
            </a:r>
            <a:endParaRPr lang="en-US" sz="1740" dirty="0"/>
          </a:p>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(selected context)</a:t>
            </a:r>
            <a:endParaRPr lang="en-US" sz="1740" dirty="0"/>
          </a:p>
        </p:txBody>
      </p:sp>
      <p:sp>
        <p:nvSpPr>
          <p:cNvPr id="29" name="Shape 27"/>
          <p:cNvSpPr/>
          <p:nvPr/>
        </p:nvSpPr>
        <p:spPr>
          <a:xfrm>
            <a:off x="5867400" y="4632960"/>
            <a:ext cx="457200" cy="0"/>
          </a:xfrm>
          <a:prstGeom prst="line">
            <a:avLst/>
          </a:prstGeom>
          <a:noFill/>
          <a:ln w="19050">
            <a:solidFill>
              <a:srgbClr val="93A5AA"/>
            </a:solidFill>
            <a:prstDash val="solid"/>
            <a:tailEnd type="triangle"/>
          </a:ln>
        </p:spPr>
      </p:sp>
      <p:sp>
        <p:nvSpPr>
          <p:cNvPr id="30" name="Shape 28"/>
          <p:cNvSpPr/>
          <p:nvPr/>
        </p:nvSpPr>
        <p:spPr>
          <a:xfrm>
            <a:off x="6461760" y="4053840"/>
            <a:ext cx="2194560" cy="1150620"/>
          </a:xfrm>
          <a:prstGeom prst="roundRect">
            <a:avLst/>
          </a:prstGeom>
          <a:solidFill>
            <a:srgbClr val="FFFFFF"/>
          </a:solidFill>
          <a:ln w="12700">
            <a:solidFill>
              <a:srgbClr val="FFFFFF">
                <a:alpha val="0"/>
              </a:srgbClr>
            </a:solidFill>
            <a:prstDash val="solid"/>
          </a:ln>
        </p:spPr>
      </p:sp>
      <p:sp>
        <p:nvSpPr>
          <p:cNvPr id="31" name="Text 29"/>
          <p:cNvSpPr/>
          <p:nvPr/>
        </p:nvSpPr>
        <p:spPr>
          <a:xfrm>
            <a:off x="6598920" y="4335780"/>
            <a:ext cx="1920240" cy="60198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Trained</a:t>
            </a:r>
            <a:endParaRPr lang="en-US" sz="1740" dirty="0"/>
          </a:p>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policy</a:t>
            </a:r>
            <a:endParaRPr lang="en-US" sz="1740" dirty="0"/>
          </a:p>
        </p:txBody>
      </p:sp>
      <p:sp>
        <p:nvSpPr>
          <p:cNvPr id="32" name="Shape 30"/>
          <p:cNvSpPr/>
          <p:nvPr/>
        </p:nvSpPr>
        <p:spPr>
          <a:xfrm>
            <a:off x="8793480" y="4632960"/>
            <a:ext cx="457200" cy="0"/>
          </a:xfrm>
          <a:prstGeom prst="line">
            <a:avLst/>
          </a:prstGeom>
          <a:noFill/>
          <a:ln w="19050">
            <a:solidFill>
              <a:srgbClr val="93A5AA"/>
            </a:solidFill>
            <a:prstDash val="solid"/>
            <a:tailEnd type="triangle"/>
          </a:ln>
        </p:spPr>
      </p:sp>
      <p:sp>
        <p:nvSpPr>
          <p:cNvPr id="33" name="Shape 31"/>
          <p:cNvSpPr/>
          <p:nvPr/>
        </p:nvSpPr>
        <p:spPr>
          <a:xfrm>
            <a:off x="9387840" y="4053840"/>
            <a:ext cx="2194560" cy="1150620"/>
          </a:xfrm>
          <a:prstGeom prst="roundRect">
            <a:avLst/>
          </a:prstGeom>
          <a:solidFill>
            <a:srgbClr val="FFFFFF"/>
          </a:solidFill>
          <a:ln w="12700">
            <a:solidFill>
              <a:srgbClr val="FFFFFF">
                <a:alpha val="0"/>
              </a:srgbClr>
            </a:solidFill>
            <a:prstDash val="solid"/>
          </a:ln>
        </p:spPr>
      </p:sp>
      <p:sp>
        <p:nvSpPr>
          <p:cNvPr id="34" name="Text 32"/>
          <p:cNvSpPr/>
          <p:nvPr/>
        </p:nvSpPr>
        <p:spPr>
          <a:xfrm>
            <a:off x="9525000" y="4335780"/>
            <a:ext cx="1920240" cy="60198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Pick-and-lift</a:t>
            </a:r>
            <a:endParaRPr lang="en-US" sz="1740" dirty="0"/>
          </a:p>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execution</a:t>
            </a:r>
            <a:endParaRPr lang="en-US" sz="1740" dirty="0"/>
          </a:p>
        </p:txBody>
      </p:sp>
      <p:sp>
        <p:nvSpPr>
          <p:cNvPr id="35" name="Text 33"/>
          <p:cNvSpPr/>
          <p:nvPr/>
        </p:nvSpPr>
        <p:spPr>
          <a:xfrm>
            <a:off x="609600" y="5593080"/>
            <a:ext cx="1097280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Report within-range held-out heights separately from heights beyond the training range.</a:t>
            </a:r>
            <a:endParaRPr lang="en-US" sz="1740" dirty="0"/>
          </a:p>
        </p:txBody>
      </p:sp>
      <p:sp>
        <p:nvSpPr>
          <p:cNvPr id="36" name="Text 34"/>
          <p:cNvSpPr/>
          <p:nvPr/>
        </p:nvSpPr>
        <p:spPr>
          <a:xfrm>
            <a:off x="609600" y="6035040"/>
            <a:ext cx="109728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Current estimator: mass. Estimator target for the height study still needs to be specified.</a:t>
            </a:r>
            <a:endParaRPr lang="en-US" sz="15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07 · PROPOSED TEST RULES</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Separate policy capability from estimation</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At each held-out height, compare the same frozen policy under three context inputs.</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07 / 08</a:t>
            </a:r>
            <a:endParaRPr lang="en-US" sz="1140" dirty="0"/>
          </a:p>
        </p:txBody>
      </p:sp>
      <p:sp>
        <p:nvSpPr>
          <p:cNvPr id="10" name="Shape 8"/>
          <p:cNvSpPr/>
          <p:nvPr/>
        </p:nvSpPr>
        <p:spPr>
          <a:xfrm>
            <a:off x="609600" y="2118360"/>
            <a:ext cx="10972800" cy="2308860"/>
          </a:xfrm>
          <a:prstGeom prst="roundRect">
            <a:avLst/>
          </a:prstGeom>
          <a:solidFill>
            <a:srgbClr val="FFFFFF"/>
          </a:solidFill>
          <a:ln w="12700">
            <a:solidFill>
              <a:srgbClr val="FFFFFF">
                <a:alpha val="0"/>
              </a:srgbClr>
            </a:solidFill>
            <a:prstDash val="solid"/>
          </a:ln>
        </p:spPr>
      </p:sp>
      <p:sp>
        <p:nvSpPr>
          <p:cNvPr id="11" name="Shape 9"/>
          <p:cNvSpPr/>
          <p:nvPr/>
        </p:nvSpPr>
        <p:spPr>
          <a:xfrm>
            <a:off x="609600" y="2118360"/>
            <a:ext cx="10972800" cy="434340"/>
          </a:xfrm>
          <a:prstGeom prst="roundRect">
            <a:avLst/>
          </a:prstGeom>
          <a:solidFill>
            <a:srgbClr val="E8ECE8"/>
          </a:solidFill>
          <a:ln w="12700">
            <a:solidFill>
              <a:srgbClr val="E8ECE8">
                <a:alpha val="0"/>
              </a:srgbClr>
            </a:solidFill>
            <a:prstDash val="solid"/>
          </a:ln>
        </p:spPr>
      </p:sp>
      <p:sp>
        <p:nvSpPr>
          <p:cNvPr id="12" name="Text 10"/>
          <p:cNvSpPr/>
          <p:nvPr/>
        </p:nvSpPr>
        <p:spPr>
          <a:xfrm>
            <a:off x="815340" y="2255520"/>
            <a:ext cx="3429000" cy="205740"/>
          </a:xfrm>
          <a:prstGeom prst="rect">
            <a:avLst/>
          </a:prstGeom>
          <a:noFill/>
          <a:ln/>
        </p:spPr>
        <p:txBody>
          <a:bodyPr wrap="square" lIns="0" tIns="0" rIns="0" bIns="0" rtlCol="0" anchor="t"/>
          <a:lstStyle/>
          <a:p>
            <a:pPr algn="l" indent="0" marL="0">
              <a:lnSpc>
                <a:spcPct val="105000"/>
              </a:lnSpc>
              <a:buNone/>
            </a:pPr>
            <a:r>
              <a:rPr lang="en-US" altLang="en-US" sz="1200" b="1" dirty="0">
                <a:solidFill>
                  <a:srgbClr val="62747A"/>
                </a:solidFill>
                <a:latin typeface="Arial" pitchFamily="34" charset="0"/>
                <a:ea typeface="Arial" pitchFamily="34" charset="-122"/>
                <a:cs typeface="Arial" pitchFamily="34" charset="-120"/>
              </a:rPr>
              <a:t>CONTEXT INPUT</a:t>
            </a:r>
            <a:endParaRPr lang="en-US" sz="1200" dirty="0"/>
          </a:p>
        </p:txBody>
      </p:sp>
      <p:sp>
        <p:nvSpPr>
          <p:cNvPr id="13" name="Text 11"/>
          <p:cNvSpPr/>
          <p:nvPr/>
        </p:nvSpPr>
        <p:spPr>
          <a:xfrm>
            <a:off x="4671060" y="2255520"/>
            <a:ext cx="6606540" cy="205740"/>
          </a:xfrm>
          <a:prstGeom prst="rect">
            <a:avLst/>
          </a:prstGeom>
          <a:noFill/>
          <a:ln/>
        </p:spPr>
        <p:txBody>
          <a:bodyPr wrap="square" lIns="0" tIns="0" rIns="0" bIns="0" rtlCol="0" anchor="t"/>
          <a:lstStyle/>
          <a:p>
            <a:pPr algn="l" indent="0" marL="0">
              <a:lnSpc>
                <a:spcPct val="105000"/>
              </a:lnSpc>
              <a:buNone/>
            </a:pPr>
            <a:r>
              <a:rPr lang="en-US" altLang="en-US" sz="1200" b="1" dirty="0">
                <a:solidFill>
                  <a:srgbClr val="62747A"/>
                </a:solidFill>
                <a:latin typeface="Arial" pitchFamily="34" charset="0"/>
                <a:ea typeface="Arial" pitchFamily="34" charset="-122"/>
                <a:cs typeface="Arial" pitchFamily="34" charset="-120"/>
              </a:rPr>
              <a:t>QUESTION</a:t>
            </a:r>
            <a:endParaRPr lang="en-US" sz="1200" dirty="0"/>
          </a:p>
        </p:txBody>
      </p:sp>
      <p:sp>
        <p:nvSpPr>
          <p:cNvPr id="14" name="Text 12"/>
          <p:cNvSpPr/>
          <p:nvPr/>
        </p:nvSpPr>
        <p:spPr>
          <a:xfrm>
            <a:off x="815340" y="2682240"/>
            <a:ext cx="35052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True context</a:t>
            </a:r>
            <a:endParaRPr lang="en-US" sz="1740" dirty="0"/>
          </a:p>
        </p:txBody>
      </p:sp>
      <p:sp>
        <p:nvSpPr>
          <p:cNvPr id="15" name="Text 13"/>
          <p:cNvSpPr/>
          <p:nvPr/>
        </p:nvSpPr>
        <p:spPr>
          <a:xfrm>
            <a:off x="4671060" y="2682240"/>
            <a:ext cx="660654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Can the policy execute at the unseen height?</a:t>
            </a:r>
            <a:endParaRPr lang="en-US" sz="1740" dirty="0"/>
          </a:p>
        </p:txBody>
      </p:sp>
      <p:sp>
        <p:nvSpPr>
          <p:cNvPr id="16" name="Shape 14"/>
          <p:cNvSpPr/>
          <p:nvPr/>
        </p:nvSpPr>
        <p:spPr>
          <a:xfrm>
            <a:off x="800100" y="3169920"/>
            <a:ext cx="10591800" cy="0"/>
          </a:xfrm>
          <a:prstGeom prst="line">
            <a:avLst/>
          </a:prstGeom>
          <a:noFill/>
          <a:ln w="7620">
            <a:solidFill>
              <a:srgbClr val="D8DFD9"/>
            </a:solidFill>
            <a:prstDash val="solid"/>
          </a:ln>
        </p:spPr>
      </p:sp>
      <p:sp>
        <p:nvSpPr>
          <p:cNvPr id="17" name="Text 15"/>
          <p:cNvSpPr/>
          <p:nvPr/>
        </p:nvSpPr>
        <p:spPr>
          <a:xfrm>
            <a:off x="815340" y="3268980"/>
            <a:ext cx="35052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Estimated context</a:t>
            </a:r>
            <a:endParaRPr lang="en-US" sz="1740" dirty="0"/>
          </a:p>
        </p:txBody>
      </p:sp>
      <p:sp>
        <p:nvSpPr>
          <p:cNvPr id="18" name="Text 16"/>
          <p:cNvSpPr/>
          <p:nvPr/>
        </p:nvSpPr>
        <p:spPr>
          <a:xfrm>
            <a:off x="4671060" y="3268980"/>
            <a:ext cx="660654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How much performance is lost to estimation?</a:t>
            </a:r>
            <a:endParaRPr lang="en-US" sz="1740" dirty="0"/>
          </a:p>
        </p:txBody>
      </p:sp>
      <p:sp>
        <p:nvSpPr>
          <p:cNvPr id="19" name="Shape 17"/>
          <p:cNvSpPr/>
          <p:nvPr/>
        </p:nvSpPr>
        <p:spPr>
          <a:xfrm>
            <a:off x="800100" y="3756660"/>
            <a:ext cx="10591800" cy="0"/>
          </a:xfrm>
          <a:prstGeom prst="line">
            <a:avLst/>
          </a:prstGeom>
          <a:noFill/>
          <a:ln w="7620">
            <a:solidFill>
              <a:srgbClr val="D8DFD9"/>
            </a:solidFill>
            <a:prstDash val="solid"/>
          </a:ln>
        </p:spPr>
      </p:sp>
      <p:sp>
        <p:nvSpPr>
          <p:cNvPr id="20" name="Text 18"/>
          <p:cNvSpPr/>
          <p:nvPr/>
        </p:nvSpPr>
        <p:spPr>
          <a:xfrm>
            <a:off x="815340" y="3855720"/>
            <a:ext cx="35052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Fixed / incorrect context</a:t>
            </a:r>
            <a:endParaRPr lang="en-US" sz="1740" dirty="0"/>
          </a:p>
        </p:txBody>
      </p:sp>
      <p:sp>
        <p:nvSpPr>
          <p:cNvPr id="21" name="Text 19"/>
          <p:cNvSpPr/>
          <p:nvPr/>
        </p:nvSpPr>
        <p:spPr>
          <a:xfrm>
            <a:off x="4671060" y="3855720"/>
            <a:ext cx="660654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Does useful context improve execution?</a:t>
            </a:r>
            <a:endParaRPr lang="en-US" sz="1740" dirty="0"/>
          </a:p>
        </p:txBody>
      </p:sp>
      <p:sp>
        <p:nvSpPr>
          <p:cNvPr id="22" name="Shape 20"/>
          <p:cNvSpPr/>
          <p:nvPr/>
        </p:nvSpPr>
        <p:spPr>
          <a:xfrm>
            <a:off x="609600" y="4754880"/>
            <a:ext cx="304800" cy="304800"/>
          </a:xfrm>
          <a:prstGeom prst="ellipse">
            <a:avLst/>
          </a:prstGeom>
          <a:solidFill>
            <a:srgbClr val="087F7B"/>
          </a:solidFill>
          <a:ln w="12700">
            <a:solidFill>
              <a:srgbClr val="087F7B">
                <a:alpha val="0"/>
              </a:srgbClr>
            </a:solidFill>
            <a:prstDash val="solid"/>
          </a:ln>
        </p:spPr>
      </p:sp>
      <p:sp>
        <p:nvSpPr>
          <p:cNvPr id="23" name="Text 21"/>
          <p:cNvSpPr/>
          <p:nvPr/>
        </p:nvSpPr>
        <p:spPr>
          <a:xfrm>
            <a:off x="609600" y="480060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1</a:t>
            </a:r>
            <a:endParaRPr lang="en-US" sz="1380" dirty="0"/>
          </a:p>
        </p:txBody>
      </p:sp>
      <p:sp>
        <p:nvSpPr>
          <p:cNvPr id="24" name="Text 22"/>
          <p:cNvSpPr/>
          <p:nvPr/>
        </p:nvSpPr>
        <p:spPr>
          <a:xfrm>
            <a:off x="1059180" y="4792980"/>
            <a:ext cx="4808220" cy="281940"/>
          </a:xfrm>
          <a:prstGeom prst="rect">
            <a:avLst/>
          </a:prstGeom>
          <a:noFill/>
          <a:ln/>
        </p:spPr>
        <p:txBody>
          <a:bodyPr wrap="square" lIns="0" tIns="0" rIns="0" bIns="0" rtlCol="0" anchor="t"/>
          <a:lstStyle/>
          <a:p>
            <a:pPr algn="l" indent="0" marL="0">
              <a:lnSpc>
                <a:spcPct val="105000"/>
              </a:lnSpc>
              <a:buNone/>
            </a:pPr>
            <a:r>
              <a:rPr lang="en-US" altLang="en-US" sz="1560" dirty="0">
                <a:solidFill>
                  <a:srgbClr val="183139"/>
                </a:solidFill>
                <a:latin typeface="Arial" pitchFamily="34" charset="0"/>
                <a:ea typeface="Arial" pitchFamily="34" charset="-122"/>
                <a:cs typeface="Arial" pitchFamily="34" charset="-120"/>
              </a:rPr>
              <a:t>Reserve test heights before training.</a:t>
            </a:r>
            <a:endParaRPr lang="en-US" sz="1560" dirty="0"/>
          </a:p>
        </p:txBody>
      </p:sp>
      <p:sp>
        <p:nvSpPr>
          <p:cNvPr id="25" name="Shape 23"/>
          <p:cNvSpPr/>
          <p:nvPr/>
        </p:nvSpPr>
        <p:spPr>
          <a:xfrm>
            <a:off x="6324600" y="4754880"/>
            <a:ext cx="304800" cy="304800"/>
          </a:xfrm>
          <a:prstGeom prst="ellipse">
            <a:avLst/>
          </a:prstGeom>
          <a:solidFill>
            <a:srgbClr val="087F7B"/>
          </a:solidFill>
          <a:ln w="12700">
            <a:solidFill>
              <a:srgbClr val="087F7B">
                <a:alpha val="0"/>
              </a:srgbClr>
            </a:solidFill>
            <a:prstDash val="solid"/>
          </a:ln>
        </p:spPr>
      </p:sp>
      <p:sp>
        <p:nvSpPr>
          <p:cNvPr id="26" name="Text 24"/>
          <p:cNvSpPr/>
          <p:nvPr/>
        </p:nvSpPr>
        <p:spPr>
          <a:xfrm>
            <a:off x="6324600" y="480060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2</a:t>
            </a:r>
            <a:endParaRPr lang="en-US" sz="1380" dirty="0"/>
          </a:p>
        </p:txBody>
      </p:sp>
      <p:sp>
        <p:nvSpPr>
          <p:cNvPr id="27" name="Text 25"/>
          <p:cNvSpPr/>
          <p:nvPr/>
        </p:nvSpPr>
        <p:spPr>
          <a:xfrm>
            <a:off x="6774180" y="4792980"/>
            <a:ext cx="4808220" cy="281940"/>
          </a:xfrm>
          <a:prstGeom prst="rect">
            <a:avLst/>
          </a:prstGeom>
          <a:noFill/>
          <a:ln/>
        </p:spPr>
        <p:txBody>
          <a:bodyPr wrap="square" lIns="0" tIns="0" rIns="0" bIns="0" rtlCol="0" anchor="t"/>
          <a:lstStyle/>
          <a:p>
            <a:pPr algn="l" indent="0" marL="0">
              <a:lnSpc>
                <a:spcPct val="105000"/>
              </a:lnSpc>
              <a:buNone/>
            </a:pPr>
            <a:r>
              <a:rPr lang="en-US" altLang="en-US" sz="1560" dirty="0">
                <a:solidFill>
                  <a:srgbClr val="183139"/>
                </a:solidFill>
                <a:latin typeface="Arial" pitchFamily="34" charset="0"/>
                <a:ea typeface="Arial" pitchFamily="34" charset="-122"/>
                <a:cs typeface="Arial" pitchFamily="34" charset="-120"/>
              </a:rPr>
              <a:t>Match physical scenes and starts.</a:t>
            </a:r>
            <a:endParaRPr lang="en-US" sz="1560" dirty="0"/>
          </a:p>
        </p:txBody>
      </p:sp>
      <p:sp>
        <p:nvSpPr>
          <p:cNvPr id="28" name="Shape 26"/>
          <p:cNvSpPr/>
          <p:nvPr/>
        </p:nvSpPr>
        <p:spPr>
          <a:xfrm>
            <a:off x="609600" y="5570220"/>
            <a:ext cx="304800" cy="304800"/>
          </a:xfrm>
          <a:prstGeom prst="ellipse">
            <a:avLst/>
          </a:prstGeom>
          <a:solidFill>
            <a:srgbClr val="087F7B"/>
          </a:solidFill>
          <a:ln w="12700">
            <a:solidFill>
              <a:srgbClr val="087F7B">
                <a:alpha val="0"/>
              </a:srgbClr>
            </a:solidFill>
            <a:prstDash val="solid"/>
          </a:ln>
        </p:spPr>
      </p:sp>
      <p:sp>
        <p:nvSpPr>
          <p:cNvPr id="29" name="Text 27"/>
          <p:cNvSpPr/>
          <p:nvPr/>
        </p:nvSpPr>
        <p:spPr>
          <a:xfrm>
            <a:off x="609600" y="561594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3</a:t>
            </a:r>
            <a:endParaRPr lang="en-US" sz="1380" dirty="0"/>
          </a:p>
        </p:txBody>
      </p:sp>
      <p:sp>
        <p:nvSpPr>
          <p:cNvPr id="30" name="Text 28"/>
          <p:cNvSpPr/>
          <p:nvPr/>
        </p:nvSpPr>
        <p:spPr>
          <a:xfrm>
            <a:off x="1059180" y="5608320"/>
            <a:ext cx="4808220" cy="281940"/>
          </a:xfrm>
          <a:prstGeom prst="rect">
            <a:avLst/>
          </a:prstGeom>
          <a:noFill/>
          <a:ln/>
        </p:spPr>
        <p:txBody>
          <a:bodyPr wrap="square" lIns="0" tIns="0" rIns="0" bIns="0" rtlCol="0" anchor="t"/>
          <a:lstStyle/>
          <a:p>
            <a:pPr algn="l" indent="0" marL="0">
              <a:lnSpc>
                <a:spcPct val="105000"/>
              </a:lnSpc>
              <a:buNone/>
            </a:pPr>
            <a:r>
              <a:rPr lang="en-US" altLang="en-US" sz="1560" dirty="0">
                <a:solidFill>
                  <a:srgbClr val="183139"/>
                </a:solidFill>
                <a:latin typeface="Arial" pitchFamily="34" charset="0"/>
                <a:ea typeface="Arial" pitchFamily="34" charset="-122"/>
                <a:cs typeface="Arial" pitchFamily="34" charset="-120"/>
              </a:rPr>
              <a:t>Freeze models; predefine held success.</a:t>
            </a:r>
            <a:endParaRPr lang="en-US" sz="1560" dirty="0"/>
          </a:p>
        </p:txBody>
      </p:sp>
      <p:sp>
        <p:nvSpPr>
          <p:cNvPr id="31" name="Shape 29"/>
          <p:cNvSpPr/>
          <p:nvPr/>
        </p:nvSpPr>
        <p:spPr>
          <a:xfrm>
            <a:off x="6324600" y="5570220"/>
            <a:ext cx="304800" cy="304800"/>
          </a:xfrm>
          <a:prstGeom prst="ellipse">
            <a:avLst/>
          </a:prstGeom>
          <a:solidFill>
            <a:srgbClr val="087F7B"/>
          </a:solidFill>
          <a:ln w="12700">
            <a:solidFill>
              <a:srgbClr val="087F7B">
                <a:alpha val="0"/>
              </a:srgbClr>
            </a:solidFill>
            <a:prstDash val="solid"/>
          </a:ln>
        </p:spPr>
      </p:sp>
      <p:sp>
        <p:nvSpPr>
          <p:cNvPr id="32" name="Text 30"/>
          <p:cNvSpPr/>
          <p:nvPr/>
        </p:nvSpPr>
        <p:spPr>
          <a:xfrm>
            <a:off x="6324600" y="561594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4</a:t>
            </a:r>
            <a:endParaRPr lang="en-US" sz="1380" dirty="0"/>
          </a:p>
        </p:txBody>
      </p:sp>
      <p:sp>
        <p:nvSpPr>
          <p:cNvPr id="33" name="Text 31"/>
          <p:cNvSpPr/>
          <p:nvPr/>
        </p:nvSpPr>
        <p:spPr>
          <a:xfrm>
            <a:off x="6774180" y="5608320"/>
            <a:ext cx="4808220" cy="281940"/>
          </a:xfrm>
          <a:prstGeom prst="rect">
            <a:avLst/>
          </a:prstGeom>
          <a:noFill/>
          <a:ln/>
        </p:spPr>
        <p:txBody>
          <a:bodyPr wrap="square" lIns="0" tIns="0" rIns="0" bIns="0" rtlCol="0" anchor="t"/>
          <a:lstStyle/>
          <a:p>
            <a:pPr algn="l" indent="0" marL="0">
              <a:lnSpc>
                <a:spcPct val="105000"/>
              </a:lnSpc>
              <a:buNone/>
            </a:pPr>
            <a:r>
              <a:rPr lang="en-US" altLang="en-US" sz="1560" dirty="0">
                <a:solidFill>
                  <a:srgbClr val="183139"/>
                </a:solidFill>
                <a:latin typeface="Arial" pitchFamily="34" charset="0"/>
                <a:ea typeface="Arial" pitchFamily="34" charset="-122"/>
                <a:cs typeface="Arial" pitchFamily="34" charset="-120"/>
              </a:rPr>
              <a:t>Remove true copies of estimated inputs.</a:t>
            </a:r>
            <a:endParaRPr lang="en-US" sz="15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08 · STATUS AND NEXT STEP</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420" b="1" dirty="0">
                <a:solidFill>
                  <a:srgbClr val="183139"/>
                </a:solidFill>
                <a:latin typeface="Arial" pitchFamily="34" charset="0"/>
                <a:ea typeface="Arial" pitchFamily="34" charset="-122"/>
                <a:cs typeface="Arial" pitchFamily="34" charset="-120"/>
              </a:rPr>
              <a:t>What we can say now—and test next</a:t>
            </a:r>
            <a:endParaRPr lang="en-US" sz="342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Current evidence supports the components; the proposed comparison must establish adaptation.</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ROBOT ADAPTATION  /  PI RESEARCH UPDATE</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08 / 08</a:t>
            </a:r>
            <a:endParaRPr lang="en-US" sz="1140" dirty="0"/>
          </a:p>
        </p:txBody>
      </p:sp>
      <p:sp>
        <p:nvSpPr>
          <p:cNvPr id="10" name="Shape 8"/>
          <p:cNvSpPr/>
          <p:nvPr/>
        </p:nvSpPr>
        <p:spPr>
          <a:xfrm>
            <a:off x="609600" y="2164080"/>
            <a:ext cx="5257800" cy="2621280"/>
          </a:xfrm>
          <a:prstGeom prst="roundRect">
            <a:avLst/>
          </a:prstGeom>
          <a:solidFill>
            <a:srgbClr val="E1EFEB"/>
          </a:solidFill>
          <a:ln w="12700">
            <a:solidFill>
              <a:srgbClr val="E1EFEB">
                <a:alpha val="0"/>
              </a:srgbClr>
            </a:solidFill>
            <a:prstDash val="solid"/>
          </a:ln>
        </p:spPr>
      </p:sp>
      <p:sp>
        <p:nvSpPr>
          <p:cNvPr id="11" name="Shape 9"/>
          <p:cNvSpPr/>
          <p:nvPr/>
        </p:nvSpPr>
        <p:spPr>
          <a:xfrm>
            <a:off x="6324600" y="2164080"/>
            <a:ext cx="5257800" cy="2621280"/>
          </a:xfrm>
          <a:prstGeom prst="roundRect">
            <a:avLst/>
          </a:prstGeom>
          <a:solidFill>
            <a:srgbClr val="FFFFFF"/>
          </a:solidFill>
          <a:ln w="12700">
            <a:solidFill>
              <a:srgbClr val="FFFFFF">
                <a:alpha val="0"/>
              </a:srgbClr>
            </a:solidFill>
            <a:prstDash val="solid"/>
          </a:ln>
        </p:spPr>
      </p:sp>
      <p:sp>
        <p:nvSpPr>
          <p:cNvPr id="12" name="Shape 10"/>
          <p:cNvSpPr/>
          <p:nvPr/>
        </p:nvSpPr>
        <p:spPr>
          <a:xfrm>
            <a:off x="845820" y="2385060"/>
            <a:ext cx="2019300" cy="289560"/>
          </a:xfrm>
          <a:prstGeom prst="roundRect">
            <a:avLst/>
          </a:prstGeom>
          <a:solidFill>
            <a:srgbClr val="087F7B"/>
          </a:solidFill>
          <a:ln w="12700">
            <a:solidFill>
              <a:srgbClr val="087F7B">
                <a:alpha val="0"/>
              </a:srgbClr>
            </a:solidFill>
            <a:prstDash val="solid"/>
          </a:ln>
        </p:spPr>
      </p:sp>
      <p:sp>
        <p:nvSpPr>
          <p:cNvPr id="13" name="Text 11"/>
          <p:cNvSpPr/>
          <p:nvPr/>
        </p:nvSpPr>
        <p:spPr>
          <a:xfrm>
            <a:off x="845820" y="2430780"/>
            <a:ext cx="2019300" cy="205740"/>
          </a:xfrm>
          <a:prstGeom prst="rect">
            <a:avLst/>
          </a:prstGeom>
          <a:noFill/>
          <a:ln/>
        </p:spPr>
        <p:txBody>
          <a:bodyPr wrap="square" lIns="0" tIns="0" rIns="0" bIns="0" rtlCol="0" anchor="t"/>
          <a:lstStyle/>
          <a:p>
            <a:pPr algn="ctr" indent="0" marL="0">
              <a:lnSpc>
                <a:spcPct val="105000"/>
              </a:lnSpc>
              <a:buNone/>
            </a:pPr>
            <a:r>
              <a:rPr lang="en-US" altLang="en-US" sz="1140" b="1" dirty="0">
                <a:solidFill>
                  <a:srgbClr val="FFFFFF"/>
                </a:solidFill>
                <a:latin typeface="Arial" pitchFamily="34" charset="0"/>
                <a:ea typeface="Arial" pitchFamily="34" charset="-122"/>
                <a:cs typeface="Arial" pitchFamily="34" charset="-120"/>
              </a:rPr>
              <a:t>DEMONSTRATED</a:t>
            </a:r>
            <a:endParaRPr lang="en-US" sz="1140" dirty="0"/>
          </a:p>
        </p:txBody>
      </p:sp>
      <p:sp>
        <p:nvSpPr>
          <p:cNvPr id="14" name="Shape 12"/>
          <p:cNvSpPr/>
          <p:nvPr/>
        </p:nvSpPr>
        <p:spPr>
          <a:xfrm>
            <a:off x="6560820" y="2385060"/>
            <a:ext cx="2286000" cy="289560"/>
          </a:xfrm>
          <a:prstGeom prst="roundRect">
            <a:avLst/>
          </a:prstGeom>
          <a:solidFill>
            <a:srgbClr val="E8ECE8"/>
          </a:solidFill>
          <a:ln w="12700">
            <a:solidFill>
              <a:srgbClr val="E8ECE8">
                <a:alpha val="0"/>
              </a:srgbClr>
            </a:solidFill>
            <a:prstDash val="solid"/>
          </a:ln>
        </p:spPr>
      </p:sp>
      <p:sp>
        <p:nvSpPr>
          <p:cNvPr id="15" name="Text 13"/>
          <p:cNvSpPr/>
          <p:nvPr/>
        </p:nvSpPr>
        <p:spPr>
          <a:xfrm>
            <a:off x="6560820" y="2430780"/>
            <a:ext cx="2286000" cy="205740"/>
          </a:xfrm>
          <a:prstGeom prst="rect">
            <a:avLst/>
          </a:prstGeom>
          <a:noFill/>
          <a:ln/>
        </p:spPr>
        <p:txBody>
          <a:bodyPr wrap="square" lIns="0" tIns="0" rIns="0" bIns="0" rtlCol="0" anchor="t"/>
          <a:lstStyle/>
          <a:p>
            <a:pPr algn="ct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NEXT EXPERIMENT</a:t>
            </a:r>
            <a:endParaRPr lang="en-US" sz="1140" dirty="0"/>
          </a:p>
        </p:txBody>
      </p:sp>
      <p:sp>
        <p:nvSpPr>
          <p:cNvPr id="16" name="Text 14"/>
          <p:cNvSpPr/>
          <p:nvPr/>
        </p:nvSpPr>
        <p:spPr>
          <a:xfrm>
            <a:off x="853440" y="2987040"/>
            <a:ext cx="4724400" cy="304800"/>
          </a:xfrm>
          <a:prstGeom prst="rect">
            <a:avLst/>
          </a:prstGeom>
          <a:noFill/>
          <a:ln/>
        </p:spPr>
        <p:txBody>
          <a:bodyPr wrap="square" lIns="0" tIns="0" rIns="0" bIns="0" rtlCol="0" anchor="t"/>
          <a:lstStyle/>
          <a:p>
            <a:pPr algn="l" indent="0" marL="0">
              <a:lnSpc>
                <a:spcPct val="105000"/>
              </a:lnSpc>
              <a:buNone/>
            </a:pPr>
            <a:r>
              <a:rPr lang="en-US" altLang="en-US" sz="1800" b="1" dirty="0">
                <a:solidFill>
                  <a:srgbClr val="183139"/>
                </a:solidFill>
                <a:latin typeface="Arial" pitchFamily="34" charset="0"/>
                <a:ea typeface="Arial" pitchFamily="34" charset="-122"/>
                <a:cs typeface="Arial" pitchFamily="34" charset="-120"/>
              </a:rPr>
              <a:t>Controlled image-to-mass estimate</a:t>
            </a:r>
            <a:endParaRPr lang="en-US" sz="1800" dirty="0"/>
          </a:p>
        </p:txBody>
      </p:sp>
      <p:sp>
        <p:nvSpPr>
          <p:cNvPr id="17" name="Text 15"/>
          <p:cNvSpPr/>
          <p:nvPr/>
        </p:nvSpPr>
        <p:spPr>
          <a:xfrm>
            <a:off x="853440" y="3337560"/>
            <a:ext cx="47244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2.76 g MAE on held-out cube sizes</a:t>
            </a:r>
            <a:endParaRPr lang="en-US" sz="1560" dirty="0"/>
          </a:p>
        </p:txBody>
      </p:sp>
      <p:sp>
        <p:nvSpPr>
          <p:cNvPr id="18" name="Text 16"/>
          <p:cNvSpPr/>
          <p:nvPr/>
        </p:nvSpPr>
        <p:spPr>
          <a:xfrm>
            <a:off x="853440" y="3832860"/>
            <a:ext cx="4724400" cy="304800"/>
          </a:xfrm>
          <a:prstGeom prst="rect">
            <a:avLst/>
          </a:prstGeom>
          <a:noFill/>
          <a:ln/>
        </p:spPr>
        <p:txBody>
          <a:bodyPr wrap="square" lIns="0" tIns="0" rIns="0" bIns="0" rtlCol="0" anchor="t"/>
          <a:lstStyle/>
          <a:p>
            <a:pPr algn="l" indent="0" marL="0">
              <a:lnSpc>
                <a:spcPct val="105000"/>
              </a:lnSpc>
              <a:buNone/>
            </a:pPr>
            <a:r>
              <a:rPr lang="en-US" altLang="en-US" sz="1800" b="1" dirty="0">
                <a:solidFill>
                  <a:srgbClr val="183139"/>
                </a:solidFill>
                <a:latin typeface="Arial" pitchFamily="34" charset="0"/>
                <a:ea typeface="Arial" pitchFamily="34" charset="-122"/>
                <a:cs typeface="Arial" pitchFamily="34" charset="-120"/>
              </a:rPr>
              <a:t>Estimator-to-policy integration</a:t>
            </a:r>
            <a:endParaRPr lang="en-US" sz="1800" dirty="0"/>
          </a:p>
        </p:txBody>
      </p:sp>
      <p:sp>
        <p:nvSpPr>
          <p:cNvPr id="19" name="Text 17"/>
          <p:cNvSpPr/>
          <p:nvPr/>
        </p:nvSpPr>
        <p:spPr>
          <a:xfrm>
            <a:off x="853440" y="4183380"/>
            <a:ext cx="47244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Three configured full-horizon successes</a:t>
            </a:r>
            <a:endParaRPr lang="en-US" sz="1560" dirty="0"/>
          </a:p>
        </p:txBody>
      </p:sp>
      <p:sp>
        <p:nvSpPr>
          <p:cNvPr id="20" name="Text 18"/>
          <p:cNvSpPr/>
          <p:nvPr/>
        </p:nvSpPr>
        <p:spPr>
          <a:xfrm>
            <a:off x="6568440" y="2987040"/>
            <a:ext cx="4724400" cy="304800"/>
          </a:xfrm>
          <a:prstGeom prst="rect">
            <a:avLst/>
          </a:prstGeom>
          <a:noFill/>
          <a:ln/>
        </p:spPr>
        <p:txBody>
          <a:bodyPr wrap="square" lIns="0" tIns="0" rIns="0" bIns="0" rtlCol="0" anchor="t"/>
          <a:lstStyle/>
          <a:p>
            <a:pPr algn="l" indent="0" marL="0">
              <a:lnSpc>
                <a:spcPct val="105000"/>
              </a:lnSpc>
              <a:buNone/>
            </a:pPr>
            <a:r>
              <a:rPr lang="en-US" altLang="en-US" sz="1800" b="1" dirty="0">
                <a:solidFill>
                  <a:srgbClr val="183139"/>
                </a:solidFill>
                <a:latin typeface="Arial" pitchFamily="34" charset="0"/>
                <a:ea typeface="Arial" pitchFamily="34" charset="-122"/>
                <a:cs typeface="Arial" pitchFamily="34" charset="-120"/>
              </a:rPr>
              <a:t>Train across initial object heights</a:t>
            </a:r>
            <a:endParaRPr lang="en-US" sz="1800" dirty="0"/>
          </a:p>
        </p:txBody>
      </p:sp>
      <p:sp>
        <p:nvSpPr>
          <p:cNvPr id="21" name="Text 19"/>
          <p:cNvSpPr/>
          <p:nvPr/>
        </p:nvSpPr>
        <p:spPr>
          <a:xfrm>
            <a:off x="6568440" y="3337560"/>
            <a:ext cx="47244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Establish policy capability with true context</a:t>
            </a:r>
            <a:endParaRPr lang="en-US" sz="1560" dirty="0"/>
          </a:p>
        </p:txBody>
      </p:sp>
      <p:sp>
        <p:nvSpPr>
          <p:cNvPr id="22" name="Text 20"/>
          <p:cNvSpPr/>
          <p:nvPr/>
        </p:nvSpPr>
        <p:spPr>
          <a:xfrm>
            <a:off x="6568440" y="3832860"/>
            <a:ext cx="4724400" cy="281940"/>
          </a:xfrm>
          <a:prstGeom prst="rect">
            <a:avLst/>
          </a:prstGeom>
          <a:noFill/>
          <a:ln/>
        </p:spPr>
        <p:txBody>
          <a:bodyPr wrap="square" lIns="0" tIns="0" rIns="0" bIns="0" rtlCol="0" anchor="t"/>
          <a:lstStyle/>
          <a:p>
            <a:pPr algn="l" indent="0" marL="0">
              <a:lnSpc>
                <a:spcPct val="105000"/>
              </a:lnSpc>
              <a:buNone/>
            </a:pPr>
            <a:r>
              <a:rPr lang="en-US" altLang="en-US" sz="1680" b="1" dirty="0">
                <a:solidFill>
                  <a:srgbClr val="183139"/>
                </a:solidFill>
                <a:latin typeface="Arial" pitchFamily="34" charset="0"/>
                <a:ea typeface="Arial" pitchFamily="34" charset="-122"/>
                <a:cs typeface="Arial" pitchFamily="34" charset="-120"/>
              </a:rPr>
              <a:t>Evaluate estimated context at held-out heights</a:t>
            </a:r>
            <a:endParaRPr lang="en-US" sz="1680" dirty="0"/>
          </a:p>
        </p:txBody>
      </p:sp>
      <p:sp>
        <p:nvSpPr>
          <p:cNvPr id="23" name="Text 21"/>
          <p:cNvSpPr/>
          <p:nvPr/>
        </p:nvSpPr>
        <p:spPr>
          <a:xfrm>
            <a:off x="6568440" y="4183380"/>
            <a:ext cx="47244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Compare against true and fixed inputs</a:t>
            </a:r>
            <a:endParaRPr lang="en-US" sz="1560" dirty="0"/>
          </a:p>
        </p:txBody>
      </p:sp>
      <p:sp>
        <p:nvSpPr>
          <p:cNvPr id="24" name="Text 22"/>
          <p:cNvSpPr/>
          <p:nvPr/>
        </p:nvSpPr>
        <p:spPr>
          <a:xfrm>
            <a:off x="609600" y="5204460"/>
            <a:ext cx="109728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If true context fails: inspect policy capability and task feasibility.</a:t>
            </a:r>
            <a:endParaRPr lang="en-US" sz="1740" dirty="0"/>
          </a:p>
        </p:txBody>
      </p:sp>
      <p:sp>
        <p:nvSpPr>
          <p:cNvPr id="25" name="Text 23"/>
          <p:cNvSpPr/>
          <p:nvPr/>
        </p:nvSpPr>
        <p:spPr>
          <a:xfrm>
            <a:off x="609600" y="5593080"/>
            <a:ext cx="109728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If true context succeeds but estimates fail: inspect estimation and policy sensitivity.</a:t>
            </a:r>
            <a:endParaRPr lang="en-US" sz="1740" dirty="0"/>
          </a:p>
        </p:txBody>
      </p:sp>
      <p:sp>
        <p:nvSpPr>
          <p:cNvPr id="26" name="Text 24"/>
          <p:cNvSpPr/>
          <p:nvPr/>
        </p:nvSpPr>
        <p:spPr>
          <a:xfrm>
            <a:off x="609600" y="6057900"/>
            <a:ext cx="10972800" cy="266700"/>
          </a:xfrm>
          <a:prstGeom prst="rect">
            <a:avLst/>
          </a:prstGeom>
          <a:noFill/>
          <a:ln/>
        </p:spPr>
        <p:txBody>
          <a:bodyPr wrap="square" lIns="0" tIns="0" rIns="0" bIns="0" rtlCol="0" anchor="t"/>
          <a:lstStyle/>
          <a:p>
            <a:pPr algn="l" indent="0" marL="0">
              <a:lnSpc>
                <a:spcPct val="105000"/>
              </a:lnSpc>
              <a:buNone/>
            </a:pPr>
            <a:r>
              <a:rPr lang="en-US" altLang="en-US" sz="1560" dirty="0">
                <a:solidFill>
                  <a:srgbClr val="62747A"/>
                </a:solidFill>
                <a:latin typeface="Arial" pitchFamily="34" charset="0"/>
                <a:ea typeface="Arial" pitchFamily="34" charset="-122"/>
                <a:cs typeface="Arial" pitchFamily="34" charset="-120"/>
              </a:rPr>
              <a:t>Later stage: revise environmental estimates through interaction, success, and failure.</a:t>
            </a:r>
            <a:endParaRPr lang="en-US" sz="15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adaptation: idea, evidence, and unseen-height experiment</dc:title>
  <dc:subject>Research idea for mentor discussion</dc:subject>
  <dc:creator/>
  <cp:lastModifiedBy/>
  <cp:revision>1</cp:revision>
  <dcterms:created xsi:type="dcterms:W3CDTF">2026-10-22T15:37:50Z</dcterms:created>
  <dcterms:modified xsi:type="dcterms:W3CDTF">2026-10-22T15:37:50Z</dcterms:modified>
</cp:coreProperties>
</file>