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 question: How can robots at deployment handle situations they were not exposed to during training? One motivation is the gap between expected physical conditions and the actual environment. The drawing is a conceptual illustration, not an experimental result. The same object can behave differently when its physical properties differ from what the system assumes.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is that a policy trained over a range of physical conditions can use an approximation of the current environment as an input. The policy is part of the experimental setup. The contribution studied here is formation of the initial physical estimate. Later work may revise that estimate through interaction. No perfect-performance guarantee is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experiment, understanding the world means estimating task-relevant physical properties well enough to support execution. In the broader problem a robot may need an objective and a range of solutions. Here we supply the objective and a particular solution family. Movement adaptation and general decision-making are outside the current research focus. The trained controller is used to test whether the initial physical estimate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to pick up an object and lift it. We choose a top-down approach, grasp, and vertical lift in advance. This is a deliberate restriction: the experiment studies the robot’s initial approximation of physical conditions while keeping the high-level task and grasp strategy fixed. The diagrams are schematic, not a proposed new movement-learning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 the environment using a selected set of variables. We propose using CREST to identify relevant context variables so that representation and computation remain manageable. The variable names shown are examples, not a reported selection result. Train the conditioned policy in simulation over variation in the modeled physical context. CREST relevance is conditional on the tested task, controller, ranges, and simulator; it does not guarantee complete coverage of real-world physics. Reference: Lee et al., Causal Reasoning in Simulation for Structure and Transfer Learning of Robot Manipulation Policies, ICRA 2021, https://arxiv.org/abs/2103.16772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deployment, initial observations are used to estimate the selected physical properties. The diagram illustrates a possible observation pathway; the sensing method is part of the experimental design. The estimates are supplied to the policy trained in simulation. We study how this initial approximation is formed and whether it supports execution. The representation can be approximate, but its usefulness is an empirical question. Correct selected parameters do not guarantee perfect performance, because omitted effects, policy limitations, and physical constraints can remain. This slide is a proposed setup, not a reported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stage studies how a robot forms an initial approximation of the physical environment for a fixed manipulation task. A later stage can study how the robot revises that approximation using interaction, including observed responses associated with successes and failures. Outcome alone may not identify the cause; trajectories and sensor observations can provide richer evidence. Interaction-based refinement is future work and is not presented as part of the current contribution. The deck communicates a research idea and contains no newly claimed experimental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01 · MOTIVATION</a:t>
            </a:r>
            <a:endParaRPr lang="en-US" sz="1140" dirty="0"/>
          </a:p>
        </p:txBody>
      </p:sp>
      <p:sp>
        <p:nvSpPr>
          <p:cNvPr id="5" name="Text 3"/>
          <p:cNvSpPr/>
          <p:nvPr/>
        </p:nvSpPr>
        <p:spPr>
          <a:xfrm>
            <a:off x="579120" y="731520"/>
            <a:ext cx="11049000" cy="1120140"/>
          </a:xfrm>
          <a:prstGeom prst="rect">
            <a:avLst/>
          </a:prstGeom>
          <a:noFill/>
          <a:ln/>
        </p:spPr>
        <p:txBody>
          <a:bodyPr wrap="square" lIns="0" tIns="0" rIns="0" bIns="0" rtlCol="0" anchor="t"/>
          <a:lstStyle/>
          <a:p>
            <a:pPr algn="l" indent="0" marL="0">
              <a:lnSpc>
                <a:spcPct val="105000"/>
              </a:lnSpc>
              <a:buNone/>
            </a:pPr>
            <a:r>
              <a:rPr lang="en-US" altLang="en-US" sz="3900" b="1" dirty="0">
                <a:solidFill>
                  <a:srgbClr val="183139"/>
                </a:solidFill>
                <a:latin typeface="Arial" pitchFamily="34" charset="0"/>
                <a:ea typeface="Arial" pitchFamily="34" charset="-122"/>
                <a:cs typeface="Arial" pitchFamily="34" charset="-120"/>
              </a:rPr>
              <a:t>When expected physics</a:t>
            </a:r>
            <a:endParaRPr lang="en-US" sz="3900" dirty="0"/>
          </a:p>
          <a:p>
            <a:pPr algn="l" indent="0" marL="0">
              <a:lnSpc>
                <a:spcPct val="105000"/>
              </a:lnSpc>
              <a:buNone/>
            </a:pPr>
            <a:r>
              <a:rPr lang="en-US" altLang="en-US" sz="3900" b="1" dirty="0">
                <a:solidFill>
                  <a:srgbClr val="183139"/>
                </a:solidFill>
                <a:latin typeface="Arial" pitchFamily="34" charset="0"/>
                <a:ea typeface="Arial" pitchFamily="34" charset="-122"/>
                <a:cs typeface="Arial" pitchFamily="34" charset="-120"/>
              </a:rPr>
              <a:t>meets the real world</a:t>
            </a:r>
            <a:endParaRPr lang="en-US" sz="3900" dirty="0"/>
          </a:p>
        </p:txBody>
      </p:sp>
      <p:sp>
        <p:nvSpPr>
          <p:cNvPr id="6" name="Text 4"/>
          <p:cNvSpPr/>
          <p:nvPr/>
        </p:nvSpPr>
        <p:spPr>
          <a:xfrm>
            <a:off x="609600" y="2065020"/>
            <a:ext cx="10896600" cy="61722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How can robots handle deployment conditions</a:t>
            </a:r>
            <a:endParaRPr lang="en-US" sz="1800" dirty="0"/>
          </a:p>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they did not encounter during training?</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INITIAL PHYSICAL UNDERSTANDING  /  MENTOR DISCUSSION</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01 / 07</a:t>
            </a:r>
            <a:endParaRPr lang="en-US" sz="1140" dirty="0"/>
          </a:p>
        </p:txBody>
      </p:sp>
      <p:sp>
        <p:nvSpPr>
          <p:cNvPr id="10" name="Shape 8"/>
          <p:cNvSpPr/>
          <p:nvPr/>
        </p:nvSpPr>
        <p:spPr>
          <a:xfrm>
            <a:off x="609600" y="3025140"/>
            <a:ext cx="4762500" cy="2628900"/>
          </a:xfrm>
          <a:prstGeom prst="roundRect">
            <a:avLst/>
          </a:prstGeom>
          <a:solidFill>
            <a:srgbClr val="FFFFFF"/>
          </a:solidFill>
          <a:ln w="12700">
            <a:solidFill>
              <a:srgbClr val="FFFFFF">
                <a:alpha val="0"/>
              </a:srgbClr>
            </a:solidFill>
            <a:prstDash val="solid"/>
          </a:ln>
        </p:spPr>
      </p:sp>
      <p:sp>
        <p:nvSpPr>
          <p:cNvPr id="11" name="Shape 9"/>
          <p:cNvSpPr/>
          <p:nvPr/>
        </p:nvSpPr>
        <p:spPr>
          <a:xfrm>
            <a:off x="6819900" y="3025140"/>
            <a:ext cx="4762500" cy="2628900"/>
          </a:xfrm>
          <a:prstGeom prst="roundRect">
            <a:avLst/>
          </a:prstGeom>
          <a:solidFill>
            <a:srgbClr val="F3E5DD"/>
          </a:solidFill>
          <a:ln w="12700">
            <a:solidFill>
              <a:srgbClr val="F3E5DD">
                <a:alpha val="0"/>
              </a:srgbClr>
            </a:solidFill>
            <a:prstDash val="solid"/>
          </a:ln>
        </p:spPr>
      </p:sp>
      <p:sp>
        <p:nvSpPr>
          <p:cNvPr id="12" name="Text 10"/>
          <p:cNvSpPr/>
          <p:nvPr/>
        </p:nvSpPr>
        <p:spPr>
          <a:xfrm>
            <a:off x="838200" y="3208020"/>
            <a:ext cx="4114800" cy="289560"/>
          </a:xfrm>
          <a:prstGeom prst="rect">
            <a:avLst/>
          </a:prstGeom>
          <a:noFill/>
          <a:ln/>
        </p:spPr>
        <p:txBody>
          <a:bodyPr wrap="square" lIns="0" tIns="0" rIns="0" bIns="0" rtlCol="0" anchor="t"/>
          <a:lstStyle/>
          <a:p>
            <a:pPr algn="l"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Expected conditions</a:t>
            </a:r>
            <a:endParaRPr lang="en-US" sz="1740" dirty="0"/>
          </a:p>
        </p:txBody>
      </p:sp>
      <p:sp>
        <p:nvSpPr>
          <p:cNvPr id="13" name="Text 11"/>
          <p:cNvSpPr/>
          <p:nvPr/>
        </p:nvSpPr>
        <p:spPr>
          <a:xfrm>
            <a:off x="7048500" y="3208020"/>
            <a:ext cx="4114800" cy="289560"/>
          </a:xfrm>
          <a:prstGeom prst="rect">
            <a:avLst/>
          </a:prstGeom>
          <a:noFill/>
          <a:ln/>
        </p:spPr>
        <p:txBody>
          <a:bodyPr wrap="square" lIns="0" tIns="0" rIns="0" bIns="0" rtlCol="0" anchor="t"/>
          <a:lstStyle/>
          <a:p>
            <a:pPr algn="l"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Actual conditions</a:t>
            </a:r>
            <a:endParaRPr lang="en-US" sz="1740" dirty="0"/>
          </a:p>
        </p:txBody>
      </p:sp>
      <p:sp>
        <p:nvSpPr>
          <p:cNvPr id="14" name="Shape 12"/>
          <p:cNvSpPr/>
          <p:nvPr/>
        </p:nvSpPr>
        <p:spPr>
          <a:xfrm>
            <a:off x="2901365" y="5164520"/>
            <a:ext cx="1383447" cy="0"/>
          </a:xfrm>
          <a:prstGeom prst="line">
            <a:avLst/>
          </a:prstGeom>
          <a:noFill/>
          <a:ln w="28525">
            <a:solidFill>
              <a:srgbClr val="93A5AA"/>
            </a:solidFill>
            <a:prstDash val="solid"/>
          </a:ln>
        </p:spPr>
      </p:sp>
      <p:sp>
        <p:nvSpPr>
          <p:cNvPr id="15" name="Shape 13"/>
          <p:cNvSpPr/>
          <p:nvPr/>
        </p:nvSpPr>
        <p:spPr>
          <a:xfrm>
            <a:off x="3036858" y="5178782"/>
            <a:ext cx="0" cy="221066"/>
          </a:xfrm>
          <a:prstGeom prst="line">
            <a:avLst/>
          </a:prstGeom>
          <a:noFill/>
          <a:ln w="35656">
            <a:solidFill>
              <a:srgbClr val="D8DFD9"/>
            </a:solidFill>
            <a:prstDash val="solid"/>
          </a:ln>
        </p:spPr>
      </p:sp>
      <p:sp>
        <p:nvSpPr>
          <p:cNvPr id="16" name="Shape 14"/>
          <p:cNvSpPr/>
          <p:nvPr/>
        </p:nvSpPr>
        <p:spPr>
          <a:xfrm>
            <a:off x="4170714" y="5178782"/>
            <a:ext cx="0" cy="221066"/>
          </a:xfrm>
          <a:prstGeom prst="line">
            <a:avLst/>
          </a:prstGeom>
          <a:noFill/>
          <a:ln w="35656">
            <a:solidFill>
              <a:srgbClr val="D8DFD9"/>
            </a:solidFill>
            <a:prstDash val="solid"/>
          </a:ln>
        </p:spPr>
      </p:sp>
      <p:sp>
        <p:nvSpPr>
          <p:cNvPr id="17" name="Shape 15"/>
          <p:cNvSpPr/>
          <p:nvPr/>
        </p:nvSpPr>
        <p:spPr>
          <a:xfrm>
            <a:off x="1610624" y="5178782"/>
            <a:ext cx="570494" cy="128361"/>
          </a:xfrm>
          <a:prstGeom prst="roundRect">
            <a:avLst/>
          </a:prstGeom>
          <a:solidFill>
            <a:srgbClr val="22434A"/>
          </a:solidFill>
          <a:ln w="12700">
            <a:solidFill>
              <a:srgbClr val="22434A">
                <a:alpha val="0"/>
              </a:srgbClr>
            </a:solidFill>
            <a:prstDash val="solid"/>
          </a:ln>
        </p:spPr>
      </p:sp>
      <p:sp>
        <p:nvSpPr>
          <p:cNvPr id="18" name="Shape 16"/>
          <p:cNvSpPr/>
          <p:nvPr/>
        </p:nvSpPr>
        <p:spPr>
          <a:xfrm>
            <a:off x="1788903" y="4964847"/>
            <a:ext cx="221066" cy="213935"/>
          </a:xfrm>
          <a:prstGeom prst="roundRect">
            <a:avLst/>
          </a:prstGeom>
          <a:solidFill>
            <a:srgbClr val="93A5AA"/>
          </a:solidFill>
          <a:ln w="12700">
            <a:solidFill>
              <a:srgbClr val="93A5AA">
                <a:alpha val="0"/>
              </a:srgbClr>
            </a:solidFill>
            <a:prstDash val="solid"/>
          </a:ln>
        </p:spPr>
      </p:sp>
      <p:sp>
        <p:nvSpPr>
          <p:cNvPr id="19" name="Shape 17"/>
          <p:cNvSpPr/>
          <p:nvPr/>
        </p:nvSpPr>
        <p:spPr>
          <a:xfrm flipV="1">
            <a:off x="1895870" y="4144762"/>
            <a:ext cx="363690" cy="834347"/>
          </a:xfrm>
          <a:prstGeom prst="line">
            <a:avLst/>
          </a:prstGeom>
          <a:noFill/>
          <a:ln w="142623">
            <a:solidFill>
              <a:srgbClr val="93A5AA"/>
            </a:solidFill>
            <a:prstDash val="solid"/>
          </a:ln>
        </p:spPr>
      </p:sp>
      <p:sp>
        <p:nvSpPr>
          <p:cNvPr id="20" name="Shape 18"/>
          <p:cNvSpPr/>
          <p:nvPr/>
        </p:nvSpPr>
        <p:spPr>
          <a:xfrm flipV="1">
            <a:off x="2259560" y="4002139"/>
            <a:ext cx="734510" cy="142623"/>
          </a:xfrm>
          <a:prstGeom prst="line">
            <a:avLst/>
          </a:prstGeom>
          <a:noFill/>
          <a:ln w="142623">
            <a:solidFill>
              <a:srgbClr val="93A5AA"/>
            </a:solidFill>
            <a:prstDash val="solid"/>
          </a:ln>
        </p:spPr>
      </p:sp>
      <p:sp>
        <p:nvSpPr>
          <p:cNvPr id="21" name="Shape 19"/>
          <p:cNvSpPr/>
          <p:nvPr/>
        </p:nvSpPr>
        <p:spPr>
          <a:xfrm flipV="1">
            <a:off x="2994071" y="3866647"/>
            <a:ext cx="599018" cy="135492"/>
          </a:xfrm>
          <a:prstGeom prst="line">
            <a:avLst/>
          </a:prstGeom>
          <a:noFill/>
          <a:ln w="114099">
            <a:solidFill>
              <a:srgbClr val="93A5AA"/>
            </a:solidFill>
            <a:prstDash val="solid"/>
          </a:ln>
        </p:spPr>
      </p:sp>
      <p:sp>
        <p:nvSpPr>
          <p:cNvPr id="22" name="Shape 20"/>
          <p:cNvSpPr/>
          <p:nvPr/>
        </p:nvSpPr>
        <p:spPr>
          <a:xfrm>
            <a:off x="1781772" y="4865011"/>
            <a:ext cx="228197" cy="228197"/>
          </a:xfrm>
          <a:prstGeom prst="ellipse">
            <a:avLst/>
          </a:prstGeom>
          <a:solidFill>
            <a:srgbClr val="22434A"/>
          </a:solidFill>
          <a:ln w="12700">
            <a:solidFill>
              <a:srgbClr val="22434A">
                <a:alpha val="0"/>
              </a:srgbClr>
            </a:solidFill>
            <a:prstDash val="solid"/>
          </a:ln>
        </p:spPr>
      </p:sp>
      <p:sp>
        <p:nvSpPr>
          <p:cNvPr id="23" name="Shape 21"/>
          <p:cNvSpPr/>
          <p:nvPr/>
        </p:nvSpPr>
        <p:spPr>
          <a:xfrm>
            <a:off x="2145461" y="4030664"/>
            <a:ext cx="228197" cy="228197"/>
          </a:xfrm>
          <a:prstGeom prst="ellipse">
            <a:avLst/>
          </a:prstGeom>
          <a:solidFill>
            <a:srgbClr val="22434A"/>
          </a:solidFill>
          <a:ln w="12700">
            <a:solidFill>
              <a:srgbClr val="22434A">
                <a:alpha val="0"/>
              </a:srgbClr>
            </a:solidFill>
            <a:prstDash val="solid"/>
          </a:ln>
        </p:spPr>
      </p:sp>
      <p:sp>
        <p:nvSpPr>
          <p:cNvPr id="24" name="Shape 22"/>
          <p:cNvSpPr/>
          <p:nvPr/>
        </p:nvSpPr>
        <p:spPr>
          <a:xfrm>
            <a:off x="2901365" y="3909434"/>
            <a:ext cx="185410" cy="185410"/>
          </a:xfrm>
          <a:prstGeom prst="ellipse">
            <a:avLst/>
          </a:prstGeom>
          <a:solidFill>
            <a:srgbClr val="22434A"/>
          </a:solidFill>
          <a:ln w="12700">
            <a:solidFill>
              <a:srgbClr val="22434A">
                <a:alpha val="0"/>
              </a:srgbClr>
            </a:solidFill>
            <a:prstDash val="solid"/>
          </a:ln>
        </p:spPr>
      </p:sp>
      <p:sp>
        <p:nvSpPr>
          <p:cNvPr id="25" name="Shape 23"/>
          <p:cNvSpPr/>
          <p:nvPr/>
        </p:nvSpPr>
        <p:spPr>
          <a:xfrm>
            <a:off x="1838821" y="4922060"/>
            <a:ext cx="114099" cy="114099"/>
          </a:xfrm>
          <a:prstGeom prst="ellipse">
            <a:avLst/>
          </a:prstGeom>
          <a:solidFill>
            <a:srgbClr val="F6F4EF"/>
          </a:solidFill>
          <a:ln w="12700">
            <a:solidFill>
              <a:srgbClr val="F6F4EF">
                <a:alpha val="0"/>
              </a:srgbClr>
            </a:solidFill>
            <a:prstDash val="solid"/>
          </a:ln>
        </p:spPr>
      </p:sp>
      <p:sp>
        <p:nvSpPr>
          <p:cNvPr id="26" name="Shape 24"/>
          <p:cNvSpPr/>
          <p:nvPr/>
        </p:nvSpPr>
        <p:spPr>
          <a:xfrm>
            <a:off x="2209642" y="4094844"/>
            <a:ext cx="99836" cy="99836"/>
          </a:xfrm>
          <a:prstGeom prst="ellipse">
            <a:avLst/>
          </a:prstGeom>
          <a:solidFill>
            <a:srgbClr val="F6F4EF"/>
          </a:solidFill>
          <a:ln w="12700">
            <a:solidFill>
              <a:srgbClr val="F6F4EF">
                <a:alpha val="0"/>
              </a:srgbClr>
            </a:solidFill>
            <a:prstDash val="solid"/>
          </a:ln>
        </p:spPr>
      </p:sp>
      <p:sp>
        <p:nvSpPr>
          <p:cNvPr id="27" name="Shape 25"/>
          <p:cNvSpPr/>
          <p:nvPr/>
        </p:nvSpPr>
        <p:spPr>
          <a:xfrm>
            <a:off x="2951284" y="3959352"/>
            <a:ext cx="85574" cy="85574"/>
          </a:xfrm>
          <a:prstGeom prst="ellipse">
            <a:avLst/>
          </a:prstGeom>
          <a:solidFill>
            <a:srgbClr val="F6F4EF"/>
          </a:solidFill>
          <a:ln w="12700">
            <a:solidFill>
              <a:srgbClr val="F6F4EF">
                <a:alpha val="0"/>
              </a:srgbClr>
            </a:solidFill>
            <a:prstDash val="solid"/>
          </a:ln>
        </p:spPr>
      </p:sp>
      <p:sp>
        <p:nvSpPr>
          <p:cNvPr id="28" name="Shape 26"/>
          <p:cNvSpPr/>
          <p:nvPr/>
        </p:nvSpPr>
        <p:spPr>
          <a:xfrm>
            <a:off x="3593089" y="3866647"/>
            <a:ext cx="0" cy="178279"/>
          </a:xfrm>
          <a:prstGeom prst="line">
            <a:avLst/>
          </a:prstGeom>
          <a:noFill/>
          <a:ln w="85574">
            <a:solidFill>
              <a:srgbClr val="22434A"/>
            </a:solidFill>
            <a:prstDash val="solid"/>
          </a:ln>
        </p:spPr>
      </p:sp>
      <p:sp>
        <p:nvSpPr>
          <p:cNvPr id="29" name="Shape 27"/>
          <p:cNvSpPr/>
          <p:nvPr/>
        </p:nvSpPr>
        <p:spPr>
          <a:xfrm>
            <a:off x="3336367" y="4044926"/>
            <a:ext cx="513444" cy="121230"/>
          </a:xfrm>
          <a:prstGeom prst="roundRect">
            <a:avLst/>
          </a:prstGeom>
          <a:solidFill>
            <a:srgbClr val="22434A"/>
          </a:solidFill>
          <a:ln w="12700">
            <a:solidFill>
              <a:srgbClr val="22434A">
                <a:alpha val="0"/>
              </a:srgbClr>
            </a:solidFill>
            <a:prstDash val="solid"/>
          </a:ln>
        </p:spPr>
      </p:sp>
      <p:sp>
        <p:nvSpPr>
          <p:cNvPr id="30" name="Shape 28"/>
          <p:cNvSpPr/>
          <p:nvPr/>
        </p:nvSpPr>
        <p:spPr>
          <a:xfrm>
            <a:off x="3322104" y="4137631"/>
            <a:ext cx="85574" cy="463526"/>
          </a:xfrm>
          <a:prstGeom prst="roundRect">
            <a:avLst/>
          </a:prstGeom>
          <a:solidFill>
            <a:srgbClr val="93A5AA"/>
          </a:solidFill>
          <a:ln w="12700">
            <a:solidFill>
              <a:srgbClr val="93A5AA">
                <a:alpha val="0"/>
              </a:srgbClr>
            </a:solidFill>
            <a:prstDash val="solid"/>
          </a:ln>
        </p:spPr>
      </p:sp>
      <p:sp>
        <p:nvSpPr>
          <p:cNvPr id="31" name="Shape 29"/>
          <p:cNvSpPr/>
          <p:nvPr/>
        </p:nvSpPr>
        <p:spPr>
          <a:xfrm>
            <a:off x="3778499" y="4137631"/>
            <a:ext cx="85574" cy="463526"/>
          </a:xfrm>
          <a:prstGeom prst="roundRect">
            <a:avLst/>
          </a:prstGeom>
          <a:solidFill>
            <a:srgbClr val="93A5AA"/>
          </a:solidFill>
          <a:ln w="12700">
            <a:solidFill>
              <a:srgbClr val="93A5AA">
                <a:alpha val="0"/>
              </a:srgbClr>
            </a:solidFill>
            <a:prstDash val="solid"/>
          </a:ln>
        </p:spPr>
      </p:sp>
      <p:sp>
        <p:nvSpPr>
          <p:cNvPr id="32" name="Shape 30"/>
          <p:cNvSpPr/>
          <p:nvPr/>
        </p:nvSpPr>
        <p:spPr>
          <a:xfrm>
            <a:off x="3322104" y="4522714"/>
            <a:ext cx="142623" cy="78443"/>
          </a:xfrm>
          <a:prstGeom prst="roundRect">
            <a:avLst/>
          </a:prstGeom>
          <a:solidFill>
            <a:srgbClr val="22434A"/>
          </a:solidFill>
          <a:ln w="12700">
            <a:solidFill>
              <a:srgbClr val="22434A">
                <a:alpha val="0"/>
              </a:srgbClr>
            </a:solidFill>
            <a:prstDash val="solid"/>
          </a:ln>
        </p:spPr>
      </p:sp>
      <p:sp>
        <p:nvSpPr>
          <p:cNvPr id="33" name="Shape 31"/>
          <p:cNvSpPr/>
          <p:nvPr/>
        </p:nvSpPr>
        <p:spPr>
          <a:xfrm>
            <a:off x="3721450" y="4522714"/>
            <a:ext cx="142623" cy="78443"/>
          </a:xfrm>
          <a:prstGeom prst="roundRect">
            <a:avLst/>
          </a:prstGeom>
          <a:solidFill>
            <a:srgbClr val="22434A"/>
          </a:solidFill>
          <a:ln w="12700">
            <a:solidFill>
              <a:srgbClr val="22434A">
                <a:alpha val="0"/>
              </a:srgbClr>
            </a:solidFill>
            <a:prstDash val="solid"/>
          </a:ln>
        </p:spPr>
      </p:sp>
      <p:sp>
        <p:nvSpPr>
          <p:cNvPr id="34" name="Shape 32"/>
          <p:cNvSpPr/>
          <p:nvPr/>
        </p:nvSpPr>
        <p:spPr>
          <a:xfrm>
            <a:off x="3450465" y="4308779"/>
            <a:ext cx="285247" cy="285247"/>
          </a:xfrm>
          <a:prstGeom prst="roundRect">
            <a:avLst/>
          </a:prstGeom>
          <a:solidFill>
            <a:srgbClr val="DFC28E"/>
          </a:solidFill>
          <a:ln w="12700">
            <a:solidFill>
              <a:srgbClr val="DFC28E">
                <a:alpha val="0"/>
              </a:srgbClr>
            </a:solidFill>
            <a:prstDash val="solid"/>
          </a:ln>
        </p:spPr>
      </p:sp>
      <p:sp>
        <p:nvSpPr>
          <p:cNvPr id="35" name="Shape 33"/>
          <p:cNvSpPr/>
          <p:nvPr/>
        </p:nvSpPr>
        <p:spPr>
          <a:xfrm>
            <a:off x="3664400" y="4308779"/>
            <a:ext cx="71312" cy="285247"/>
          </a:xfrm>
          <a:prstGeom prst="roundRect">
            <a:avLst/>
          </a:prstGeom>
          <a:solidFill>
            <a:srgbClr val="BA9A61"/>
          </a:solidFill>
          <a:ln w="12700">
            <a:solidFill>
              <a:srgbClr val="BA9A61">
                <a:alpha val="0"/>
              </a:srgbClr>
            </a:solidFill>
            <a:prstDash val="solid"/>
          </a:ln>
        </p:spPr>
      </p:sp>
      <p:sp>
        <p:nvSpPr>
          <p:cNvPr id="36" name="Shape 34"/>
          <p:cNvSpPr/>
          <p:nvPr/>
        </p:nvSpPr>
        <p:spPr>
          <a:xfrm>
            <a:off x="3450465" y="4394353"/>
            <a:ext cx="285247" cy="0"/>
          </a:xfrm>
          <a:prstGeom prst="line">
            <a:avLst/>
          </a:prstGeom>
          <a:noFill/>
          <a:ln w="9984">
            <a:solidFill>
              <a:srgbClr val="F4E8CE"/>
            </a:solidFill>
            <a:prstDash val="solid"/>
          </a:ln>
        </p:spPr>
      </p:sp>
      <p:sp>
        <p:nvSpPr>
          <p:cNvPr id="37" name="Shape 35"/>
          <p:cNvSpPr/>
          <p:nvPr/>
        </p:nvSpPr>
        <p:spPr>
          <a:xfrm flipV="1">
            <a:off x="4056615" y="4394353"/>
            <a:ext cx="0" cy="449264"/>
          </a:xfrm>
          <a:prstGeom prst="line">
            <a:avLst/>
          </a:prstGeom>
          <a:noFill/>
          <a:ln w="28525">
            <a:solidFill>
              <a:srgbClr val="087F7B"/>
            </a:solidFill>
            <a:prstDash val="solid"/>
            <a:tailEnd type="triangle"/>
          </a:ln>
        </p:spPr>
      </p:sp>
      <p:sp>
        <p:nvSpPr>
          <p:cNvPr id="38" name="Shape 36"/>
          <p:cNvSpPr/>
          <p:nvPr/>
        </p:nvSpPr>
        <p:spPr>
          <a:xfrm>
            <a:off x="9119285" y="5164520"/>
            <a:ext cx="1383447" cy="0"/>
          </a:xfrm>
          <a:prstGeom prst="line">
            <a:avLst/>
          </a:prstGeom>
          <a:noFill/>
          <a:ln w="28525">
            <a:solidFill>
              <a:srgbClr val="93A5AA"/>
            </a:solidFill>
            <a:prstDash val="solid"/>
          </a:ln>
        </p:spPr>
      </p:sp>
      <p:sp>
        <p:nvSpPr>
          <p:cNvPr id="39" name="Shape 37"/>
          <p:cNvSpPr/>
          <p:nvPr/>
        </p:nvSpPr>
        <p:spPr>
          <a:xfrm>
            <a:off x="9254778" y="5178782"/>
            <a:ext cx="0" cy="221066"/>
          </a:xfrm>
          <a:prstGeom prst="line">
            <a:avLst/>
          </a:prstGeom>
          <a:noFill/>
          <a:ln w="35656">
            <a:solidFill>
              <a:srgbClr val="D8DFD9"/>
            </a:solidFill>
            <a:prstDash val="solid"/>
          </a:ln>
        </p:spPr>
      </p:sp>
      <p:sp>
        <p:nvSpPr>
          <p:cNvPr id="40" name="Shape 38"/>
          <p:cNvSpPr/>
          <p:nvPr/>
        </p:nvSpPr>
        <p:spPr>
          <a:xfrm>
            <a:off x="10388634" y="5178782"/>
            <a:ext cx="0" cy="221066"/>
          </a:xfrm>
          <a:prstGeom prst="line">
            <a:avLst/>
          </a:prstGeom>
          <a:noFill/>
          <a:ln w="35656">
            <a:solidFill>
              <a:srgbClr val="D8DFD9"/>
            </a:solidFill>
            <a:prstDash val="solid"/>
          </a:ln>
        </p:spPr>
      </p:sp>
      <p:sp>
        <p:nvSpPr>
          <p:cNvPr id="41" name="Shape 39"/>
          <p:cNvSpPr/>
          <p:nvPr/>
        </p:nvSpPr>
        <p:spPr>
          <a:xfrm>
            <a:off x="7828544" y="5178782"/>
            <a:ext cx="570494" cy="128361"/>
          </a:xfrm>
          <a:prstGeom prst="roundRect">
            <a:avLst/>
          </a:prstGeom>
          <a:solidFill>
            <a:srgbClr val="22434A"/>
          </a:solidFill>
          <a:ln w="12700">
            <a:solidFill>
              <a:srgbClr val="22434A">
                <a:alpha val="0"/>
              </a:srgbClr>
            </a:solidFill>
            <a:prstDash val="solid"/>
          </a:ln>
        </p:spPr>
      </p:sp>
      <p:sp>
        <p:nvSpPr>
          <p:cNvPr id="42" name="Shape 40"/>
          <p:cNvSpPr/>
          <p:nvPr/>
        </p:nvSpPr>
        <p:spPr>
          <a:xfrm>
            <a:off x="8006823" y="4964847"/>
            <a:ext cx="221066" cy="213935"/>
          </a:xfrm>
          <a:prstGeom prst="roundRect">
            <a:avLst/>
          </a:prstGeom>
          <a:solidFill>
            <a:srgbClr val="93A5AA"/>
          </a:solidFill>
          <a:ln w="12700">
            <a:solidFill>
              <a:srgbClr val="93A5AA">
                <a:alpha val="0"/>
              </a:srgbClr>
            </a:solidFill>
            <a:prstDash val="solid"/>
          </a:ln>
        </p:spPr>
      </p:sp>
      <p:sp>
        <p:nvSpPr>
          <p:cNvPr id="43" name="Shape 41"/>
          <p:cNvSpPr/>
          <p:nvPr/>
        </p:nvSpPr>
        <p:spPr>
          <a:xfrm flipV="1">
            <a:off x="8113790" y="4144762"/>
            <a:ext cx="363690" cy="834347"/>
          </a:xfrm>
          <a:prstGeom prst="line">
            <a:avLst/>
          </a:prstGeom>
          <a:noFill/>
          <a:ln w="142623">
            <a:solidFill>
              <a:srgbClr val="93A5AA"/>
            </a:solidFill>
            <a:prstDash val="solid"/>
          </a:ln>
        </p:spPr>
      </p:sp>
      <p:sp>
        <p:nvSpPr>
          <p:cNvPr id="44" name="Shape 42"/>
          <p:cNvSpPr/>
          <p:nvPr/>
        </p:nvSpPr>
        <p:spPr>
          <a:xfrm flipV="1">
            <a:off x="8477480" y="4002139"/>
            <a:ext cx="734510" cy="142623"/>
          </a:xfrm>
          <a:prstGeom prst="line">
            <a:avLst/>
          </a:prstGeom>
          <a:noFill/>
          <a:ln w="142623">
            <a:solidFill>
              <a:srgbClr val="93A5AA"/>
            </a:solidFill>
            <a:prstDash val="solid"/>
          </a:ln>
        </p:spPr>
      </p:sp>
      <p:sp>
        <p:nvSpPr>
          <p:cNvPr id="45" name="Shape 43"/>
          <p:cNvSpPr/>
          <p:nvPr/>
        </p:nvSpPr>
        <p:spPr>
          <a:xfrm flipV="1">
            <a:off x="9211991" y="3866647"/>
            <a:ext cx="599018" cy="135492"/>
          </a:xfrm>
          <a:prstGeom prst="line">
            <a:avLst/>
          </a:prstGeom>
          <a:noFill/>
          <a:ln w="114099">
            <a:solidFill>
              <a:srgbClr val="93A5AA"/>
            </a:solidFill>
            <a:prstDash val="solid"/>
          </a:ln>
        </p:spPr>
      </p:sp>
      <p:sp>
        <p:nvSpPr>
          <p:cNvPr id="46" name="Shape 44"/>
          <p:cNvSpPr/>
          <p:nvPr/>
        </p:nvSpPr>
        <p:spPr>
          <a:xfrm>
            <a:off x="7999692" y="4865011"/>
            <a:ext cx="228197" cy="228197"/>
          </a:xfrm>
          <a:prstGeom prst="ellipse">
            <a:avLst/>
          </a:prstGeom>
          <a:solidFill>
            <a:srgbClr val="22434A"/>
          </a:solidFill>
          <a:ln w="12700">
            <a:solidFill>
              <a:srgbClr val="22434A">
                <a:alpha val="0"/>
              </a:srgbClr>
            </a:solidFill>
            <a:prstDash val="solid"/>
          </a:ln>
        </p:spPr>
      </p:sp>
      <p:sp>
        <p:nvSpPr>
          <p:cNvPr id="47" name="Shape 45"/>
          <p:cNvSpPr/>
          <p:nvPr/>
        </p:nvSpPr>
        <p:spPr>
          <a:xfrm>
            <a:off x="8363381" y="4030664"/>
            <a:ext cx="228197" cy="228197"/>
          </a:xfrm>
          <a:prstGeom prst="ellipse">
            <a:avLst/>
          </a:prstGeom>
          <a:solidFill>
            <a:srgbClr val="22434A"/>
          </a:solidFill>
          <a:ln w="12700">
            <a:solidFill>
              <a:srgbClr val="22434A">
                <a:alpha val="0"/>
              </a:srgbClr>
            </a:solidFill>
            <a:prstDash val="solid"/>
          </a:ln>
        </p:spPr>
      </p:sp>
      <p:sp>
        <p:nvSpPr>
          <p:cNvPr id="48" name="Shape 46"/>
          <p:cNvSpPr/>
          <p:nvPr/>
        </p:nvSpPr>
        <p:spPr>
          <a:xfrm>
            <a:off x="9119285" y="3909434"/>
            <a:ext cx="185410" cy="185410"/>
          </a:xfrm>
          <a:prstGeom prst="ellipse">
            <a:avLst/>
          </a:prstGeom>
          <a:solidFill>
            <a:srgbClr val="22434A"/>
          </a:solidFill>
          <a:ln w="12700">
            <a:solidFill>
              <a:srgbClr val="22434A">
                <a:alpha val="0"/>
              </a:srgbClr>
            </a:solidFill>
            <a:prstDash val="solid"/>
          </a:ln>
        </p:spPr>
      </p:sp>
      <p:sp>
        <p:nvSpPr>
          <p:cNvPr id="49" name="Shape 47"/>
          <p:cNvSpPr/>
          <p:nvPr/>
        </p:nvSpPr>
        <p:spPr>
          <a:xfrm>
            <a:off x="8056741" y="4922060"/>
            <a:ext cx="114099" cy="114099"/>
          </a:xfrm>
          <a:prstGeom prst="ellipse">
            <a:avLst/>
          </a:prstGeom>
          <a:solidFill>
            <a:srgbClr val="F6F4EF"/>
          </a:solidFill>
          <a:ln w="12700">
            <a:solidFill>
              <a:srgbClr val="F6F4EF">
                <a:alpha val="0"/>
              </a:srgbClr>
            </a:solidFill>
            <a:prstDash val="solid"/>
          </a:ln>
        </p:spPr>
      </p:sp>
      <p:sp>
        <p:nvSpPr>
          <p:cNvPr id="50" name="Shape 48"/>
          <p:cNvSpPr/>
          <p:nvPr/>
        </p:nvSpPr>
        <p:spPr>
          <a:xfrm>
            <a:off x="8427562" y="4094844"/>
            <a:ext cx="99836" cy="99836"/>
          </a:xfrm>
          <a:prstGeom prst="ellipse">
            <a:avLst/>
          </a:prstGeom>
          <a:solidFill>
            <a:srgbClr val="F6F4EF"/>
          </a:solidFill>
          <a:ln w="12700">
            <a:solidFill>
              <a:srgbClr val="F6F4EF">
                <a:alpha val="0"/>
              </a:srgbClr>
            </a:solidFill>
            <a:prstDash val="solid"/>
          </a:ln>
        </p:spPr>
      </p:sp>
      <p:sp>
        <p:nvSpPr>
          <p:cNvPr id="51" name="Shape 49"/>
          <p:cNvSpPr/>
          <p:nvPr/>
        </p:nvSpPr>
        <p:spPr>
          <a:xfrm>
            <a:off x="9169204" y="3959352"/>
            <a:ext cx="85574" cy="85574"/>
          </a:xfrm>
          <a:prstGeom prst="ellipse">
            <a:avLst/>
          </a:prstGeom>
          <a:solidFill>
            <a:srgbClr val="F6F4EF"/>
          </a:solidFill>
          <a:ln w="12700">
            <a:solidFill>
              <a:srgbClr val="F6F4EF">
                <a:alpha val="0"/>
              </a:srgbClr>
            </a:solidFill>
            <a:prstDash val="solid"/>
          </a:ln>
        </p:spPr>
      </p:sp>
      <p:sp>
        <p:nvSpPr>
          <p:cNvPr id="52" name="Shape 50"/>
          <p:cNvSpPr/>
          <p:nvPr/>
        </p:nvSpPr>
        <p:spPr>
          <a:xfrm>
            <a:off x="9811009" y="3866647"/>
            <a:ext cx="0" cy="178279"/>
          </a:xfrm>
          <a:prstGeom prst="line">
            <a:avLst/>
          </a:prstGeom>
          <a:noFill/>
          <a:ln w="85574">
            <a:solidFill>
              <a:srgbClr val="22434A"/>
            </a:solidFill>
            <a:prstDash val="solid"/>
          </a:ln>
        </p:spPr>
      </p:sp>
      <p:sp>
        <p:nvSpPr>
          <p:cNvPr id="53" name="Shape 51"/>
          <p:cNvSpPr/>
          <p:nvPr/>
        </p:nvSpPr>
        <p:spPr>
          <a:xfrm>
            <a:off x="9554287" y="4044926"/>
            <a:ext cx="513444" cy="121230"/>
          </a:xfrm>
          <a:prstGeom prst="roundRect">
            <a:avLst/>
          </a:prstGeom>
          <a:solidFill>
            <a:srgbClr val="22434A"/>
          </a:solidFill>
          <a:ln w="12700">
            <a:solidFill>
              <a:srgbClr val="22434A">
                <a:alpha val="0"/>
              </a:srgbClr>
            </a:solidFill>
            <a:prstDash val="solid"/>
          </a:ln>
        </p:spPr>
      </p:sp>
      <p:sp>
        <p:nvSpPr>
          <p:cNvPr id="54" name="Shape 52"/>
          <p:cNvSpPr/>
          <p:nvPr/>
        </p:nvSpPr>
        <p:spPr>
          <a:xfrm>
            <a:off x="9540024" y="4137631"/>
            <a:ext cx="85574" cy="463526"/>
          </a:xfrm>
          <a:prstGeom prst="roundRect">
            <a:avLst/>
          </a:prstGeom>
          <a:solidFill>
            <a:srgbClr val="93A5AA"/>
          </a:solidFill>
          <a:ln w="12700">
            <a:solidFill>
              <a:srgbClr val="93A5AA">
                <a:alpha val="0"/>
              </a:srgbClr>
            </a:solidFill>
            <a:prstDash val="solid"/>
          </a:ln>
        </p:spPr>
      </p:sp>
      <p:sp>
        <p:nvSpPr>
          <p:cNvPr id="55" name="Shape 53"/>
          <p:cNvSpPr/>
          <p:nvPr/>
        </p:nvSpPr>
        <p:spPr>
          <a:xfrm>
            <a:off x="9996419" y="4137631"/>
            <a:ext cx="85574" cy="463526"/>
          </a:xfrm>
          <a:prstGeom prst="roundRect">
            <a:avLst/>
          </a:prstGeom>
          <a:solidFill>
            <a:srgbClr val="93A5AA"/>
          </a:solidFill>
          <a:ln w="12700">
            <a:solidFill>
              <a:srgbClr val="93A5AA">
                <a:alpha val="0"/>
              </a:srgbClr>
            </a:solidFill>
            <a:prstDash val="solid"/>
          </a:ln>
        </p:spPr>
      </p:sp>
      <p:sp>
        <p:nvSpPr>
          <p:cNvPr id="56" name="Shape 54"/>
          <p:cNvSpPr/>
          <p:nvPr/>
        </p:nvSpPr>
        <p:spPr>
          <a:xfrm>
            <a:off x="9540024" y="4522714"/>
            <a:ext cx="142623" cy="78443"/>
          </a:xfrm>
          <a:prstGeom prst="roundRect">
            <a:avLst/>
          </a:prstGeom>
          <a:solidFill>
            <a:srgbClr val="22434A"/>
          </a:solidFill>
          <a:ln w="12700">
            <a:solidFill>
              <a:srgbClr val="22434A">
                <a:alpha val="0"/>
              </a:srgbClr>
            </a:solidFill>
            <a:prstDash val="solid"/>
          </a:ln>
        </p:spPr>
      </p:sp>
      <p:sp>
        <p:nvSpPr>
          <p:cNvPr id="57" name="Shape 55"/>
          <p:cNvSpPr/>
          <p:nvPr/>
        </p:nvSpPr>
        <p:spPr>
          <a:xfrm>
            <a:off x="9939370" y="4522714"/>
            <a:ext cx="142623" cy="78443"/>
          </a:xfrm>
          <a:prstGeom prst="roundRect">
            <a:avLst/>
          </a:prstGeom>
          <a:solidFill>
            <a:srgbClr val="22434A"/>
          </a:solidFill>
          <a:ln w="12700">
            <a:solidFill>
              <a:srgbClr val="22434A">
                <a:alpha val="0"/>
              </a:srgbClr>
            </a:solidFill>
            <a:prstDash val="solid"/>
          </a:ln>
        </p:spPr>
      </p:sp>
      <p:sp>
        <p:nvSpPr>
          <p:cNvPr id="58" name="Shape 56"/>
          <p:cNvSpPr/>
          <p:nvPr/>
        </p:nvSpPr>
        <p:spPr>
          <a:xfrm>
            <a:off x="9668385" y="4865011"/>
            <a:ext cx="285247" cy="285247"/>
          </a:xfrm>
          <a:prstGeom prst="roundRect">
            <a:avLst/>
          </a:prstGeom>
          <a:solidFill>
            <a:srgbClr val="C86B52"/>
          </a:solidFill>
          <a:ln w="12700">
            <a:solidFill>
              <a:srgbClr val="C86B52">
                <a:alpha val="0"/>
              </a:srgbClr>
            </a:solidFill>
            <a:prstDash val="solid"/>
          </a:ln>
        </p:spPr>
      </p:sp>
      <p:sp>
        <p:nvSpPr>
          <p:cNvPr id="59" name="Shape 57"/>
          <p:cNvSpPr/>
          <p:nvPr/>
        </p:nvSpPr>
        <p:spPr>
          <a:xfrm>
            <a:off x="9882320" y="4865011"/>
            <a:ext cx="71312" cy="285247"/>
          </a:xfrm>
          <a:prstGeom prst="roundRect">
            <a:avLst/>
          </a:prstGeom>
          <a:solidFill>
            <a:srgbClr val="C86B52"/>
          </a:solidFill>
          <a:ln w="12700">
            <a:solidFill>
              <a:srgbClr val="C86B52">
                <a:alpha val="0"/>
              </a:srgbClr>
            </a:solidFill>
            <a:prstDash val="solid"/>
          </a:ln>
        </p:spPr>
      </p:sp>
      <p:sp>
        <p:nvSpPr>
          <p:cNvPr id="60" name="Shape 58"/>
          <p:cNvSpPr/>
          <p:nvPr/>
        </p:nvSpPr>
        <p:spPr>
          <a:xfrm>
            <a:off x="9668385" y="4950585"/>
            <a:ext cx="285247" cy="0"/>
          </a:xfrm>
          <a:prstGeom prst="line">
            <a:avLst/>
          </a:prstGeom>
          <a:noFill/>
          <a:ln w="9984">
            <a:solidFill>
              <a:srgbClr val="F3E5DD"/>
            </a:solidFill>
            <a:prstDash val="solid"/>
          </a:ln>
        </p:spPr>
      </p:sp>
      <p:sp>
        <p:nvSpPr>
          <p:cNvPr id="61" name="Shape 59"/>
          <p:cNvSpPr/>
          <p:nvPr/>
        </p:nvSpPr>
        <p:spPr>
          <a:xfrm>
            <a:off x="9668385" y="4308779"/>
            <a:ext cx="285247" cy="285247"/>
          </a:xfrm>
          <a:prstGeom prst="roundRect">
            <a:avLst/>
          </a:prstGeom>
          <a:solidFill>
            <a:srgbClr val="F6F4EF">
              <a:alpha val="0"/>
            </a:srgbClr>
          </a:solidFill>
          <a:ln w="14262">
            <a:solidFill>
              <a:srgbClr val="C86B52"/>
            </a:solidFill>
            <a:prstDash val="solid"/>
          </a:ln>
        </p:spPr>
      </p:sp>
      <p:sp>
        <p:nvSpPr>
          <p:cNvPr id="62" name="Shape 60"/>
          <p:cNvSpPr/>
          <p:nvPr/>
        </p:nvSpPr>
        <p:spPr>
          <a:xfrm>
            <a:off x="10274535" y="4494190"/>
            <a:ext cx="0" cy="442133"/>
          </a:xfrm>
          <a:prstGeom prst="line">
            <a:avLst/>
          </a:prstGeom>
          <a:noFill/>
          <a:ln w="28525">
            <a:solidFill>
              <a:srgbClr val="C86B52"/>
            </a:solidFill>
            <a:prstDash val="dash"/>
            <a:tailEnd type="triangle"/>
          </a:ln>
        </p:spPr>
      </p:sp>
      <p:sp>
        <p:nvSpPr>
          <p:cNvPr id="63" name="Shape 61"/>
          <p:cNvSpPr/>
          <p:nvPr/>
        </p:nvSpPr>
        <p:spPr>
          <a:xfrm>
            <a:off x="5669280" y="4267200"/>
            <a:ext cx="845820" cy="0"/>
          </a:xfrm>
          <a:prstGeom prst="line">
            <a:avLst/>
          </a:prstGeom>
          <a:noFill/>
          <a:ln w="30480">
            <a:solidFill>
              <a:srgbClr val="C86B52"/>
            </a:solidFill>
            <a:prstDash val="solid"/>
            <a:tailEnd type="triangle"/>
          </a:ln>
        </p:spPr>
      </p:sp>
      <p:sp>
        <p:nvSpPr>
          <p:cNvPr id="64" name="Text 62"/>
          <p:cNvSpPr/>
          <p:nvPr/>
        </p:nvSpPr>
        <p:spPr>
          <a:xfrm>
            <a:off x="5516880" y="4518660"/>
            <a:ext cx="1181100" cy="23622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C86B52"/>
                </a:solidFill>
                <a:latin typeface="Arial" pitchFamily="34" charset="0"/>
                <a:ea typeface="Arial" pitchFamily="34" charset="-122"/>
                <a:cs typeface="Arial" pitchFamily="34" charset="-120"/>
              </a:rPr>
              <a:t>Mismatch</a:t>
            </a:r>
            <a:endParaRPr lang="en-US" sz="1380" dirty="0"/>
          </a:p>
        </p:txBody>
      </p:sp>
      <p:sp>
        <p:nvSpPr>
          <p:cNvPr id="65" name="Text 63"/>
          <p:cNvSpPr/>
          <p:nvPr/>
        </p:nvSpPr>
        <p:spPr>
          <a:xfrm>
            <a:off x="609600" y="5905500"/>
            <a:ext cx="10972800" cy="289560"/>
          </a:xfrm>
          <a:prstGeom prst="rect">
            <a:avLst/>
          </a:prstGeom>
          <a:noFill/>
          <a:ln/>
        </p:spPr>
        <p:txBody>
          <a:bodyPr wrap="square" lIns="0" tIns="0" rIns="0" bIns="0" rtlCol="0" anchor="t"/>
          <a:lstStyle/>
          <a:p>
            <a:pPr algn="l" indent="0" marL="0">
              <a:lnSpc>
                <a:spcPct val="105000"/>
              </a:lnSpc>
              <a:buNone/>
            </a:pPr>
            <a:r>
              <a:rPr lang="en-US" altLang="en-US" sz="1740" dirty="0">
                <a:solidFill>
                  <a:srgbClr val="183139"/>
                </a:solidFill>
                <a:latin typeface="Arial" pitchFamily="34" charset="0"/>
                <a:ea typeface="Arial" pitchFamily="34" charset="-122"/>
                <a:cs typeface="Arial" pitchFamily="34" charset="-120"/>
              </a:rPr>
              <a:t>Physical conditions can differ from those assumed during training.</a:t>
            </a:r>
            <a:endParaRPr lang="en-US" sz="17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02 · HYPOTHESIS</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540" b="1" dirty="0">
                <a:solidFill>
                  <a:srgbClr val="183139"/>
                </a:solidFill>
                <a:latin typeface="Arial" pitchFamily="34" charset="0"/>
                <a:ea typeface="Arial" pitchFamily="34" charset="-122"/>
                <a:cs typeface="Arial" pitchFamily="34" charset="-120"/>
              </a:rPr>
              <a:t>Use an estimate of the actual conditions</a:t>
            </a:r>
            <a:endParaRPr lang="en-US" sz="3540" dirty="0"/>
          </a:p>
        </p:txBody>
      </p:sp>
      <p:sp>
        <p:nvSpPr>
          <p:cNvPr id="6" name="Text 4"/>
          <p:cNvSpPr/>
          <p:nvPr/>
        </p:nvSpPr>
        <p:spPr>
          <a:xfrm>
            <a:off x="609600" y="1432560"/>
            <a:ext cx="10896600" cy="61722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A policy trained across varied physical conditions could execute successfully</a:t>
            </a:r>
            <a:endParaRPr lang="en-US" sz="1800" dirty="0"/>
          </a:p>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when supplied with a sufficiently accurate estimate of its environment.</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INITIAL PHYSICAL UNDERSTANDING  /  MENTOR DISCUSSION</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02 / 07</a:t>
            </a:r>
            <a:endParaRPr lang="en-US" sz="1140" dirty="0"/>
          </a:p>
        </p:txBody>
      </p:sp>
      <p:sp>
        <p:nvSpPr>
          <p:cNvPr id="10" name="Text 8"/>
          <p:cNvSpPr/>
          <p:nvPr/>
        </p:nvSpPr>
        <p:spPr>
          <a:xfrm>
            <a:off x="609600" y="2232660"/>
            <a:ext cx="3352800" cy="19812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TRAINING</a:t>
            </a:r>
            <a:endParaRPr lang="en-US" sz="1140" dirty="0"/>
          </a:p>
        </p:txBody>
      </p:sp>
      <p:sp>
        <p:nvSpPr>
          <p:cNvPr id="11" name="Shape 9"/>
          <p:cNvSpPr/>
          <p:nvPr/>
        </p:nvSpPr>
        <p:spPr>
          <a:xfrm>
            <a:off x="609600" y="2514600"/>
            <a:ext cx="3048000" cy="2286000"/>
          </a:xfrm>
          <a:prstGeom prst="roundRect">
            <a:avLst/>
          </a:prstGeom>
          <a:solidFill>
            <a:srgbClr val="E8ECE8"/>
          </a:solidFill>
          <a:ln w="12700">
            <a:solidFill>
              <a:srgbClr val="E8ECE8">
                <a:alpha val="0"/>
              </a:srgbClr>
            </a:solidFill>
            <a:prstDash val="solid"/>
          </a:ln>
        </p:spPr>
      </p:sp>
      <p:sp>
        <p:nvSpPr>
          <p:cNvPr id="12" name="Text 10"/>
          <p:cNvSpPr/>
          <p:nvPr/>
        </p:nvSpPr>
        <p:spPr>
          <a:xfrm>
            <a:off x="792480" y="2682240"/>
            <a:ext cx="2667000" cy="274320"/>
          </a:xfrm>
          <a:prstGeom prst="rect">
            <a:avLst/>
          </a:prstGeom>
          <a:noFill/>
          <a:ln/>
        </p:spPr>
        <p:txBody>
          <a:bodyPr wrap="square" lIns="0" tIns="0" rIns="0" bIns="0" rtlCol="0" anchor="t"/>
          <a:lstStyle/>
          <a:p>
            <a:pPr algn="l" indent="0" marL="0">
              <a:lnSpc>
                <a:spcPct val="105000"/>
              </a:lnSpc>
              <a:buNone/>
            </a:pPr>
            <a:r>
              <a:rPr lang="en-US" altLang="en-US" sz="1620" b="1" dirty="0">
                <a:solidFill>
                  <a:srgbClr val="183139"/>
                </a:solidFill>
                <a:latin typeface="Arial" pitchFamily="34" charset="0"/>
                <a:ea typeface="Arial" pitchFamily="34" charset="-122"/>
                <a:cs typeface="Arial" pitchFamily="34" charset="-120"/>
              </a:rPr>
              <a:t>Varied physical conditions</a:t>
            </a:r>
            <a:endParaRPr lang="en-US" sz="1620" dirty="0"/>
          </a:p>
        </p:txBody>
      </p:sp>
      <p:sp>
        <p:nvSpPr>
          <p:cNvPr id="13" name="Shape 11"/>
          <p:cNvSpPr/>
          <p:nvPr/>
        </p:nvSpPr>
        <p:spPr>
          <a:xfrm>
            <a:off x="800100" y="3108960"/>
            <a:ext cx="822960" cy="670560"/>
          </a:xfrm>
          <a:prstGeom prst="roundRect">
            <a:avLst/>
          </a:prstGeom>
          <a:solidFill>
            <a:srgbClr val="FFFFFF"/>
          </a:solidFill>
          <a:ln w="7620">
            <a:solidFill>
              <a:srgbClr val="D8DFD9"/>
            </a:solidFill>
            <a:prstDash val="solid"/>
          </a:ln>
        </p:spPr>
      </p:sp>
      <p:sp>
        <p:nvSpPr>
          <p:cNvPr id="14" name="Shape 12"/>
          <p:cNvSpPr/>
          <p:nvPr/>
        </p:nvSpPr>
        <p:spPr>
          <a:xfrm>
            <a:off x="914400" y="3223260"/>
            <a:ext cx="205740" cy="205740"/>
          </a:xfrm>
          <a:prstGeom prst="roundRect">
            <a:avLst/>
          </a:prstGeom>
          <a:solidFill>
            <a:srgbClr val="DFC28E"/>
          </a:solidFill>
          <a:ln w="12700">
            <a:solidFill>
              <a:srgbClr val="DFC28E">
                <a:alpha val="0"/>
              </a:srgbClr>
            </a:solidFill>
            <a:prstDash val="solid"/>
          </a:ln>
        </p:spPr>
      </p:sp>
      <p:sp>
        <p:nvSpPr>
          <p:cNvPr id="15" name="Shape 13"/>
          <p:cNvSpPr/>
          <p:nvPr/>
        </p:nvSpPr>
        <p:spPr>
          <a:xfrm>
            <a:off x="899160" y="3459480"/>
            <a:ext cx="259080" cy="0"/>
          </a:xfrm>
          <a:prstGeom prst="line">
            <a:avLst/>
          </a:prstGeom>
          <a:noFill/>
          <a:ln w="15240">
            <a:solidFill>
              <a:srgbClr val="93A5AA"/>
            </a:solidFill>
            <a:prstDash val="solid"/>
          </a:ln>
        </p:spPr>
      </p:sp>
      <p:sp>
        <p:nvSpPr>
          <p:cNvPr id="16" name="Shape 14"/>
          <p:cNvSpPr/>
          <p:nvPr/>
        </p:nvSpPr>
        <p:spPr>
          <a:xfrm>
            <a:off x="1249680" y="3246120"/>
            <a:ext cx="274320" cy="38100"/>
          </a:xfrm>
          <a:prstGeom prst="roundRect">
            <a:avLst/>
          </a:prstGeom>
          <a:solidFill>
            <a:srgbClr val="E8ECE8"/>
          </a:solidFill>
          <a:ln w="12700">
            <a:solidFill>
              <a:srgbClr val="E8ECE8">
                <a:alpha val="0"/>
              </a:srgbClr>
            </a:solidFill>
            <a:prstDash val="solid"/>
          </a:ln>
        </p:spPr>
      </p:sp>
      <p:sp>
        <p:nvSpPr>
          <p:cNvPr id="17" name="Shape 15"/>
          <p:cNvSpPr/>
          <p:nvPr/>
        </p:nvSpPr>
        <p:spPr>
          <a:xfrm>
            <a:off x="1249680" y="3246120"/>
            <a:ext cx="65837" cy="38100"/>
          </a:xfrm>
          <a:prstGeom prst="roundRect">
            <a:avLst/>
          </a:prstGeom>
          <a:solidFill>
            <a:srgbClr val="087F7B"/>
          </a:solidFill>
          <a:ln w="12700">
            <a:solidFill>
              <a:srgbClr val="087F7B">
                <a:alpha val="0"/>
              </a:srgbClr>
            </a:solidFill>
            <a:prstDash val="solid"/>
          </a:ln>
        </p:spPr>
      </p:sp>
      <p:sp>
        <p:nvSpPr>
          <p:cNvPr id="18" name="Shape 16"/>
          <p:cNvSpPr/>
          <p:nvPr/>
        </p:nvSpPr>
        <p:spPr>
          <a:xfrm>
            <a:off x="1249680" y="3375660"/>
            <a:ext cx="274320" cy="38100"/>
          </a:xfrm>
          <a:prstGeom prst="roundRect">
            <a:avLst/>
          </a:prstGeom>
          <a:solidFill>
            <a:srgbClr val="E8ECE8"/>
          </a:solidFill>
          <a:ln w="12700">
            <a:solidFill>
              <a:srgbClr val="E8ECE8">
                <a:alpha val="0"/>
              </a:srgbClr>
            </a:solidFill>
            <a:prstDash val="solid"/>
          </a:ln>
        </p:spPr>
      </p:sp>
      <p:sp>
        <p:nvSpPr>
          <p:cNvPr id="19" name="Shape 17"/>
          <p:cNvSpPr/>
          <p:nvPr/>
        </p:nvSpPr>
        <p:spPr>
          <a:xfrm>
            <a:off x="1249680" y="3375660"/>
            <a:ext cx="109728" cy="38100"/>
          </a:xfrm>
          <a:prstGeom prst="roundRect">
            <a:avLst/>
          </a:prstGeom>
          <a:solidFill>
            <a:srgbClr val="93A5AA"/>
          </a:solidFill>
          <a:ln w="12700">
            <a:solidFill>
              <a:srgbClr val="93A5AA">
                <a:alpha val="0"/>
              </a:srgbClr>
            </a:solidFill>
            <a:prstDash val="solid"/>
          </a:ln>
        </p:spPr>
      </p:sp>
      <p:sp>
        <p:nvSpPr>
          <p:cNvPr id="20" name="Shape 18"/>
          <p:cNvSpPr/>
          <p:nvPr/>
        </p:nvSpPr>
        <p:spPr>
          <a:xfrm>
            <a:off x="1249680" y="3505200"/>
            <a:ext cx="274320" cy="38100"/>
          </a:xfrm>
          <a:prstGeom prst="roundRect">
            <a:avLst/>
          </a:prstGeom>
          <a:solidFill>
            <a:srgbClr val="E8ECE8"/>
          </a:solidFill>
          <a:ln w="12700">
            <a:solidFill>
              <a:srgbClr val="E8ECE8">
                <a:alpha val="0"/>
              </a:srgbClr>
            </a:solidFill>
            <a:prstDash val="solid"/>
          </a:ln>
        </p:spPr>
      </p:sp>
      <p:sp>
        <p:nvSpPr>
          <p:cNvPr id="21" name="Shape 19"/>
          <p:cNvSpPr/>
          <p:nvPr/>
        </p:nvSpPr>
        <p:spPr>
          <a:xfrm>
            <a:off x="1249680" y="3505200"/>
            <a:ext cx="153619" cy="38100"/>
          </a:xfrm>
          <a:prstGeom prst="roundRect">
            <a:avLst/>
          </a:prstGeom>
          <a:solidFill>
            <a:srgbClr val="93A5AA"/>
          </a:solidFill>
          <a:ln w="12700">
            <a:solidFill>
              <a:srgbClr val="93A5AA">
                <a:alpha val="0"/>
              </a:srgbClr>
            </a:solidFill>
            <a:prstDash val="solid"/>
          </a:ln>
        </p:spPr>
      </p:sp>
      <p:sp>
        <p:nvSpPr>
          <p:cNvPr id="22" name="Text 20"/>
          <p:cNvSpPr/>
          <p:nvPr/>
        </p:nvSpPr>
        <p:spPr>
          <a:xfrm>
            <a:off x="914400" y="3543300"/>
            <a:ext cx="5943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01</a:t>
            </a:r>
            <a:endParaRPr lang="en-US" sz="960" dirty="0"/>
          </a:p>
        </p:txBody>
      </p:sp>
      <p:sp>
        <p:nvSpPr>
          <p:cNvPr id="23" name="Shape 21"/>
          <p:cNvSpPr/>
          <p:nvPr/>
        </p:nvSpPr>
        <p:spPr>
          <a:xfrm>
            <a:off x="1706880" y="3108960"/>
            <a:ext cx="822960" cy="670560"/>
          </a:xfrm>
          <a:prstGeom prst="roundRect">
            <a:avLst/>
          </a:prstGeom>
          <a:solidFill>
            <a:srgbClr val="FFFFFF"/>
          </a:solidFill>
          <a:ln w="7620">
            <a:solidFill>
              <a:srgbClr val="D8DFD9"/>
            </a:solidFill>
            <a:prstDash val="solid"/>
          </a:ln>
        </p:spPr>
      </p:sp>
      <p:sp>
        <p:nvSpPr>
          <p:cNvPr id="24" name="Shape 22"/>
          <p:cNvSpPr/>
          <p:nvPr/>
        </p:nvSpPr>
        <p:spPr>
          <a:xfrm>
            <a:off x="1821180" y="3223260"/>
            <a:ext cx="205740" cy="205740"/>
          </a:xfrm>
          <a:prstGeom prst="roundRect">
            <a:avLst/>
          </a:prstGeom>
          <a:solidFill>
            <a:srgbClr val="DFC28E"/>
          </a:solidFill>
          <a:ln w="12700">
            <a:solidFill>
              <a:srgbClr val="DFC28E">
                <a:alpha val="0"/>
              </a:srgbClr>
            </a:solidFill>
            <a:prstDash val="solid"/>
          </a:ln>
        </p:spPr>
      </p:sp>
      <p:sp>
        <p:nvSpPr>
          <p:cNvPr id="25" name="Shape 23"/>
          <p:cNvSpPr/>
          <p:nvPr/>
        </p:nvSpPr>
        <p:spPr>
          <a:xfrm>
            <a:off x="1805940" y="3459480"/>
            <a:ext cx="259080" cy="0"/>
          </a:xfrm>
          <a:prstGeom prst="line">
            <a:avLst/>
          </a:prstGeom>
          <a:noFill/>
          <a:ln w="15240">
            <a:solidFill>
              <a:srgbClr val="93A5AA"/>
            </a:solidFill>
            <a:prstDash val="solid"/>
          </a:ln>
        </p:spPr>
      </p:sp>
      <p:sp>
        <p:nvSpPr>
          <p:cNvPr id="26" name="Shape 24"/>
          <p:cNvSpPr/>
          <p:nvPr/>
        </p:nvSpPr>
        <p:spPr>
          <a:xfrm>
            <a:off x="2156460" y="3246120"/>
            <a:ext cx="274320" cy="38100"/>
          </a:xfrm>
          <a:prstGeom prst="roundRect">
            <a:avLst/>
          </a:prstGeom>
          <a:solidFill>
            <a:srgbClr val="E8ECE8"/>
          </a:solidFill>
          <a:ln w="12700">
            <a:solidFill>
              <a:srgbClr val="E8ECE8">
                <a:alpha val="0"/>
              </a:srgbClr>
            </a:solidFill>
            <a:prstDash val="solid"/>
          </a:ln>
        </p:spPr>
      </p:sp>
      <p:sp>
        <p:nvSpPr>
          <p:cNvPr id="27" name="Shape 25"/>
          <p:cNvSpPr/>
          <p:nvPr/>
        </p:nvSpPr>
        <p:spPr>
          <a:xfrm>
            <a:off x="2156460" y="3246120"/>
            <a:ext cx="153619" cy="38100"/>
          </a:xfrm>
          <a:prstGeom prst="roundRect">
            <a:avLst/>
          </a:prstGeom>
          <a:solidFill>
            <a:srgbClr val="087F7B"/>
          </a:solidFill>
          <a:ln w="12700">
            <a:solidFill>
              <a:srgbClr val="087F7B">
                <a:alpha val="0"/>
              </a:srgbClr>
            </a:solidFill>
            <a:prstDash val="solid"/>
          </a:ln>
        </p:spPr>
      </p:sp>
      <p:sp>
        <p:nvSpPr>
          <p:cNvPr id="28" name="Shape 26"/>
          <p:cNvSpPr/>
          <p:nvPr/>
        </p:nvSpPr>
        <p:spPr>
          <a:xfrm>
            <a:off x="2156460" y="3375660"/>
            <a:ext cx="274320" cy="38100"/>
          </a:xfrm>
          <a:prstGeom prst="roundRect">
            <a:avLst/>
          </a:prstGeom>
          <a:solidFill>
            <a:srgbClr val="E8ECE8"/>
          </a:solidFill>
          <a:ln w="12700">
            <a:solidFill>
              <a:srgbClr val="E8ECE8">
                <a:alpha val="0"/>
              </a:srgbClr>
            </a:solidFill>
            <a:prstDash val="solid"/>
          </a:ln>
        </p:spPr>
      </p:sp>
      <p:sp>
        <p:nvSpPr>
          <p:cNvPr id="29" name="Shape 27"/>
          <p:cNvSpPr/>
          <p:nvPr/>
        </p:nvSpPr>
        <p:spPr>
          <a:xfrm>
            <a:off x="2156460" y="3375660"/>
            <a:ext cx="197510" cy="38100"/>
          </a:xfrm>
          <a:prstGeom prst="roundRect">
            <a:avLst/>
          </a:prstGeom>
          <a:solidFill>
            <a:srgbClr val="93A5AA"/>
          </a:solidFill>
          <a:ln w="12700">
            <a:solidFill>
              <a:srgbClr val="93A5AA">
                <a:alpha val="0"/>
              </a:srgbClr>
            </a:solidFill>
            <a:prstDash val="solid"/>
          </a:ln>
        </p:spPr>
      </p:sp>
      <p:sp>
        <p:nvSpPr>
          <p:cNvPr id="30" name="Shape 28"/>
          <p:cNvSpPr/>
          <p:nvPr/>
        </p:nvSpPr>
        <p:spPr>
          <a:xfrm>
            <a:off x="2156460" y="3505200"/>
            <a:ext cx="274320" cy="38100"/>
          </a:xfrm>
          <a:prstGeom prst="roundRect">
            <a:avLst/>
          </a:prstGeom>
          <a:solidFill>
            <a:srgbClr val="E8ECE8"/>
          </a:solidFill>
          <a:ln w="12700">
            <a:solidFill>
              <a:srgbClr val="E8ECE8">
                <a:alpha val="0"/>
              </a:srgbClr>
            </a:solidFill>
            <a:prstDash val="solid"/>
          </a:ln>
        </p:spPr>
      </p:sp>
      <p:sp>
        <p:nvSpPr>
          <p:cNvPr id="31" name="Shape 29"/>
          <p:cNvSpPr/>
          <p:nvPr/>
        </p:nvSpPr>
        <p:spPr>
          <a:xfrm>
            <a:off x="2156460" y="3505200"/>
            <a:ext cx="241402" cy="38100"/>
          </a:xfrm>
          <a:prstGeom prst="roundRect">
            <a:avLst/>
          </a:prstGeom>
          <a:solidFill>
            <a:srgbClr val="93A5AA"/>
          </a:solidFill>
          <a:ln w="12700">
            <a:solidFill>
              <a:srgbClr val="93A5AA">
                <a:alpha val="0"/>
              </a:srgbClr>
            </a:solidFill>
            <a:prstDash val="solid"/>
          </a:ln>
        </p:spPr>
      </p:sp>
      <p:sp>
        <p:nvSpPr>
          <p:cNvPr id="32" name="Text 30"/>
          <p:cNvSpPr/>
          <p:nvPr/>
        </p:nvSpPr>
        <p:spPr>
          <a:xfrm>
            <a:off x="1821180" y="3543300"/>
            <a:ext cx="5943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02</a:t>
            </a:r>
            <a:endParaRPr lang="en-US" sz="960" dirty="0"/>
          </a:p>
        </p:txBody>
      </p:sp>
      <p:sp>
        <p:nvSpPr>
          <p:cNvPr id="33" name="Shape 31"/>
          <p:cNvSpPr/>
          <p:nvPr/>
        </p:nvSpPr>
        <p:spPr>
          <a:xfrm>
            <a:off x="2613660" y="3108960"/>
            <a:ext cx="822960" cy="670560"/>
          </a:xfrm>
          <a:prstGeom prst="roundRect">
            <a:avLst/>
          </a:prstGeom>
          <a:solidFill>
            <a:srgbClr val="FFFFFF"/>
          </a:solidFill>
          <a:ln w="7620">
            <a:solidFill>
              <a:srgbClr val="D8DFD9"/>
            </a:solidFill>
            <a:prstDash val="solid"/>
          </a:ln>
        </p:spPr>
      </p:sp>
      <p:sp>
        <p:nvSpPr>
          <p:cNvPr id="34" name="Shape 32"/>
          <p:cNvSpPr/>
          <p:nvPr/>
        </p:nvSpPr>
        <p:spPr>
          <a:xfrm>
            <a:off x="2727960" y="3223260"/>
            <a:ext cx="205740" cy="205740"/>
          </a:xfrm>
          <a:prstGeom prst="roundRect">
            <a:avLst/>
          </a:prstGeom>
          <a:solidFill>
            <a:srgbClr val="DFC28E"/>
          </a:solidFill>
          <a:ln w="12700">
            <a:solidFill>
              <a:srgbClr val="DFC28E">
                <a:alpha val="0"/>
              </a:srgbClr>
            </a:solidFill>
            <a:prstDash val="solid"/>
          </a:ln>
        </p:spPr>
      </p:sp>
      <p:sp>
        <p:nvSpPr>
          <p:cNvPr id="35" name="Shape 33"/>
          <p:cNvSpPr/>
          <p:nvPr/>
        </p:nvSpPr>
        <p:spPr>
          <a:xfrm>
            <a:off x="2712720" y="3459480"/>
            <a:ext cx="259080" cy="0"/>
          </a:xfrm>
          <a:prstGeom prst="line">
            <a:avLst/>
          </a:prstGeom>
          <a:noFill/>
          <a:ln w="15240">
            <a:solidFill>
              <a:srgbClr val="93A5AA"/>
            </a:solidFill>
            <a:prstDash val="solid"/>
          </a:ln>
        </p:spPr>
      </p:sp>
      <p:sp>
        <p:nvSpPr>
          <p:cNvPr id="36" name="Shape 34"/>
          <p:cNvSpPr/>
          <p:nvPr/>
        </p:nvSpPr>
        <p:spPr>
          <a:xfrm>
            <a:off x="3063240" y="3246120"/>
            <a:ext cx="274320" cy="38100"/>
          </a:xfrm>
          <a:prstGeom prst="roundRect">
            <a:avLst/>
          </a:prstGeom>
          <a:solidFill>
            <a:srgbClr val="E8ECE8"/>
          </a:solidFill>
          <a:ln w="12700">
            <a:solidFill>
              <a:srgbClr val="E8ECE8">
                <a:alpha val="0"/>
              </a:srgbClr>
            </a:solidFill>
            <a:prstDash val="solid"/>
          </a:ln>
        </p:spPr>
      </p:sp>
      <p:sp>
        <p:nvSpPr>
          <p:cNvPr id="37" name="Shape 35"/>
          <p:cNvSpPr/>
          <p:nvPr/>
        </p:nvSpPr>
        <p:spPr>
          <a:xfrm>
            <a:off x="3063240" y="3246120"/>
            <a:ext cx="241402" cy="38100"/>
          </a:xfrm>
          <a:prstGeom prst="roundRect">
            <a:avLst/>
          </a:prstGeom>
          <a:solidFill>
            <a:srgbClr val="087F7B"/>
          </a:solidFill>
          <a:ln w="12700">
            <a:solidFill>
              <a:srgbClr val="087F7B">
                <a:alpha val="0"/>
              </a:srgbClr>
            </a:solidFill>
            <a:prstDash val="solid"/>
          </a:ln>
        </p:spPr>
      </p:sp>
      <p:sp>
        <p:nvSpPr>
          <p:cNvPr id="38" name="Shape 36"/>
          <p:cNvSpPr/>
          <p:nvPr/>
        </p:nvSpPr>
        <p:spPr>
          <a:xfrm>
            <a:off x="3063240" y="3375660"/>
            <a:ext cx="274320" cy="38100"/>
          </a:xfrm>
          <a:prstGeom prst="roundRect">
            <a:avLst/>
          </a:prstGeom>
          <a:solidFill>
            <a:srgbClr val="E8ECE8"/>
          </a:solidFill>
          <a:ln w="12700">
            <a:solidFill>
              <a:srgbClr val="E8ECE8">
                <a:alpha val="0"/>
              </a:srgbClr>
            </a:solidFill>
            <a:prstDash val="solid"/>
          </a:ln>
        </p:spPr>
      </p:sp>
      <p:sp>
        <p:nvSpPr>
          <p:cNvPr id="39" name="Shape 37"/>
          <p:cNvSpPr/>
          <p:nvPr/>
        </p:nvSpPr>
        <p:spPr>
          <a:xfrm>
            <a:off x="3063240" y="3375660"/>
            <a:ext cx="65837" cy="38100"/>
          </a:xfrm>
          <a:prstGeom prst="roundRect">
            <a:avLst/>
          </a:prstGeom>
          <a:solidFill>
            <a:srgbClr val="93A5AA"/>
          </a:solidFill>
          <a:ln w="12700">
            <a:solidFill>
              <a:srgbClr val="93A5AA">
                <a:alpha val="0"/>
              </a:srgbClr>
            </a:solidFill>
            <a:prstDash val="solid"/>
          </a:ln>
        </p:spPr>
      </p:sp>
      <p:sp>
        <p:nvSpPr>
          <p:cNvPr id="40" name="Shape 38"/>
          <p:cNvSpPr/>
          <p:nvPr/>
        </p:nvSpPr>
        <p:spPr>
          <a:xfrm>
            <a:off x="3063240" y="3505200"/>
            <a:ext cx="274320" cy="38100"/>
          </a:xfrm>
          <a:prstGeom prst="roundRect">
            <a:avLst/>
          </a:prstGeom>
          <a:solidFill>
            <a:srgbClr val="E8ECE8"/>
          </a:solidFill>
          <a:ln w="12700">
            <a:solidFill>
              <a:srgbClr val="E8ECE8">
                <a:alpha val="0"/>
              </a:srgbClr>
            </a:solidFill>
            <a:prstDash val="solid"/>
          </a:ln>
        </p:spPr>
      </p:sp>
      <p:sp>
        <p:nvSpPr>
          <p:cNvPr id="41" name="Shape 39"/>
          <p:cNvSpPr/>
          <p:nvPr/>
        </p:nvSpPr>
        <p:spPr>
          <a:xfrm>
            <a:off x="3063240" y="3505200"/>
            <a:ext cx="109728" cy="38100"/>
          </a:xfrm>
          <a:prstGeom prst="roundRect">
            <a:avLst/>
          </a:prstGeom>
          <a:solidFill>
            <a:srgbClr val="93A5AA"/>
          </a:solidFill>
          <a:ln w="12700">
            <a:solidFill>
              <a:srgbClr val="93A5AA">
                <a:alpha val="0"/>
              </a:srgbClr>
            </a:solidFill>
            <a:prstDash val="solid"/>
          </a:ln>
        </p:spPr>
      </p:sp>
      <p:sp>
        <p:nvSpPr>
          <p:cNvPr id="42" name="Text 40"/>
          <p:cNvSpPr/>
          <p:nvPr/>
        </p:nvSpPr>
        <p:spPr>
          <a:xfrm>
            <a:off x="2727960" y="3543300"/>
            <a:ext cx="5943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03</a:t>
            </a:r>
            <a:endParaRPr lang="en-US" sz="960" dirty="0"/>
          </a:p>
        </p:txBody>
      </p:sp>
      <p:sp>
        <p:nvSpPr>
          <p:cNvPr id="43" name="Shape 41"/>
          <p:cNvSpPr/>
          <p:nvPr/>
        </p:nvSpPr>
        <p:spPr>
          <a:xfrm>
            <a:off x="800100" y="3878580"/>
            <a:ext cx="822960" cy="670560"/>
          </a:xfrm>
          <a:prstGeom prst="roundRect">
            <a:avLst/>
          </a:prstGeom>
          <a:solidFill>
            <a:srgbClr val="FFFFFF"/>
          </a:solidFill>
          <a:ln w="7620">
            <a:solidFill>
              <a:srgbClr val="D8DFD9"/>
            </a:solidFill>
            <a:prstDash val="solid"/>
          </a:ln>
        </p:spPr>
      </p:sp>
      <p:sp>
        <p:nvSpPr>
          <p:cNvPr id="44" name="Shape 42"/>
          <p:cNvSpPr/>
          <p:nvPr/>
        </p:nvSpPr>
        <p:spPr>
          <a:xfrm>
            <a:off x="914400" y="3992880"/>
            <a:ext cx="205740" cy="205740"/>
          </a:xfrm>
          <a:prstGeom prst="roundRect">
            <a:avLst/>
          </a:prstGeom>
          <a:solidFill>
            <a:srgbClr val="DFC28E"/>
          </a:solidFill>
          <a:ln w="12700">
            <a:solidFill>
              <a:srgbClr val="DFC28E">
                <a:alpha val="0"/>
              </a:srgbClr>
            </a:solidFill>
            <a:prstDash val="solid"/>
          </a:ln>
        </p:spPr>
      </p:sp>
      <p:sp>
        <p:nvSpPr>
          <p:cNvPr id="45" name="Shape 43"/>
          <p:cNvSpPr/>
          <p:nvPr/>
        </p:nvSpPr>
        <p:spPr>
          <a:xfrm>
            <a:off x="899160" y="4229100"/>
            <a:ext cx="259080" cy="0"/>
          </a:xfrm>
          <a:prstGeom prst="line">
            <a:avLst/>
          </a:prstGeom>
          <a:noFill/>
          <a:ln w="15240">
            <a:solidFill>
              <a:srgbClr val="93A5AA"/>
            </a:solidFill>
            <a:prstDash val="solid"/>
          </a:ln>
        </p:spPr>
      </p:sp>
      <p:sp>
        <p:nvSpPr>
          <p:cNvPr id="46" name="Shape 44"/>
          <p:cNvSpPr/>
          <p:nvPr/>
        </p:nvSpPr>
        <p:spPr>
          <a:xfrm>
            <a:off x="1249680" y="4015740"/>
            <a:ext cx="274320" cy="38100"/>
          </a:xfrm>
          <a:prstGeom prst="roundRect">
            <a:avLst/>
          </a:prstGeom>
          <a:solidFill>
            <a:srgbClr val="E8ECE8"/>
          </a:solidFill>
          <a:ln w="12700">
            <a:solidFill>
              <a:srgbClr val="E8ECE8">
                <a:alpha val="0"/>
              </a:srgbClr>
            </a:solidFill>
            <a:prstDash val="solid"/>
          </a:ln>
        </p:spPr>
      </p:sp>
      <p:sp>
        <p:nvSpPr>
          <p:cNvPr id="47" name="Shape 45"/>
          <p:cNvSpPr/>
          <p:nvPr/>
        </p:nvSpPr>
        <p:spPr>
          <a:xfrm>
            <a:off x="1249680" y="4015740"/>
            <a:ext cx="109728" cy="38100"/>
          </a:xfrm>
          <a:prstGeom prst="roundRect">
            <a:avLst/>
          </a:prstGeom>
          <a:solidFill>
            <a:srgbClr val="087F7B"/>
          </a:solidFill>
          <a:ln w="12700">
            <a:solidFill>
              <a:srgbClr val="087F7B">
                <a:alpha val="0"/>
              </a:srgbClr>
            </a:solidFill>
            <a:prstDash val="solid"/>
          </a:ln>
        </p:spPr>
      </p:sp>
      <p:sp>
        <p:nvSpPr>
          <p:cNvPr id="48" name="Shape 46"/>
          <p:cNvSpPr/>
          <p:nvPr/>
        </p:nvSpPr>
        <p:spPr>
          <a:xfrm>
            <a:off x="1249680" y="4145280"/>
            <a:ext cx="274320" cy="38100"/>
          </a:xfrm>
          <a:prstGeom prst="roundRect">
            <a:avLst/>
          </a:prstGeom>
          <a:solidFill>
            <a:srgbClr val="E8ECE8"/>
          </a:solidFill>
          <a:ln w="12700">
            <a:solidFill>
              <a:srgbClr val="E8ECE8">
                <a:alpha val="0"/>
              </a:srgbClr>
            </a:solidFill>
            <a:prstDash val="solid"/>
          </a:ln>
        </p:spPr>
      </p:sp>
      <p:sp>
        <p:nvSpPr>
          <p:cNvPr id="49" name="Shape 47"/>
          <p:cNvSpPr/>
          <p:nvPr/>
        </p:nvSpPr>
        <p:spPr>
          <a:xfrm>
            <a:off x="1249680" y="4145280"/>
            <a:ext cx="153619" cy="38100"/>
          </a:xfrm>
          <a:prstGeom prst="roundRect">
            <a:avLst/>
          </a:prstGeom>
          <a:solidFill>
            <a:srgbClr val="93A5AA"/>
          </a:solidFill>
          <a:ln w="12700">
            <a:solidFill>
              <a:srgbClr val="93A5AA">
                <a:alpha val="0"/>
              </a:srgbClr>
            </a:solidFill>
            <a:prstDash val="solid"/>
          </a:ln>
        </p:spPr>
      </p:sp>
      <p:sp>
        <p:nvSpPr>
          <p:cNvPr id="50" name="Shape 48"/>
          <p:cNvSpPr/>
          <p:nvPr/>
        </p:nvSpPr>
        <p:spPr>
          <a:xfrm>
            <a:off x="1249680" y="4274820"/>
            <a:ext cx="274320" cy="38100"/>
          </a:xfrm>
          <a:prstGeom prst="roundRect">
            <a:avLst/>
          </a:prstGeom>
          <a:solidFill>
            <a:srgbClr val="E8ECE8"/>
          </a:solidFill>
          <a:ln w="12700">
            <a:solidFill>
              <a:srgbClr val="E8ECE8">
                <a:alpha val="0"/>
              </a:srgbClr>
            </a:solidFill>
            <a:prstDash val="solid"/>
          </a:ln>
        </p:spPr>
      </p:sp>
      <p:sp>
        <p:nvSpPr>
          <p:cNvPr id="51" name="Shape 49"/>
          <p:cNvSpPr/>
          <p:nvPr/>
        </p:nvSpPr>
        <p:spPr>
          <a:xfrm>
            <a:off x="1249680" y="4274820"/>
            <a:ext cx="197510" cy="38100"/>
          </a:xfrm>
          <a:prstGeom prst="roundRect">
            <a:avLst/>
          </a:prstGeom>
          <a:solidFill>
            <a:srgbClr val="93A5AA"/>
          </a:solidFill>
          <a:ln w="12700">
            <a:solidFill>
              <a:srgbClr val="93A5AA">
                <a:alpha val="0"/>
              </a:srgbClr>
            </a:solidFill>
            <a:prstDash val="solid"/>
          </a:ln>
        </p:spPr>
      </p:sp>
      <p:sp>
        <p:nvSpPr>
          <p:cNvPr id="52" name="Text 50"/>
          <p:cNvSpPr/>
          <p:nvPr/>
        </p:nvSpPr>
        <p:spPr>
          <a:xfrm>
            <a:off x="914400" y="4312920"/>
            <a:ext cx="5943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04</a:t>
            </a:r>
            <a:endParaRPr lang="en-US" sz="960" dirty="0"/>
          </a:p>
        </p:txBody>
      </p:sp>
      <p:sp>
        <p:nvSpPr>
          <p:cNvPr id="53" name="Shape 51"/>
          <p:cNvSpPr/>
          <p:nvPr/>
        </p:nvSpPr>
        <p:spPr>
          <a:xfrm>
            <a:off x="1706880" y="3878580"/>
            <a:ext cx="822960" cy="670560"/>
          </a:xfrm>
          <a:prstGeom prst="roundRect">
            <a:avLst/>
          </a:prstGeom>
          <a:solidFill>
            <a:srgbClr val="FFFFFF"/>
          </a:solidFill>
          <a:ln w="7620">
            <a:solidFill>
              <a:srgbClr val="D8DFD9"/>
            </a:solidFill>
            <a:prstDash val="solid"/>
          </a:ln>
        </p:spPr>
      </p:sp>
      <p:sp>
        <p:nvSpPr>
          <p:cNvPr id="54" name="Shape 52"/>
          <p:cNvSpPr/>
          <p:nvPr/>
        </p:nvSpPr>
        <p:spPr>
          <a:xfrm>
            <a:off x="1821180" y="3992880"/>
            <a:ext cx="205740" cy="205740"/>
          </a:xfrm>
          <a:prstGeom prst="roundRect">
            <a:avLst/>
          </a:prstGeom>
          <a:solidFill>
            <a:srgbClr val="DFC28E"/>
          </a:solidFill>
          <a:ln w="12700">
            <a:solidFill>
              <a:srgbClr val="DFC28E">
                <a:alpha val="0"/>
              </a:srgbClr>
            </a:solidFill>
            <a:prstDash val="solid"/>
          </a:ln>
        </p:spPr>
      </p:sp>
      <p:sp>
        <p:nvSpPr>
          <p:cNvPr id="55" name="Shape 53"/>
          <p:cNvSpPr/>
          <p:nvPr/>
        </p:nvSpPr>
        <p:spPr>
          <a:xfrm>
            <a:off x="1805940" y="4229100"/>
            <a:ext cx="259080" cy="0"/>
          </a:xfrm>
          <a:prstGeom prst="line">
            <a:avLst/>
          </a:prstGeom>
          <a:noFill/>
          <a:ln w="15240">
            <a:solidFill>
              <a:srgbClr val="93A5AA"/>
            </a:solidFill>
            <a:prstDash val="solid"/>
          </a:ln>
        </p:spPr>
      </p:sp>
      <p:sp>
        <p:nvSpPr>
          <p:cNvPr id="56" name="Shape 54"/>
          <p:cNvSpPr/>
          <p:nvPr/>
        </p:nvSpPr>
        <p:spPr>
          <a:xfrm>
            <a:off x="2156460" y="4015740"/>
            <a:ext cx="274320" cy="38100"/>
          </a:xfrm>
          <a:prstGeom prst="roundRect">
            <a:avLst/>
          </a:prstGeom>
          <a:solidFill>
            <a:srgbClr val="E8ECE8"/>
          </a:solidFill>
          <a:ln w="12700">
            <a:solidFill>
              <a:srgbClr val="E8ECE8">
                <a:alpha val="0"/>
              </a:srgbClr>
            </a:solidFill>
            <a:prstDash val="solid"/>
          </a:ln>
        </p:spPr>
      </p:sp>
      <p:sp>
        <p:nvSpPr>
          <p:cNvPr id="57" name="Shape 55"/>
          <p:cNvSpPr/>
          <p:nvPr/>
        </p:nvSpPr>
        <p:spPr>
          <a:xfrm>
            <a:off x="2156460" y="4015740"/>
            <a:ext cx="197510" cy="38100"/>
          </a:xfrm>
          <a:prstGeom prst="roundRect">
            <a:avLst/>
          </a:prstGeom>
          <a:solidFill>
            <a:srgbClr val="087F7B"/>
          </a:solidFill>
          <a:ln w="12700">
            <a:solidFill>
              <a:srgbClr val="087F7B">
                <a:alpha val="0"/>
              </a:srgbClr>
            </a:solidFill>
            <a:prstDash val="solid"/>
          </a:ln>
        </p:spPr>
      </p:sp>
      <p:sp>
        <p:nvSpPr>
          <p:cNvPr id="58" name="Shape 56"/>
          <p:cNvSpPr/>
          <p:nvPr/>
        </p:nvSpPr>
        <p:spPr>
          <a:xfrm>
            <a:off x="2156460" y="4145280"/>
            <a:ext cx="274320" cy="38100"/>
          </a:xfrm>
          <a:prstGeom prst="roundRect">
            <a:avLst/>
          </a:prstGeom>
          <a:solidFill>
            <a:srgbClr val="E8ECE8"/>
          </a:solidFill>
          <a:ln w="12700">
            <a:solidFill>
              <a:srgbClr val="E8ECE8">
                <a:alpha val="0"/>
              </a:srgbClr>
            </a:solidFill>
            <a:prstDash val="solid"/>
          </a:ln>
        </p:spPr>
      </p:sp>
      <p:sp>
        <p:nvSpPr>
          <p:cNvPr id="59" name="Shape 57"/>
          <p:cNvSpPr/>
          <p:nvPr/>
        </p:nvSpPr>
        <p:spPr>
          <a:xfrm>
            <a:off x="2156460" y="4145280"/>
            <a:ext cx="241402" cy="38100"/>
          </a:xfrm>
          <a:prstGeom prst="roundRect">
            <a:avLst/>
          </a:prstGeom>
          <a:solidFill>
            <a:srgbClr val="93A5AA"/>
          </a:solidFill>
          <a:ln w="12700">
            <a:solidFill>
              <a:srgbClr val="93A5AA">
                <a:alpha val="0"/>
              </a:srgbClr>
            </a:solidFill>
            <a:prstDash val="solid"/>
          </a:ln>
        </p:spPr>
      </p:sp>
      <p:sp>
        <p:nvSpPr>
          <p:cNvPr id="60" name="Shape 58"/>
          <p:cNvSpPr/>
          <p:nvPr/>
        </p:nvSpPr>
        <p:spPr>
          <a:xfrm>
            <a:off x="2156460" y="4274820"/>
            <a:ext cx="274320" cy="38100"/>
          </a:xfrm>
          <a:prstGeom prst="roundRect">
            <a:avLst/>
          </a:prstGeom>
          <a:solidFill>
            <a:srgbClr val="E8ECE8"/>
          </a:solidFill>
          <a:ln w="12700">
            <a:solidFill>
              <a:srgbClr val="E8ECE8">
                <a:alpha val="0"/>
              </a:srgbClr>
            </a:solidFill>
            <a:prstDash val="solid"/>
          </a:ln>
        </p:spPr>
      </p:sp>
      <p:sp>
        <p:nvSpPr>
          <p:cNvPr id="61" name="Shape 59"/>
          <p:cNvSpPr/>
          <p:nvPr/>
        </p:nvSpPr>
        <p:spPr>
          <a:xfrm>
            <a:off x="2156460" y="4274820"/>
            <a:ext cx="65837" cy="38100"/>
          </a:xfrm>
          <a:prstGeom prst="roundRect">
            <a:avLst/>
          </a:prstGeom>
          <a:solidFill>
            <a:srgbClr val="93A5AA"/>
          </a:solidFill>
          <a:ln w="12700">
            <a:solidFill>
              <a:srgbClr val="93A5AA">
                <a:alpha val="0"/>
              </a:srgbClr>
            </a:solidFill>
            <a:prstDash val="solid"/>
          </a:ln>
        </p:spPr>
      </p:sp>
      <p:sp>
        <p:nvSpPr>
          <p:cNvPr id="62" name="Text 60"/>
          <p:cNvSpPr/>
          <p:nvPr/>
        </p:nvSpPr>
        <p:spPr>
          <a:xfrm>
            <a:off x="1821180" y="4312920"/>
            <a:ext cx="5943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05</a:t>
            </a:r>
            <a:endParaRPr lang="en-US" sz="960" dirty="0"/>
          </a:p>
        </p:txBody>
      </p:sp>
      <p:sp>
        <p:nvSpPr>
          <p:cNvPr id="63" name="Shape 61"/>
          <p:cNvSpPr/>
          <p:nvPr/>
        </p:nvSpPr>
        <p:spPr>
          <a:xfrm>
            <a:off x="2613660" y="3878580"/>
            <a:ext cx="822960" cy="670560"/>
          </a:xfrm>
          <a:prstGeom prst="roundRect">
            <a:avLst/>
          </a:prstGeom>
          <a:solidFill>
            <a:srgbClr val="FFFFFF"/>
          </a:solidFill>
          <a:ln w="7620">
            <a:solidFill>
              <a:srgbClr val="D8DFD9"/>
            </a:solidFill>
            <a:prstDash val="solid"/>
          </a:ln>
        </p:spPr>
      </p:sp>
      <p:sp>
        <p:nvSpPr>
          <p:cNvPr id="64" name="Shape 62"/>
          <p:cNvSpPr/>
          <p:nvPr/>
        </p:nvSpPr>
        <p:spPr>
          <a:xfrm>
            <a:off x="2727960" y="3992880"/>
            <a:ext cx="205740" cy="205740"/>
          </a:xfrm>
          <a:prstGeom prst="roundRect">
            <a:avLst/>
          </a:prstGeom>
          <a:solidFill>
            <a:srgbClr val="DFC28E"/>
          </a:solidFill>
          <a:ln w="12700">
            <a:solidFill>
              <a:srgbClr val="DFC28E">
                <a:alpha val="0"/>
              </a:srgbClr>
            </a:solidFill>
            <a:prstDash val="solid"/>
          </a:ln>
        </p:spPr>
      </p:sp>
      <p:sp>
        <p:nvSpPr>
          <p:cNvPr id="65" name="Shape 63"/>
          <p:cNvSpPr/>
          <p:nvPr/>
        </p:nvSpPr>
        <p:spPr>
          <a:xfrm>
            <a:off x="2712720" y="4229100"/>
            <a:ext cx="259080" cy="0"/>
          </a:xfrm>
          <a:prstGeom prst="line">
            <a:avLst/>
          </a:prstGeom>
          <a:noFill/>
          <a:ln w="15240">
            <a:solidFill>
              <a:srgbClr val="93A5AA"/>
            </a:solidFill>
            <a:prstDash val="solid"/>
          </a:ln>
        </p:spPr>
      </p:sp>
      <p:sp>
        <p:nvSpPr>
          <p:cNvPr id="66" name="Shape 64"/>
          <p:cNvSpPr/>
          <p:nvPr/>
        </p:nvSpPr>
        <p:spPr>
          <a:xfrm>
            <a:off x="3063240" y="4015740"/>
            <a:ext cx="274320" cy="38100"/>
          </a:xfrm>
          <a:prstGeom prst="roundRect">
            <a:avLst/>
          </a:prstGeom>
          <a:solidFill>
            <a:srgbClr val="E8ECE8"/>
          </a:solidFill>
          <a:ln w="12700">
            <a:solidFill>
              <a:srgbClr val="E8ECE8">
                <a:alpha val="0"/>
              </a:srgbClr>
            </a:solidFill>
            <a:prstDash val="solid"/>
          </a:ln>
        </p:spPr>
      </p:sp>
      <p:sp>
        <p:nvSpPr>
          <p:cNvPr id="67" name="Shape 65"/>
          <p:cNvSpPr/>
          <p:nvPr/>
        </p:nvSpPr>
        <p:spPr>
          <a:xfrm>
            <a:off x="3063240" y="4015740"/>
            <a:ext cx="65837" cy="38100"/>
          </a:xfrm>
          <a:prstGeom prst="roundRect">
            <a:avLst/>
          </a:prstGeom>
          <a:solidFill>
            <a:srgbClr val="087F7B"/>
          </a:solidFill>
          <a:ln w="12700">
            <a:solidFill>
              <a:srgbClr val="087F7B">
                <a:alpha val="0"/>
              </a:srgbClr>
            </a:solidFill>
            <a:prstDash val="solid"/>
          </a:ln>
        </p:spPr>
      </p:sp>
      <p:sp>
        <p:nvSpPr>
          <p:cNvPr id="68" name="Shape 66"/>
          <p:cNvSpPr/>
          <p:nvPr/>
        </p:nvSpPr>
        <p:spPr>
          <a:xfrm>
            <a:off x="3063240" y="4145280"/>
            <a:ext cx="274320" cy="38100"/>
          </a:xfrm>
          <a:prstGeom prst="roundRect">
            <a:avLst/>
          </a:prstGeom>
          <a:solidFill>
            <a:srgbClr val="E8ECE8"/>
          </a:solidFill>
          <a:ln w="12700">
            <a:solidFill>
              <a:srgbClr val="E8ECE8">
                <a:alpha val="0"/>
              </a:srgbClr>
            </a:solidFill>
            <a:prstDash val="solid"/>
          </a:ln>
        </p:spPr>
      </p:sp>
      <p:sp>
        <p:nvSpPr>
          <p:cNvPr id="69" name="Shape 67"/>
          <p:cNvSpPr/>
          <p:nvPr/>
        </p:nvSpPr>
        <p:spPr>
          <a:xfrm>
            <a:off x="3063240" y="4145280"/>
            <a:ext cx="109728" cy="38100"/>
          </a:xfrm>
          <a:prstGeom prst="roundRect">
            <a:avLst/>
          </a:prstGeom>
          <a:solidFill>
            <a:srgbClr val="93A5AA"/>
          </a:solidFill>
          <a:ln w="12700">
            <a:solidFill>
              <a:srgbClr val="93A5AA">
                <a:alpha val="0"/>
              </a:srgbClr>
            </a:solidFill>
            <a:prstDash val="solid"/>
          </a:ln>
        </p:spPr>
      </p:sp>
      <p:sp>
        <p:nvSpPr>
          <p:cNvPr id="70" name="Shape 68"/>
          <p:cNvSpPr/>
          <p:nvPr/>
        </p:nvSpPr>
        <p:spPr>
          <a:xfrm>
            <a:off x="3063240" y="4274820"/>
            <a:ext cx="274320" cy="38100"/>
          </a:xfrm>
          <a:prstGeom prst="roundRect">
            <a:avLst/>
          </a:prstGeom>
          <a:solidFill>
            <a:srgbClr val="E8ECE8"/>
          </a:solidFill>
          <a:ln w="12700">
            <a:solidFill>
              <a:srgbClr val="E8ECE8">
                <a:alpha val="0"/>
              </a:srgbClr>
            </a:solidFill>
            <a:prstDash val="solid"/>
          </a:ln>
        </p:spPr>
      </p:sp>
      <p:sp>
        <p:nvSpPr>
          <p:cNvPr id="71" name="Shape 69"/>
          <p:cNvSpPr/>
          <p:nvPr/>
        </p:nvSpPr>
        <p:spPr>
          <a:xfrm>
            <a:off x="3063240" y="4274820"/>
            <a:ext cx="153619" cy="38100"/>
          </a:xfrm>
          <a:prstGeom prst="roundRect">
            <a:avLst/>
          </a:prstGeom>
          <a:solidFill>
            <a:srgbClr val="93A5AA"/>
          </a:solidFill>
          <a:ln w="12700">
            <a:solidFill>
              <a:srgbClr val="93A5AA">
                <a:alpha val="0"/>
              </a:srgbClr>
            </a:solidFill>
            <a:prstDash val="solid"/>
          </a:ln>
        </p:spPr>
      </p:sp>
      <p:sp>
        <p:nvSpPr>
          <p:cNvPr id="72" name="Text 70"/>
          <p:cNvSpPr/>
          <p:nvPr/>
        </p:nvSpPr>
        <p:spPr>
          <a:xfrm>
            <a:off x="2727960" y="4312920"/>
            <a:ext cx="5943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06</a:t>
            </a:r>
            <a:endParaRPr lang="en-US" sz="960" dirty="0"/>
          </a:p>
        </p:txBody>
      </p:sp>
      <p:sp>
        <p:nvSpPr>
          <p:cNvPr id="73" name="Shape 71"/>
          <p:cNvSpPr/>
          <p:nvPr/>
        </p:nvSpPr>
        <p:spPr>
          <a:xfrm>
            <a:off x="3870960" y="3550920"/>
            <a:ext cx="777240" cy="0"/>
          </a:xfrm>
          <a:prstGeom prst="line">
            <a:avLst/>
          </a:prstGeom>
          <a:noFill/>
          <a:ln w="22860">
            <a:solidFill>
              <a:srgbClr val="62747A"/>
            </a:solidFill>
            <a:prstDash val="solid"/>
            <a:tailEnd type="triangle"/>
          </a:ln>
        </p:spPr>
      </p:sp>
      <p:sp>
        <p:nvSpPr>
          <p:cNvPr id="74" name="Shape 72"/>
          <p:cNvSpPr/>
          <p:nvPr/>
        </p:nvSpPr>
        <p:spPr>
          <a:xfrm>
            <a:off x="4914900" y="2872740"/>
            <a:ext cx="2339340" cy="1394460"/>
          </a:xfrm>
          <a:prstGeom prst="roundRect">
            <a:avLst/>
          </a:prstGeom>
          <a:solidFill>
            <a:srgbClr val="FFFFFF"/>
          </a:solidFill>
          <a:ln w="11430">
            <a:solidFill>
              <a:srgbClr val="D8DFD9"/>
            </a:solidFill>
            <a:prstDash val="solid"/>
          </a:ln>
        </p:spPr>
      </p:sp>
      <p:sp>
        <p:nvSpPr>
          <p:cNvPr id="75" name="Shape 73"/>
          <p:cNvSpPr/>
          <p:nvPr/>
        </p:nvSpPr>
        <p:spPr>
          <a:xfrm flipV="1">
            <a:off x="5524500" y="3127058"/>
            <a:ext cx="556260" cy="28893"/>
          </a:xfrm>
          <a:prstGeom prst="line">
            <a:avLst/>
          </a:prstGeom>
          <a:noFill/>
          <a:ln w="11430">
            <a:solidFill>
              <a:srgbClr val="A5CBC0"/>
            </a:solidFill>
            <a:prstDash val="solid"/>
          </a:ln>
        </p:spPr>
      </p:sp>
      <p:sp>
        <p:nvSpPr>
          <p:cNvPr id="76" name="Shape 74"/>
          <p:cNvSpPr/>
          <p:nvPr/>
        </p:nvSpPr>
        <p:spPr>
          <a:xfrm>
            <a:off x="5524500" y="3155950"/>
            <a:ext cx="556260" cy="144462"/>
          </a:xfrm>
          <a:prstGeom prst="line">
            <a:avLst/>
          </a:prstGeom>
          <a:noFill/>
          <a:ln w="11430">
            <a:solidFill>
              <a:srgbClr val="A5CBC0"/>
            </a:solidFill>
            <a:prstDash val="solid"/>
          </a:ln>
        </p:spPr>
      </p:sp>
      <p:sp>
        <p:nvSpPr>
          <p:cNvPr id="77" name="Shape 75"/>
          <p:cNvSpPr/>
          <p:nvPr/>
        </p:nvSpPr>
        <p:spPr>
          <a:xfrm>
            <a:off x="5524500" y="3155950"/>
            <a:ext cx="556260" cy="317817"/>
          </a:xfrm>
          <a:prstGeom prst="line">
            <a:avLst/>
          </a:prstGeom>
          <a:noFill/>
          <a:ln w="11430">
            <a:solidFill>
              <a:srgbClr val="A5CBC0"/>
            </a:solidFill>
            <a:prstDash val="solid"/>
          </a:ln>
        </p:spPr>
      </p:sp>
      <p:sp>
        <p:nvSpPr>
          <p:cNvPr id="78" name="Shape 76"/>
          <p:cNvSpPr/>
          <p:nvPr/>
        </p:nvSpPr>
        <p:spPr>
          <a:xfrm>
            <a:off x="5524500" y="3155950"/>
            <a:ext cx="556260" cy="491172"/>
          </a:xfrm>
          <a:prstGeom prst="line">
            <a:avLst/>
          </a:prstGeom>
          <a:noFill/>
          <a:ln w="11430">
            <a:solidFill>
              <a:srgbClr val="A5CBC0"/>
            </a:solidFill>
            <a:prstDash val="solid"/>
          </a:ln>
        </p:spPr>
      </p:sp>
      <p:sp>
        <p:nvSpPr>
          <p:cNvPr id="79" name="Shape 77"/>
          <p:cNvSpPr/>
          <p:nvPr/>
        </p:nvSpPr>
        <p:spPr>
          <a:xfrm flipV="1">
            <a:off x="5524500" y="3127058"/>
            <a:ext cx="556260" cy="260033"/>
          </a:xfrm>
          <a:prstGeom prst="line">
            <a:avLst/>
          </a:prstGeom>
          <a:noFill/>
          <a:ln w="11430">
            <a:solidFill>
              <a:srgbClr val="A5CBC0"/>
            </a:solidFill>
            <a:prstDash val="solid"/>
          </a:ln>
        </p:spPr>
      </p:sp>
      <p:sp>
        <p:nvSpPr>
          <p:cNvPr id="80" name="Shape 78"/>
          <p:cNvSpPr/>
          <p:nvPr/>
        </p:nvSpPr>
        <p:spPr>
          <a:xfrm flipV="1">
            <a:off x="5524500" y="3300413"/>
            <a:ext cx="556260" cy="86678"/>
          </a:xfrm>
          <a:prstGeom prst="line">
            <a:avLst/>
          </a:prstGeom>
          <a:noFill/>
          <a:ln w="11430">
            <a:solidFill>
              <a:srgbClr val="A5CBC0"/>
            </a:solidFill>
            <a:prstDash val="solid"/>
          </a:ln>
        </p:spPr>
      </p:sp>
      <p:sp>
        <p:nvSpPr>
          <p:cNvPr id="81" name="Shape 79"/>
          <p:cNvSpPr/>
          <p:nvPr/>
        </p:nvSpPr>
        <p:spPr>
          <a:xfrm>
            <a:off x="5524500" y="3387090"/>
            <a:ext cx="556260" cy="86678"/>
          </a:xfrm>
          <a:prstGeom prst="line">
            <a:avLst/>
          </a:prstGeom>
          <a:noFill/>
          <a:ln w="11430">
            <a:solidFill>
              <a:srgbClr val="A5CBC0"/>
            </a:solidFill>
            <a:prstDash val="solid"/>
          </a:ln>
        </p:spPr>
      </p:sp>
      <p:sp>
        <p:nvSpPr>
          <p:cNvPr id="82" name="Shape 80"/>
          <p:cNvSpPr/>
          <p:nvPr/>
        </p:nvSpPr>
        <p:spPr>
          <a:xfrm>
            <a:off x="5524500" y="3387090"/>
            <a:ext cx="556260" cy="260033"/>
          </a:xfrm>
          <a:prstGeom prst="line">
            <a:avLst/>
          </a:prstGeom>
          <a:noFill/>
          <a:ln w="11430">
            <a:solidFill>
              <a:srgbClr val="A5CBC0"/>
            </a:solidFill>
            <a:prstDash val="solid"/>
          </a:ln>
        </p:spPr>
      </p:sp>
      <p:sp>
        <p:nvSpPr>
          <p:cNvPr id="83" name="Shape 81"/>
          <p:cNvSpPr/>
          <p:nvPr/>
        </p:nvSpPr>
        <p:spPr>
          <a:xfrm flipV="1">
            <a:off x="5524500" y="3127058"/>
            <a:ext cx="556260" cy="491172"/>
          </a:xfrm>
          <a:prstGeom prst="line">
            <a:avLst/>
          </a:prstGeom>
          <a:noFill/>
          <a:ln w="11430">
            <a:solidFill>
              <a:srgbClr val="A5CBC0"/>
            </a:solidFill>
            <a:prstDash val="solid"/>
          </a:ln>
        </p:spPr>
      </p:sp>
      <p:sp>
        <p:nvSpPr>
          <p:cNvPr id="84" name="Shape 82"/>
          <p:cNvSpPr/>
          <p:nvPr/>
        </p:nvSpPr>
        <p:spPr>
          <a:xfrm flipV="1">
            <a:off x="5524500" y="3300413"/>
            <a:ext cx="556260" cy="317817"/>
          </a:xfrm>
          <a:prstGeom prst="line">
            <a:avLst/>
          </a:prstGeom>
          <a:noFill/>
          <a:ln w="11430">
            <a:solidFill>
              <a:srgbClr val="A5CBC0"/>
            </a:solidFill>
            <a:prstDash val="solid"/>
          </a:ln>
        </p:spPr>
      </p:sp>
      <p:sp>
        <p:nvSpPr>
          <p:cNvPr id="85" name="Shape 83"/>
          <p:cNvSpPr/>
          <p:nvPr/>
        </p:nvSpPr>
        <p:spPr>
          <a:xfrm flipV="1">
            <a:off x="5524500" y="3473768"/>
            <a:ext cx="556260" cy="144462"/>
          </a:xfrm>
          <a:prstGeom prst="line">
            <a:avLst/>
          </a:prstGeom>
          <a:noFill/>
          <a:ln w="11430">
            <a:solidFill>
              <a:srgbClr val="A5CBC0"/>
            </a:solidFill>
            <a:prstDash val="solid"/>
          </a:ln>
        </p:spPr>
      </p:sp>
      <p:sp>
        <p:nvSpPr>
          <p:cNvPr id="86" name="Shape 84"/>
          <p:cNvSpPr/>
          <p:nvPr/>
        </p:nvSpPr>
        <p:spPr>
          <a:xfrm>
            <a:off x="5524500" y="3618230"/>
            <a:ext cx="556260" cy="28893"/>
          </a:xfrm>
          <a:prstGeom prst="line">
            <a:avLst/>
          </a:prstGeom>
          <a:noFill/>
          <a:ln w="11430">
            <a:solidFill>
              <a:srgbClr val="A5CBC0"/>
            </a:solidFill>
            <a:prstDash val="solid"/>
          </a:ln>
        </p:spPr>
      </p:sp>
      <p:sp>
        <p:nvSpPr>
          <p:cNvPr id="87" name="Shape 85"/>
          <p:cNvSpPr/>
          <p:nvPr/>
        </p:nvSpPr>
        <p:spPr>
          <a:xfrm>
            <a:off x="6080760" y="3127058"/>
            <a:ext cx="556260" cy="28893"/>
          </a:xfrm>
          <a:prstGeom prst="line">
            <a:avLst/>
          </a:prstGeom>
          <a:noFill/>
          <a:ln w="11430">
            <a:solidFill>
              <a:srgbClr val="A5CBC0"/>
            </a:solidFill>
            <a:prstDash val="solid"/>
          </a:ln>
        </p:spPr>
      </p:sp>
      <p:sp>
        <p:nvSpPr>
          <p:cNvPr id="88" name="Shape 86"/>
          <p:cNvSpPr/>
          <p:nvPr/>
        </p:nvSpPr>
        <p:spPr>
          <a:xfrm>
            <a:off x="6080760" y="3127058"/>
            <a:ext cx="556260" cy="260033"/>
          </a:xfrm>
          <a:prstGeom prst="line">
            <a:avLst/>
          </a:prstGeom>
          <a:noFill/>
          <a:ln w="11430">
            <a:solidFill>
              <a:srgbClr val="A5CBC0"/>
            </a:solidFill>
            <a:prstDash val="solid"/>
          </a:ln>
        </p:spPr>
      </p:sp>
      <p:sp>
        <p:nvSpPr>
          <p:cNvPr id="89" name="Shape 87"/>
          <p:cNvSpPr/>
          <p:nvPr/>
        </p:nvSpPr>
        <p:spPr>
          <a:xfrm>
            <a:off x="6080760" y="3127058"/>
            <a:ext cx="556260" cy="491172"/>
          </a:xfrm>
          <a:prstGeom prst="line">
            <a:avLst/>
          </a:prstGeom>
          <a:noFill/>
          <a:ln w="11430">
            <a:solidFill>
              <a:srgbClr val="A5CBC0"/>
            </a:solidFill>
            <a:prstDash val="solid"/>
          </a:ln>
        </p:spPr>
      </p:sp>
      <p:sp>
        <p:nvSpPr>
          <p:cNvPr id="90" name="Shape 88"/>
          <p:cNvSpPr/>
          <p:nvPr/>
        </p:nvSpPr>
        <p:spPr>
          <a:xfrm flipV="1">
            <a:off x="6080760" y="3155950"/>
            <a:ext cx="556260" cy="144462"/>
          </a:xfrm>
          <a:prstGeom prst="line">
            <a:avLst/>
          </a:prstGeom>
          <a:noFill/>
          <a:ln w="11430">
            <a:solidFill>
              <a:srgbClr val="A5CBC0"/>
            </a:solidFill>
            <a:prstDash val="solid"/>
          </a:ln>
        </p:spPr>
      </p:sp>
      <p:sp>
        <p:nvSpPr>
          <p:cNvPr id="91" name="Shape 89"/>
          <p:cNvSpPr/>
          <p:nvPr/>
        </p:nvSpPr>
        <p:spPr>
          <a:xfrm>
            <a:off x="6080760" y="3300413"/>
            <a:ext cx="556260" cy="86678"/>
          </a:xfrm>
          <a:prstGeom prst="line">
            <a:avLst/>
          </a:prstGeom>
          <a:noFill/>
          <a:ln w="11430">
            <a:solidFill>
              <a:srgbClr val="A5CBC0"/>
            </a:solidFill>
            <a:prstDash val="solid"/>
          </a:ln>
        </p:spPr>
      </p:sp>
      <p:sp>
        <p:nvSpPr>
          <p:cNvPr id="92" name="Shape 90"/>
          <p:cNvSpPr/>
          <p:nvPr/>
        </p:nvSpPr>
        <p:spPr>
          <a:xfrm>
            <a:off x="6080760" y="3300413"/>
            <a:ext cx="556260" cy="317817"/>
          </a:xfrm>
          <a:prstGeom prst="line">
            <a:avLst/>
          </a:prstGeom>
          <a:noFill/>
          <a:ln w="11430">
            <a:solidFill>
              <a:srgbClr val="A5CBC0"/>
            </a:solidFill>
            <a:prstDash val="solid"/>
          </a:ln>
        </p:spPr>
      </p:sp>
      <p:sp>
        <p:nvSpPr>
          <p:cNvPr id="93" name="Shape 91"/>
          <p:cNvSpPr/>
          <p:nvPr/>
        </p:nvSpPr>
        <p:spPr>
          <a:xfrm flipV="1">
            <a:off x="6080760" y="3155950"/>
            <a:ext cx="556260" cy="317817"/>
          </a:xfrm>
          <a:prstGeom prst="line">
            <a:avLst/>
          </a:prstGeom>
          <a:noFill/>
          <a:ln w="11430">
            <a:solidFill>
              <a:srgbClr val="A5CBC0"/>
            </a:solidFill>
            <a:prstDash val="solid"/>
          </a:ln>
        </p:spPr>
      </p:sp>
      <p:sp>
        <p:nvSpPr>
          <p:cNvPr id="94" name="Shape 92"/>
          <p:cNvSpPr/>
          <p:nvPr/>
        </p:nvSpPr>
        <p:spPr>
          <a:xfrm flipV="1">
            <a:off x="6080760" y="3387090"/>
            <a:ext cx="556260" cy="86678"/>
          </a:xfrm>
          <a:prstGeom prst="line">
            <a:avLst/>
          </a:prstGeom>
          <a:noFill/>
          <a:ln w="11430">
            <a:solidFill>
              <a:srgbClr val="A5CBC0"/>
            </a:solidFill>
            <a:prstDash val="solid"/>
          </a:ln>
        </p:spPr>
      </p:sp>
      <p:sp>
        <p:nvSpPr>
          <p:cNvPr id="95" name="Shape 93"/>
          <p:cNvSpPr/>
          <p:nvPr/>
        </p:nvSpPr>
        <p:spPr>
          <a:xfrm>
            <a:off x="6080760" y="3473768"/>
            <a:ext cx="556260" cy="144462"/>
          </a:xfrm>
          <a:prstGeom prst="line">
            <a:avLst/>
          </a:prstGeom>
          <a:noFill/>
          <a:ln w="11430">
            <a:solidFill>
              <a:srgbClr val="A5CBC0"/>
            </a:solidFill>
            <a:prstDash val="solid"/>
          </a:ln>
        </p:spPr>
      </p:sp>
      <p:sp>
        <p:nvSpPr>
          <p:cNvPr id="96" name="Shape 94"/>
          <p:cNvSpPr/>
          <p:nvPr/>
        </p:nvSpPr>
        <p:spPr>
          <a:xfrm flipV="1">
            <a:off x="6080760" y="3155950"/>
            <a:ext cx="556260" cy="491172"/>
          </a:xfrm>
          <a:prstGeom prst="line">
            <a:avLst/>
          </a:prstGeom>
          <a:noFill/>
          <a:ln w="11430">
            <a:solidFill>
              <a:srgbClr val="A5CBC0"/>
            </a:solidFill>
            <a:prstDash val="solid"/>
          </a:ln>
        </p:spPr>
      </p:sp>
      <p:sp>
        <p:nvSpPr>
          <p:cNvPr id="97" name="Shape 95"/>
          <p:cNvSpPr/>
          <p:nvPr/>
        </p:nvSpPr>
        <p:spPr>
          <a:xfrm flipV="1">
            <a:off x="6080760" y="3387090"/>
            <a:ext cx="556260" cy="260033"/>
          </a:xfrm>
          <a:prstGeom prst="line">
            <a:avLst/>
          </a:prstGeom>
          <a:noFill/>
          <a:ln w="11430">
            <a:solidFill>
              <a:srgbClr val="A5CBC0"/>
            </a:solidFill>
            <a:prstDash val="solid"/>
          </a:ln>
        </p:spPr>
      </p:sp>
      <p:sp>
        <p:nvSpPr>
          <p:cNvPr id="98" name="Shape 96"/>
          <p:cNvSpPr/>
          <p:nvPr/>
        </p:nvSpPr>
        <p:spPr>
          <a:xfrm flipV="1">
            <a:off x="6080760" y="3618230"/>
            <a:ext cx="556260" cy="28893"/>
          </a:xfrm>
          <a:prstGeom prst="line">
            <a:avLst/>
          </a:prstGeom>
          <a:noFill/>
          <a:ln w="11430">
            <a:solidFill>
              <a:srgbClr val="A5CBC0"/>
            </a:solidFill>
            <a:prstDash val="solid"/>
          </a:ln>
        </p:spPr>
      </p:sp>
      <p:sp>
        <p:nvSpPr>
          <p:cNvPr id="99" name="Shape 97"/>
          <p:cNvSpPr/>
          <p:nvPr/>
        </p:nvSpPr>
        <p:spPr>
          <a:xfrm>
            <a:off x="5455920" y="3087370"/>
            <a:ext cx="137160" cy="137160"/>
          </a:xfrm>
          <a:prstGeom prst="ellipse">
            <a:avLst/>
          </a:prstGeom>
          <a:solidFill>
            <a:srgbClr val="22434A"/>
          </a:solidFill>
          <a:ln w="12700">
            <a:solidFill>
              <a:srgbClr val="22434A">
                <a:alpha val="0"/>
              </a:srgbClr>
            </a:solidFill>
            <a:prstDash val="solid"/>
          </a:ln>
        </p:spPr>
      </p:sp>
      <p:sp>
        <p:nvSpPr>
          <p:cNvPr id="100" name="Shape 98"/>
          <p:cNvSpPr/>
          <p:nvPr/>
        </p:nvSpPr>
        <p:spPr>
          <a:xfrm>
            <a:off x="5455920" y="3318510"/>
            <a:ext cx="137160" cy="137160"/>
          </a:xfrm>
          <a:prstGeom prst="ellipse">
            <a:avLst/>
          </a:prstGeom>
          <a:solidFill>
            <a:srgbClr val="22434A"/>
          </a:solidFill>
          <a:ln w="12700">
            <a:solidFill>
              <a:srgbClr val="22434A">
                <a:alpha val="0"/>
              </a:srgbClr>
            </a:solidFill>
            <a:prstDash val="solid"/>
          </a:ln>
        </p:spPr>
      </p:sp>
      <p:sp>
        <p:nvSpPr>
          <p:cNvPr id="101" name="Shape 99"/>
          <p:cNvSpPr/>
          <p:nvPr/>
        </p:nvSpPr>
        <p:spPr>
          <a:xfrm>
            <a:off x="5455920" y="3549650"/>
            <a:ext cx="137160" cy="137160"/>
          </a:xfrm>
          <a:prstGeom prst="ellipse">
            <a:avLst/>
          </a:prstGeom>
          <a:solidFill>
            <a:srgbClr val="22434A"/>
          </a:solidFill>
          <a:ln w="12700">
            <a:solidFill>
              <a:srgbClr val="22434A">
                <a:alpha val="0"/>
              </a:srgbClr>
            </a:solidFill>
            <a:prstDash val="solid"/>
          </a:ln>
        </p:spPr>
      </p:sp>
      <p:sp>
        <p:nvSpPr>
          <p:cNvPr id="102" name="Shape 100"/>
          <p:cNvSpPr/>
          <p:nvPr/>
        </p:nvSpPr>
        <p:spPr>
          <a:xfrm>
            <a:off x="6012180" y="3058478"/>
            <a:ext cx="137160" cy="137160"/>
          </a:xfrm>
          <a:prstGeom prst="ellipse">
            <a:avLst/>
          </a:prstGeom>
          <a:solidFill>
            <a:srgbClr val="22434A"/>
          </a:solidFill>
          <a:ln w="12700">
            <a:solidFill>
              <a:srgbClr val="22434A">
                <a:alpha val="0"/>
              </a:srgbClr>
            </a:solidFill>
            <a:prstDash val="solid"/>
          </a:ln>
        </p:spPr>
      </p:sp>
      <p:sp>
        <p:nvSpPr>
          <p:cNvPr id="103" name="Shape 101"/>
          <p:cNvSpPr/>
          <p:nvPr/>
        </p:nvSpPr>
        <p:spPr>
          <a:xfrm>
            <a:off x="6012180" y="3231833"/>
            <a:ext cx="137160" cy="137160"/>
          </a:xfrm>
          <a:prstGeom prst="ellipse">
            <a:avLst/>
          </a:prstGeom>
          <a:solidFill>
            <a:srgbClr val="22434A"/>
          </a:solidFill>
          <a:ln w="12700">
            <a:solidFill>
              <a:srgbClr val="22434A">
                <a:alpha val="0"/>
              </a:srgbClr>
            </a:solidFill>
            <a:prstDash val="solid"/>
          </a:ln>
        </p:spPr>
      </p:sp>
      <p:sp>
        <p:nvSpPr>
          <p:cNvPr id="104" name="Shape 102"/>
          <p:cNvSpPr/>
          <p:nvPr/>
        </p:nvSpPr>
        <p:spPr>
          <a:xfrm>
            <a:off x="6012180" y="3405188"/>
            <a:ext cx="137160" cy="137160"/>
          </a:xfrm>
          <a:prstGeom prst="ellipse">
            <a:avLst/>
          </a:prstGeom>
          <a:solidFill>
            <a:srgbClr val="22434A"/>
          </a:solidFill>
          <a:ln w="12700">
            <a:solidFill>
              <a:srgbClr val="22434A">
                <a:alpha val="0"/>
              </a:srgbClr>
            </a:solidFill>
            <a:prstDash val="solid"/>
          </a:ln>
        </p:spPr>
      </p:sp>
      <p:sp>
        <p:nvSpPr>
          <p:cNvPr id="105" name="Shape 103"/>
          <p:cNvSpPr/>
          <p:nvPr/>
        </p:nvSpPr>
        <p:spPr>
          <a:xfrm>
            <a:off x="6012180" y="3578543"/>
            <a:ext cx="137160" cy="137160"/>
          </a:xfrm>
          <a:prstGeom prst="ellipse">
            <a:avLst/>
          </a:prstGeom>
          <a:solidFill>
            <a:srgbClr val="22434A"/>
          </a:solidFill>
          <a:ln w="12700">
            <a:solidFill>
              <a:srgbClr val="22434A">
                <a:alpha val="0"/>
              </a:srgbClr>
            </a:solidFill>
            <a:prstDash val="solid"/>
          </a:ln>
        </p:spPr>
      </p:sp>
      <p:sp>
        <p:nvSpPr>
          <p:cNvPr id="106" name="Shape 104"/>
          <p:cNvSpPr/>
          <p:nvPr/>
        </p:nvSpPr>
        <p:spPr>
          <a:xfrm>
            <a:off x="6568440" y="3087370"/>
            <a:ext cx="137160" cy="137160"/>
          </a:xfrm>
          <a:prstGeom prst="ellipse">
            <a:avLst/>
          </a:prstGeom>
          <a:solidFill>
            <a:srgbClr val="22434A"/>
          </a:solidFill>
          <a:ln w="12700">
            <a:solidFill>
              <a:srgbClr val="22434A">
                <a:alpha val="0"/>
              </a:srgbClr>
            </a:solidFill>
            <a:prstDash val="solid"/>
          </a:ln>
        </p:spPr>
      </p:sp>
      <p:sp>
        <p:nvSpPr>
          <p:cNvPr id="107" name="Shape 105"/>
          <p:cNvSpPr/>
          <p:nvPr/>
        </p:nvSpPr>
        <p:spPr>
          <a:xfrm>
            <a:off x="6568440" y="3318510"/>
            <a:ext cx="137160" cy="137160"/>
          </a:xfrm>
          <a:prstGeom prst="ellipse">
            <a:avLst/>
          </a:prstGeom>
          <a:solidFill>
            <a:srgbClr val="22434A"/>
          </a:solidFill>
          <a:ln w="12700">
            <a:solidFill>
              <a:srgbClr val="22434A">
                <a:alpha val="0"/>
              </a:srgbClr>
            </a:solidFill>
            <a:prstDash val="solid"/>
          </a:ln>
        </p:spPr>
      </p:sp>
      <p:sp>
        <p:nvSpPr>
          <p:cNvPr id="108" name="Shape 106"/>
          <p:cNvSpPr/>
          <p:nvPr/>
        </p:nvSpPr>
        <p:spPr>
          <a:xfrm>
            <a:off x="6568440" y="3549650"/>
            <a:ext cx="137160" cy="137160"/>
          </a:xfrm>
          <a:prstGeom prst="ellipse">
            <a:avLst/>
          </a:prstGeom>
          <a:solidFill>
            <a:srgbClr val="22434A"/>
          </a:solidFill>
          <a:ln w="12700">
            <a:solidFill>
              <a:srgbClr val="22434A">
                <a:alpha val="0"/>
              </a:srgbClr>
            </a:solidFill>
            <a:prstDash val="solid"/>
          </a:ln>
        </p:spPr>
      </p:sp>
      <p:sp>
        <p:nvSpPr>
          <p:cNvPr id="109" name="Text 107"/>
          <p:cNvSpPr/>
          <p:nvPr/>
        </p:nvSpPr>
        <p:spPr>
          <a:xfrm>
            <a:off x="5067300" y="3893820"/>
            <a:ext cx="2034540" cy="281940"/>
          </a:xfrm>
          <a:prstGeom prst="rect">
            <a:avLst/>
          </a:prstGeom>
          <a:noFill/>
          <a:ln/>
        </p:spPr>
        <p:txBody>
          <a:bodyPr wrap="square" lIns="0" tIns="0" rIns="0" bIns="0" rtlCol="0" anchor="t"/>
          <a:lstStyle/>
          <a:p>
            <a:pPr algn="ctr" indent="0" marL="0">
              <a:lnSpc>
                <a:spcPct val="105000"/>
              </a:lnSpc>
              <a:buNone/>
            </a:pPr>
            <a:r>
              <a:rPr lang="en-US" altLang="en-US" sz="1680" b="1" dirty="0">
                <a:solidFill>
                  <a:srgbClr val="183139"/>
                </a:solidFill>
                <a:latin typeface="Arial" pitchFamily="34" charset="0"/>
                <a:ea typeface="Arial" pitchFamily="34" charset="-122"/>
                <a:cs typeface="Arial" pitchFamily="34" charset="-120"/>
              </a:rPr>
              <a:t>Trained policy</a:t>
            </a:r>
            <a:endParaRPr lang="en-US" sz="1680" dirty="0"/>
          </a:p>
        </p:txBody>
      </p:sp>
      <p:sp>
        <p:nvSpPr>
          <p:cNvPr id="110" name="Shape 108"/>
          <p:cNvSpPr/>
          <p:nvPr/>
        </p:nvSpPr>
        <p:spPr>
          <a:xfrm>
            <a:off x="7475220" y="3550920"/>
            <a:ext cx="731520" cy="0"/>
          </a:xfrm>
          <a:prstGeom prst="line">
            <a:avLst/>
          </a:prstGeom>
          <a:noFill/>
          <a:ln w="22860">
            <a:solidFill>
              <a:srgbClr val="62747A"/>
            </a:solidFill>
            <a:prstDash val="solid"/>
            <a:tailEnd type="triangle"/>
          </a:ln>
        </p:spPr>
      </p:sp>
      <p:sp>
        <p:nvSpPr>
          <p:cNvPr id="111" name="Shape 109"/>
          <p:cNvSpPr/>
          <p:nvPr/>
        </p:nvSpPr>
        <p:spPr>
          <a:xfrm>
            <a:off x="8458200" y="2514600"/>
            <a:ext cx="3124200" cy="2286000"/>
          </a:xfrm>
          <a:prstGeom prst="roundRect">
            <a:avLst/>
          </a:prstGeom>
          <a:solidFill>
            <a:srgbClr val="FFFFFF"/>
          </a:solidFill>
          <a:ln w="12700">
            <a:solidFill>
              <a:srgbClr val="FFFFFF">
                <a:alpha val="0"/>
              </a:srgbClr>
            </a:solidFill>
            <a:prstDash val="solid"/>
          </a:ln>
        </p:spPr>
      </p:sp>
      <p:sp>
        <p:nvSpPr>
          <p:cNvPr id="112" name="Text 110"/>
          <p:cNvSpPr/>
          <p:nvPr/>
        </p:nvSpPr>
        <p:spPr>
          <a:xfrm>
            <a:off x="8648700" y="2682240"/>
            <a:ext cx="2743200" cy="274320"/>
          </a:xfrm>
          <a:prstGeom prst="rect">
            <a:avLst/>
          </a:prstGeom>
          <a:noFill/>
          <a:ln/>
        </p:spPr>
        <p:txBody>
          <a:bodyPr wrap="square" lIns="0" tIns="0" rIns="0" bIns="0" rtlCol="0" anchor="t"/>
          <a:lstStyle/>
          <a:p>
            <a:pPr algn="l" indent="0" marL="0">
              <a:lnSpc>
                <a:spcPct val="105000"/>
              </a:lnSpc>
              <a:buNone/>
            </a:pPr>
            <a:r>
              <a:rPr lang="en-US" altLang="en-US" sz="1620" b="1" dirty="0">
                <a:solidFill>
                  <a:srgbClr val="183139"/>
                </a:solidFill>
                <a:latin typeface="Arial" pitchFamily="34" charset="0"/>
                <a:ea typeface="Arial" pitchFamily="34" charset="-122"/>
                <a:cs typeface="Arial" pitchFamily="34" charset="-120"/>
              </a:rPr>
              <a:t>Fixed pick-and-lift task</a:t>
            </a:r>
            <a:endParaRPr lang="en-US" sz="1620" dirty="0"/>
          </a:p>
        </p:txBody>
      </p:sp>
      <p:sp>
        <p:nvSpPr>
          <p:cNvPr id="113" name="Shape 111"/>
          <p:cNvSpPr/>
          <p:nvPr/>
        </p:nvSpPr>
        <p:spPr>
          <a:xfrm>
            <a:off x="9990496" y="4475442"/>
            <a:ext cx="1260722" cy="0"/>
          </a:xfrm>
          <a:prstGeom prst="line">
            <a:avLst/>
          </a:prstGeom>
          <a:noFill/>
          <a:ln w="25994">
            <a:solidFill>
              <a:srgbClr val="93A5AA"/>
            </a:solidFill>
            <a:prstDash val="solid"/>
          </a:ln>
        </p:spPr>
      </p:sp>
      <p:sp>
        <p:nvSpPr>
          <p:cNvPr id="114" name="Shape 112"/>
          <p:cNvSpPr/>
          <p:nvPr/>
        </p:nvSpPr>
        <p:spPr>
          <a:xfrm>
            <a:off x="10113968" y="4488439"/>
            <a:ext cx="0" cy="201456"/>
          </a:xfrm>
          <a:prstGeom prst="line">
            <a:avLst/>
          </a:prstGeom>
          <a:noFill/>
          <a:ln w="32493">
            <a:solidFill>
              <a:srgbClr val="D8DFD9"/>
            </a:solidFill>
            <a:prstDash val="solid"/>
          </a:ln>
        </p:spPr>
      </p:sp>
      <p:sp>
        <p:nvSpPr>
          <p:cNvPr id="115" name="Shape 113"/>
          <p:cNvSpPr/>
          <p:nvPr/>
        </p:nvSpPr>
        <p:spPr>
          <a:xfrm>
            <a:off x="11147240" y="4488439"/>
            <a:ext cx="0" cy="201456"/>
          </a:xfrm>
          <a:prstGeom prst="line">
            <a:avLst/>
          </a:prstGeom>
          <a:noFill/>
          <a:ln w="32493">
            <a:solidFill>
              <a:srgbClr val="D8DFD9"/>
            </a:solidFill>
            <a:prstDash val="solid"/>
          </a:ln>
        </p:spPr>
      </p:sp>
      <p:sp>
        <p:nvSpPr>
          <p:cNvPr id="116" name="Shape 114"/>
          <p:cNvSpPr/>
          <p:nvPr/>
        </p:nvSpPr>
        <p:spPr>
          <a:xfrm>
            <a:off x="8814255" y="4488439"/>
            <a:ext cx="519885" cy="116974"/>
          </a:xfrm>
          <a:prstGeom prst="roundRect">
            <a:avLst/>
          </a:prstGeom>
          <a:solidFill>
            <a:srgbClr val="22434A"/>
          </a:solidFill>
          <a:ln w="12700">
            <a:solidFill>
              <a:srgbClr val="22434A">
                <a:alpha val="0"/>
              </a:srgbClr>
            </a:solidFill>
            <a:prstDash val="solid"/>
          </a:ln>
        </p:spPr>
      </p:sp>
      <p:sp>
        <p:nvSpPr>
          <p:cNvPr id="117" name="Shape 115"/>
          <p:cNvSpPr/>
          <p:nvPr/>
        </p:nvSpPr>
        <p:spPr>
          <a:xfrm>
            <a:off x="8976719" y="4293482"/>
            <a:ext cx="201456" cy="194957"/>
          </a:xfrm>
          <a:prstGeom prst="roundRect">
            <a:avLst/>
          </a:prstGeom>
          <a:solidFill>
            <a:srgbClr val="93A5AA"/>
          </a:solidFill>
          <a:ln w="12700">
            <a:solidFill>
              <a:srgbClr val="93A5AA">
                <a:alpha val="0"/>
              </a:srgbClr>
            </a:solidFill>
            <a:prstDash val="solid"/>
          </a:ln>
        </p:spPr>
      </p:sp>
      <p:sp>
        <p:nvSpPr>
          <p:cNvPr id="118" name="Shape 116"/>
          <p:cNvSpPr/>
          <p:nvPr/>
        </p:nvSpPr>
        <p:spPr>
          <a:xfrm flipV="1">
            <a:off x="9074198" y="3546147"/>
            <a:ext cx="331427" cy="760332"/>
          </a:xfrm>
          <a:prstGeom prst="line">
            <a:avLst/>
          </a:prstGeom>
          <a:noFill/>
          <a:ln w="129971">
            <a:solidFill>
              <a:srgbClr val="93A5AA"/>
            </a:solidFill>
            <a:prstDash val="solid"/>
          </a:ln>
        </p:spPr>
      </p:sp>
      <p:sp>
        <p:nvSpPr>
          <p:cNvPr id="119" name="Shape 117"/>
          <p:cNvSpPr/>
          <p:nvPr/>
        </p:nvSpPr>
        <p:spPr>
          <a:xfrm flipV="1">
            <a:off x="9405625" y="3416175"/>
            <a:ext cx="669352" cy="129971"/>
          </a:xfrm>
          <a:prstGeom prst="line">
            <a:avLst/>
          </a:prstGeom>
          <a:noFill/>
          <a:ln w="129971">
            <a:solidFill>
              <a:srgbClr val="93A5AA"/>
            </a:solidFill>
            <a:prstDash val="solid"/>
          </a:ln>
        </p:spPr>
      </p:sp>
      <p:sp>
        <p:nvSpPr>
          <p:cNvPr id="120" name="Shape 118"/>
          <p:cNvSpPr/>
          <p:nvPr/>
        </p:nvSpPr>
        <p:spPr>
          <a:xfrm flipV="1">
            <a:off x="10074977" y="3292703"/>
            <a:ext cx="545880" cy="123473"/>
          </a:xfrm>
          <a:prstGeom prst="line">
            <a:avLst/>
          </a:prstGeom>
          <a:noFill/>
          <a:ln w="103977">
            <a:solidFill>
              <a:srgbClr val="93A5AA"/>
            </a:solidFill>
            <a:prstDash val="solid"/>
          </a:ln>
        </p:spPr>
      </p:sp>
      <p:sp>
        <p:nvSpPr>
          <p:cNvPr id="121" name="Shape 119"/>
          <p:cNvSpPr/>
          <p:nvPr/>
        </p:nvSpPr>
        <p:spPr>
          <a:xfrm>
            <a:off x="8970221" y="4202502"/>
            <a:ext cx="207954" cy="207954"/>
          </a:xfrm>
          <a:prstGeom prst="ellipse">
            <a:avLst/>
          </a:prstGeom>
          <a:solidFill>
            <a:srgbClr val="22434A"/>
          </a:solidFill>
          <a:ln w="12700">
            <a:solidFill>
              <a:srgbClr val="22434A">
                <a:alpha val="0"/>
              </a:srgbClr>
            </a:solidFill>
            <a:prstDash val="solid"/>
          </a:ln>
        </p:spPr>
      </p:sp>
      <p:sp>
        <p:nvSpPr>
          <p:cNvPr id="122" name="Shape 120"/>
          <p:cNvSpPr/>
          <p:nvPr/>
        </p:nvSpPr>
        <p:spPr>
          <a:xfrm>
            <a:off x="9301648" y="3442170"/>
            <a:ext cx="207954" cy="207954"/>
          </a:xfrm>
          <a:prstGeom prst="ellipse">
            <a:avLst/>
          </a:prstGeom>
          <a:solidFill>
            <a:srgbClr val="22434A"/>
          </a:solidFill>
          <a:ln w="12700">
            <a:solidFill>
              <a:srgbClr val="22434A">
                <a:alpha val="0"/>
              </a:srgbClr>
            </a:solidFill>
            <a:prstDash val="solid"/>
          </a:ln>
        </p:spPr>
      </p:sp>
      <p:sp>
        <p:nvSpPr>
          <p:cNvPr id="123" name="Shape 121"/>
          <p:cNvSpPr/>
          <p:nvPr/>
        </p:nvSpPr>
        <p:spPr>
          <a:xfrm>
            <a:off x="9990496" y="3331694"/>
            <a:ext cx="168963" cy="168963"/>
          </a:xfrm>
          <a:prstGeom prst="ellipse">
            <a:avLst/>
          </a:prstGeom>
          <a:solidFill>
            <a:srgbClr val="22434A"/>
          </a:solidFill>
          <a:ln w="12700">
            <a:solidFill>
              <a:srgbClr val="22434A">
                <a:alpha val="0"/>
              </a:srgbClr>
            </a:solidFill>
            <a:prstDash val="solid"/>
          </a:ln>
        </p:spPr>
      </p:sp>
      <p:sp>
        <p:nvSpPr>
          <p:cNvPr id="124" name="Shape 122"/>
          <p:cNvSpPr/>
          <p:nvPr/>
        </p:nvSpPr>
        <p:spPr>
          <a:xfrm>
            <a:off x="9022209" y="4254490"/>
            <a:ext cx="103977" cy="103977"/>
          </a:xfrm>
          <a:prstGeom prst="ellipse">
            <a:avLst/>
          </a:prstGeom>
          <a:solidFill>
            <a:srgbClr val="F6F4EF"/>
          </a:solidFill>
          <a:ln w="12700">
            <a:solidFill>
              <a:srgbClr val="F6F4EF">
                <a:alpha val="0"/>
              </a:srgbClr>
            </a:solidFill>
            <a:prstDash val="solid"/>
          </a:ln>
        </p:spPr>
      </p:sp>
      <p:sp>
        <p:nvSpPr>
          <p:cNvPr id="125" name="Shape 123"/>
          <p:cNvSpPr/>
          <p:nvPr/>
        </p:nvSpPr>
        <p:spPr>
          <a:xfrm>
            <a:off x="9360135" y="3500657"/>
            <a:ext cx="90980" cy="90980"/>
          </a:xfrm>
          <a:prstGeom prst="ellipse">
            <a:avLst/>
          </a:prstGeom>
          <a:solidFill>
            <a:srgbClr val="F6F4EF"/>
          </a:solidFill>
          <a:ln w="12700">
            <a:solidFill>
              <a:srgbClr val="F6F4EF">
                <a:alpha val="0"/>
              </a:srgbClr>
            </a:solidFill>
            <a:prstDash val="solid"/>
          </a:ln>
        </p:spPr>
      </p:sp>
      <p:sp>
        <p:nvSpPr>
          <p:cNvPr id="126" name="Shape 124"/>
          <p:cNvSpPr/>
          <p:nvPr/>
        </p:nvSpPr>
        <p:spPr>
          <a:xfrm>
            <a:off x="10035986" y="3377184"/>
            <a:ext cx="77983" cy="77983"/>
          </a:xfrm>
          <a:prstGeom prst="ellipse">
            <a:avLst/>
          </a:prstGeom>
          <a:solidFill>
            <a:srgbClr val="F6F4EF"/>
          </a:solidFill>
          <a:ln w="12700">
            <a:solidFill>
              <a:srgbClr val="F6F4EF">
                <a:alpha val="0"/>
              </a:srgbClr>
            </a:solidFill>
            <a:prstDash val="solid"/>
          </a:ln>
        </p:spPr>
      </p:sp>
      <p:sp>
        <p:nvSpPr>
          <p:cNvPr id="127" name="Shape 125"/>
          <p:cNvSpPr/>
          <p:nvPr/>
        </p:nvSpPr>
        <p:spPr>
          <a:xfrm>
            <a:off x="10620857" y="3292703"/>
            <a:ext cx="0" cy="162464"/>
          </a:xfrm>
          <a:prstGeom prst="line">
            <a:avLst/>
          </a:prstGeom>
          <a:noFill/>
          <a:ln w="77983">
            <a:solidFill>
              <a:srgbClr val="22434A"/>
            </a:solidFill>
            <a:prstDash val="solid"/>
          </a:ln>
        </p:spPr>
      </p:sp>
      <p:sp>
        <p:nvSpPr>
          <p:cNvPr id="128" name="Shape 126"/>
          <p:cNvSpPr/>
          <p:nvPr/>
        </p:nvSpPr>
        <p:spPr>
          <a:xfrm>
            <a:off x="10386908" y="3455167"/>
            <a:ext cx="467897" cy="110476"/>
          </a:xfrm>
          <a:prstGeom prst="roundRect">
            <a:avLst/>
          </a:prstGeom>
          <a:solidFill>
            <a:srgbClr val="22434A"/>
          </a:solidFill>
          <a:ln w="12700">
            <a:solidFill>
              <a:srgbClr val="22434A">
                <a:alpha val="0"/>
              </a:srgbClr>
            </a:solidFill>
            <a:prstDash val="solid"/>
          </a:ln>
        </p:spPr>
      </p:sp>
      <p:sp>
        <p:nvSpPr>
          <p:cNvPr id="129" name="Shape 127"/>
          <p:cNvSpPr/>
          <p:nvPr/>
        </p:nvSpPr>
        <p:spPr>
          <a:xfrm>
            <a:off x="10373911" y="3539648"/>
            <a:ext cx="77983" cy="422407"/>
          </a:xfrm>
          <a:prstGeom prst="roundRect">
            <a:avLst/>
          </a:prstGeom>
          <a:solidFill>
            <a:srgbClr val="93A5AA"/>
          </a:solidFill>
          <a:ln w="12700">
            <a:solidFill>
              <a:srgbClr val="93A5AA">
                <a:alpha val="0"/>
              </a:srgbClr>
            </a:solidFill>
            <a:prstDash val="solid"/>
          </a:ln>
        </p:spPr>
      </p:sp>
      <p:sp>
        <p:nvSpPr>
          <p:cNvPr id="130" name="Shape 128"/>
          <p:cNvSpPr/>
          <p:nvPr/>
        </p:nvSpPr>
        <p:spPr>
          <a:xfrm>
            <a:off x="10789819" y="3539648"/>
            <a:ext cx="77983" cy="422407"/>
          </a:xfrm>
          <a:prstGeom prst="roundRect">
            <a:avLst/>
          </a:prstGeom>
          <a:solidFill>
            <a:srgbClr val="93A5AA"/>
          </a:solidFill>
          <a:ln w="12700">
            <a:solidFill>
              <a:srgbClr val="93A5AA">
                <a:alpha val="0"/>
              </a:srgbClr>
            </a:solidFill>
            <a:prstDash val="solid"/>
          </a:ln>
        </p:spPr>
      </p:sp>
      <p:sp>
        <p:nvSpPr>
          <p:cNvPr id="131" name="Shape 129"/>
          <p:cNvSpPr/>
          <p:nvPr/>
        </p:nvSpPr>
        <p:spPr>
          <a:xfrm>
            <a:off x="10373911" y="3890571"/>
            <a:ext cx="129971" cy="71484"/>
          </a:xfrm>
          <a:prstGeom prst="roundRect">
            <a:avLst/>
          </a:prstGeom>
          <a:solidFill>
            <a:srgbClr val="22434A"/>
          </a:solidFill>
          <a:ln w="12700">
            <a:solidFill>
              <a:srgbClr val="22434A">
                <a:alpha val="0"/>
              </a:srgbClr>
            </a:solidFill>
            <a:prstDash val="solid"/>
          </a:ln>
        </p:spPr>
      </p:sp>
      <p:sp>
        <p:nvSpPr>
          <p:cNvPr id="132" name="Shape 130"/>
          <p:cNvSpPr/>
          <p:nvPr/>
        </p:nvSpPr>
        <p:spPr>
          <a:xfrm>
            <a:off x="10737831" y="3890571"/>
            <a:ext cx="129971" cy="71484"/>
          </a:xfrm>
          <a:prstGeom prst="roundRect">
            <a:avLst/>
          </a:prstGeom>
          <a:solidFill>
            <a:srgbClr val="22434A"/>
          </a:solidFill>
          <a:ln w="12700">
            <a:solidFill>
              <a:srgbClr val="22434A">
                <a:alpha val="0"/>
              </a:srgbClr>
            </a:solidFill>
            <a:prstDash val="solid"/>
          </a:ln>
        </p:spPr>
      </p:sp>
      <p:sp>
        <p:nvSpPr>
          <p:cNvPr id="133" name="Shape 131"/>
          <p:cNvSpPr/>
          <p:nvPr/>
        </p:nvSpPr>
        <p:spPr>
          <a:xfrm>
            <a:off x="10490885" y="3695614"/>
            <a:ext cx="259943" cy="259943"/>
          </a:xfrm>
          <a:prstGeom prst="roundRect">
            <a:avLst/>
          </a:prstGeom>
          <a:solidFill>
            <a:srgbClr val="DFC28E"/>
          </a:solidFill>
          <a:ln w="12700">
            <a:solidFill>
              <a:srgbClr val="DFC28E">
                <a:alpha val="0"/>
              </a:srgbClr>
            </a:solidFill>
            <a:prstDash val="solid"/>
          </a:ln>
        </p:spPr>
      </p:sp>
      <p:sp>
        <p:nvSpPr>
          <p:cNvPr id="134" name="Shape 132"/>
          <p:cNvSpPr/>
          <p:nvPr/>
        </p:nvSpPr>
        <p:spPr>
          <a:xfrm>
            <a:off x="10685842" y="3695614"/>
            <a:ext cx="64986" cy="259943"/>
          </a:xfrm>
          <a:prstGeom prst="roundRect">
            <a:avLst/>
          </a:prstGeom>
          <a:solidFill>
            <a:srgbClr val="BA9A61"/>
          </a:solidFill>
          <a:ln w="12700">
            <a:solidFill>
              <a:srgbClr val="BA9A61">
                <a:alpha val="0"/>
              </a:srgbClr>
            </a:solidFill>
            <a:prstDash val="solid"/>
          </a:ln>
        </p:spPr>
      </p:sp>
      <p:sp>
        <p:nvSpPr>
          <p:cNvPr id="135" name="Shape 133"/>
          <p:cNvSpPr/>
          <p:nvPr/>
        </p:nvSpPr>
        <p:spPr>
          <a:xfrm>
            <a:off x="10490885" y="3773597"/>
            <a:ext cx="259943" cy="0"/>
          </a:xfrm>
          <a:prstGeom prst="line">
            <a:avLst/>
          </a:prstGeom>
          <a:noFill/>
          <a:ln w="9098">
            <a:solidFill>
              <a:srgbClr val="F4E8CE"/>
            </a:solidFill>
            <a:prstDash val="solid"/>
          </a:ln>
        </p:spPr>
      </p:sp>
      <p:sp>
        <p:nvSpPr>
          <p:cNvPr id="136" name="Shape 134"/>
          <p:cNvSpPr/>
          <p:nvPr/>
        </p:nvSpPr>
        <p:spPr>
          <a:xfrm flipV="1">
            <a:off x="11043263" y="3773597"/>
            <a:ext cx="0" cy="409410"/>
          </a:xfrm>
          <a:prstGeom prst="line">
            <a:avLst/>
          </a:prstGeom>
          <a:noFill/>
          <a:ln w="25994">
            <a:solidFill>
              <a:srgbClr val="087F7B"/>
            </a:solidFill>
            <a:prstDash val="solid"/>
            <a:tailEnd type="triangle"/>
          </a:ln>
        </p:spPr>
      </p:sp>
      <p:sp>
        <p:nvSpPr>
          <p:cNvPr id="137" name="Shape 135"/>
          <p:cNvSpPr/>
          <p:nvPr/>
        </p:nvSpPr>
        <p:spPr>
          <a:xfrm>
            <a:off x="7620000" y="4884420"/>
            <a:ext cx="2339340" cy="289560"/>
          </a:xfrm>
          <a:prstGeom prst="roundRect">
            <a:avLst/>
          </a:prstGeom>
          <a:solidFill>
            <a:srgbClr val="E1EFEB"/>
          </a:solidFill>
          <a:ln w="12700">
            <a:solidFill>
              <a:srgbClr val="E1EFEB">
                <a:alpha val="0"/>
              </a:srgbClr>
            </a:solidFill>
            <a:prstDash val="solid"/>
          </a:ln>
        </p:spPr>
      </p:sp>
      <p:sp>
        <p:nvSpPr>
          <p:cNvPr id="138" name="Text 136"/>
          <p:cNvSpPr/>
          <p:nvPr/>
        </p:nvSpPr>
        <p:spPr>
          <a:xfrm>
            <a:off x="7620000" y="4930140"/>
            <a:ext cx="2339340" cy="205740"/>
          </a:xfrm>
          <a:prstGeom prst="rect">
            <a:avLst/>
          </a:prstGeom>
          <a:noFill/>
          <a:ln/>
        </p:spPr>
        <p:txBody>
          <a:bodyPr wrap="square" lIns="0" tIns="0" rIns="0" bIns="0" rtlCol="0" anchor="t"/>
          <a:lstStyle/>
          <a:p>
            <a:pPr algn="ctr"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AT DEPLOYMENT</a:t>
            </a:r>
            <a:endParaRPr lang="en-US" sz="1140" dirty="0"/>
          </a:p>
        </p:txBody>
      </p:sp>
      <p:sp>
        <p:nvSpPr>
          <p:cNvPr id="139" name="Shape 137"/>
          <p:cNvSpPr/>
          <p:nvPr/>
        </p:nvSpPr>
        <p:spPr>
          <a:xfrm>
            <a:off x="4914900" y="5288280"/>
            <a:ext cx="2339340" cy="693420"/>
          </a:xfrm>
          <a:prstGeom prst="roundRect">
            <a:avLst/>
          </a:prstGeom>
          <a:solidFill>
            <a:srgbClr val="087F7B"/>
          </a:solidFill>
          <a:ln w="12700">
            <a:solidFill>
              <a:srgbClr val="087F7B">
                <a:alpha val="0"/>
              </a:srgbClr>
            </a:solidFill>
            <a:prstDash val="solid"/>
          </a:ln>
        </p:spPr>
      </p:sp>
      <p:sp>
        <p:nvSpPr>
          <p:cNvPr id="140" name="Text 138"/>
          <p:cNvSpPr/>
          <p:nvPr/>
        </p:nvSpPr>
        <p:spPr>
          <a:xfrm>
            <a:off x="5036820" y="5509260"/>
            <a:ext cx="209550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FFFFFF"/>
                </a:solidFill>
                <a:latin typeface="Arial" pitchFamily="34" charset="0"/>
                <a:ea typeface="Arial" pitchFamily="34" charset="-122"/>
                <a:cs typeface="Arial" pitchFamily="34" charset="-120"/>
              </a:rPr>
              <a:t>Physical estimate</a:t>
            </a:r>
            <a:endParaRPr lang="en-US" sz="1740" dirty="0"/>
          </a:p>
        </p:txBody>
      </p:sp>
      <p:sp>
        <p:nvSpPr>
          <p:cNvPr id="141" name="Shape 139"/>
          <p:cNvSpPr/>
          <p:nvPr/>
        </p:nvSpPr>
        <p:spPr>
          <a:xfrm flipV="1">
            <a:off x="6080760" y="4434840"/>
            <a:ext cx="0" cy="800100"/>
          </a:xfrm>
          <a:prstGeom prst="line">
            <a:avLst/>
          </a:prstGeom>
          <a:noFill/>
          <a:ln w="22860">
            <a:solidFill>
              <a:srgbClr val="087F7B"/>
            </a:solidFill>
            <a:prstDash val="solid"/>
            <a:tailEnd type="triangle"/>
          </a:ln>
        </p:spPr>
      </p:sp>
      <p:sp>
        <p:nvSpPr>
          <p:cNvPr id="142" name="Text 140"/>
          <p:cNvSpPr/>
          <p:nvPr/>
        </p:nvSpPr>
        <p:spPr>
          <a:xfrm>
            <a:off x="7620000" y="5334000"/>
            <a:ext cx="3733800" cy="571500"/>
          </a:xfrm>
          <a:prstGeom prst="rect">
            <a:avLst/>
          </a:prstGeom>
          <a:noFill/>
          <a:ln/>
        </p:spPr>
        <p:txBody>
          <a:bodyPr wrap="square" lIns="0" tIns="0" rIns="0" bIns="0" rtlCol="0" anchor="t"/>
          <a:lstStyle/>
          <a:p>
            <a:pPr algn="l" indent="0" marL="0">
              <a:lnSpc>
                <a:spcPct val="105000"/>
              </a:lnSpc>
              <a:buNone/>
            </a:pPr>
            <a:r>
              <a:rPr lang="en-US" altLang="en-US" sz="1680" dirty="0">
                <a:solidFill>
                  <a:srgbClr val="62747A"/>
                </a:solidFill>
                <a:latin typeface="Arial" pitchFamily="34" charset="0"/>
                <a:ea typeface="Arial" pitchFamily="34" charset="-122"/>
                <a:cs typeface="Arial" pitchFamily="34" charset="-120"/>
              </a:rPr>
              <a:t>Estimate the conditions</a:t>
            </a:r>
            <a:endParaRPr lang="en-US" sz="1680" dirty="0"/>
          </a:p>
          <a:p>
            <a:pPr algn="l" indent="0" marL="0">
              <a:lnSpc>
                <a:spcPct val="105000"/>
              </a:lnSpc>
              <a:buNone/>
            </a:pPr>
            <a:r>
              <a:rPr lang="en-US" altLang="en-US" sz="1680" dirty="0">
                <a:solidFill>
                  <a:srgbClr val="62747A"/>
                </a:solidFill>
                <a:latin typeface="Arial" pitchFamily="34" charset="0"/>
                <a:ea typeface="Arial" pitchFamily="34" charset="-122"/>
                <a:cs typeface="Arial" pitchFamily="34" charset="-120"/>
              </a:rPr>
              <a:t>the robot actually faces.</a:t>
            </a:r>
            <a:endParaRPr lang="en-US" sz="1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03 · SCOPE</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540" b="1" dirty="0">
                <a:solidFill>
                  <a:srgbClr val="183139"/>
                </a:solidFill>
                <a:latin typeface="Arial" pitchFamily="34" charset="0"/>
                <a:ea typeface="Arial" pitchFamily="34" charset="-122"/>
                <a:cs typeface="Arial" pitchFamily="34" charset="-120"/>
              </a:rPr>
              <a:t>What we mean by understanding</a:t>
            </a:r>
            <a:endParaRPr lang="en-US" sz="3540" dirty="0"/>
          </a:p>
        </p:txBody>
      </p:sp>
      <p:sp>
        <p:nvSpPr>
          <p:cNvPr id="6" name="Shape 4"/>
          <p:cNvSpPr/>
          <p:nvPr/>
        </p:nvSpPr>
        <p:spPr>
          <a:xfrm>
            <a:off x="609600" y="6431280"/>
            <a:ext cx="10972800" cy="0"/>
          </a:xfrm>
          <a:prstGeom prst="line">
            <a:avLst/>
          </a:prstGeom>
          <a:noFill/>
          <a:ln w="11430">
            <a:solidFill>
              <a:srgbClr val="D8DFD9"/>
            </a:solidFill>
            <a:prstDash val="solid"/>
          </a:ln>
        </p:spPr>
      </p:sp>
      <p:sp>
        <p:nvSpPr>
          <p:cNvPr id="7" name="Text 5"/>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INITIAL PHYSICAL UNDERSTANDING  /  MENTOR DISCUSSION</a:t>
            </a:r>
            <a:endParaRPr lang="en-US" sz="960" dirty="0"/>
          </a:p>
        </p:txBody>
      </p:sp>
      <p:sp>
        <p:nvSpPr>
          <p:cNvPr id="8" name="Text 6"/>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03 / 07</a:t>
            </a:r>
            <a:endParaRPr lang="en-US" sz="1140" dirty="0"/>
          </a:p>
        </p:txBody>
      </p:sp>
      <p:sp>
        <p:nvSpPr>
          <p:cNvPr id="9" name="Shape 7"/>
          <p:cNvSpPr/>
          <p:nvPr/>
        </p:nvSpPr>
        <p:spPr>
          <a:xfrm>
            <a:off x="609600" y="1699260"/>
            <a:ext cx="10972800" cy="1645920"/>
          </a:xfrm>
          <a:prstGeom prst="roundRect">
            <a:avLst/>
          </a:prstGeom>
          <a:solidFill>
            <a:srgbClr val="E1EFEB"/>
          </a:solidFill>
          <a:ln w="12700">
            <a:solidFill>
              <a:srgbClr val="E1EFEB">
                <a:alpha val="0"/>
              </a:srgbClr>
            </a:solidFill>
            <a:prstDash val="solid"/>
          </a:ln>
        </p:spPr>
      </p:sp>
      <p:sp>
        <p:nvSpPr>
          <p:cNvPr id="10" name="Shape 8"/>
          <p:cNvSpPr/>
          <p:nvPr/>
        </p:nvSpPr>
        <p:spPr>
          <a:xfrm>
            <a:off x="609600" y="1699260"/>
            <a:ext cx="68580" cy="1645920"/>
          </a:xfrm>
          <a:prstGeom prst="roundRect">
            <a:avLst/>
          </a:prstGeom>
          <a:solidFill>
            <a:srgbClr val="087F7B"/>
          </a:solidFill>
          <a:ln w="12700">
            <a:solidFill>
              <a:srgbClr val="087F7B">
                <a:alpha val="0"/>
              </a:srgbClr>
            </a:solidFill>
            <a:prstDash val="solid"/>
          </a:ln>
        </p:spPr>
      </p:sp>
      <p:sp>
        <p:nvSpPr>
          <p:cNvPr id="11" name="Text 9"/>
          <p:cNvSpPr/>
          <p:nvPr/>
        </p:nvSpPr>
        <p:spPr>
          <a:xfrm>
            <a:off x="944880" y="2026920"/>
            <a:ext cx="10172700" cy="906780"/>
          </a:xfrm>
          <a:prstGeom prst="rect">
            <a:avLst/>
          </a:prstGeom>
          <a:noFill/>
          <a:ln/>
        </p:spPr>
        <p:txBody>
          <a:bodyPr wrap="square" lIns="0" tIns="0" rIns="0" bIns="0" rtlCol="0" anchor="t"/>
          <a:lstStyle/>
          <a:p>
            <a:pPr algn="l" indent="0" marL="0">
              <a:lnSpc>
                <a:spcPct val="105000"/>
              </a:lnSpc>
              <a:buNone/>
            </a:pPr>
            <a:r>
              <a:rPr lang="en-US" altLang="en-US" sz="2640" b="1" dirty="0">
                <a:solidFill>
                  <a:srgbClr val="183139"/>
                </a:solidFill>
                <a:latin typeface="Arial" pitchFamily="34" charset="0"/>
                <a:ea typeface="Arial" pitchFamily="34" charset="-122"/>
                <a:cs typeface="Arial" pitchFamily="34" charset="-120"/>
              </a:rPr>
              <a:t>Estimating task-relevant physical properties</a:t>
            </a:r>
            <a:endParaRPr lang="en-US" sz="2640" dirty="0"/>
          </a:p>
          <a:p>
            <a:pPr algn="l" indent="0" marL="0">
              <a:lnSpc>
                <a:spcPct val="105000"/>
              </a:lnSpc>
              <a:buNone/>
            </a:pPr>
            <a:r>
              <a:rPr lang="en-US" altLang="en-US" sz="2640" b="1" dirty="0">
                <a:solidFill>
                  <a:srgbClr val="183139"/>
                </a:solidFill>
                <a:latin typeface="Arial" pitchFamily="34" charset="0"/>
                <a:ea typeface="Arial" pitchFamily="34" charset="-122"/>
                <a:cs typeface="Arial" pitchFamily="34" charset="-120"/>
              </a:rPr>
              <a:t>well enough to support task execution.</a:t>
            </a:r>
            <a:endParaRPr lang="en-US" sz="2640" dirty="0"/>
          </a:p>
        </p:txBody>
      </p:sp>
      <p:sp>
        <p:nvSpPr>
          <p:cNvPr id="12" name="Shape 10"/>
          <p:cNvSpPr/>
          <p:nvPr/>
        </p:nvSpPr>
        <p:spPr>
          <a:xfrm>
            <a:off x="609600" y="3733800"/>
            <a:ext cx="3429000" cy="1821180"/>
          </a:xfrm>
          <a:prstGeom prst="roundRect">
            <a:avLst/>
          </a:prstGeom>
          <a:solidFill>
            <a:srgbClr val="FFFFFF"/>
          </a:solidFill>
          <a:ln w="12700">
            <a:solidFill>
              <a:srgbClr val="FFFFFF">
                <a:alpha val="0"/>
              </a:srgbClr>
            </a:solidFill>
            <a:prstDash val="solid"/>
          </a:ln>
        </p:spPr>
      </p:sp>
      <p:sp>
        <p:nvSpPr>
          <p:cNvPr id="13" name="Text 11"/>
          <p:cNvSpPr/>
          <p:nvPr/>
        </p:nvSpPr>
        <p:spPr>
          <a:xfrm>
            <a:off x="800100" y="3962400"/>
            <a:ext cx="3048000" cy="259080"/>
          </a:xfrm>
          <a:prstGeom prst="rect">
            <a:avLst/>
          </a:prstGeom>
          <a:noFill/>
          <a:ln/>
        </p:spPr>
        <p:txBody>
          <a:bodyPr wrap="square" lIns="0" tIns="0" rIns="0" bIns="0" rtlCol="0" anchor="t"/>
          <a:lstStyle/>
          <a:p>
            <a:pPr algn="l" indent="0" marL="0">
              <a:lnSpc>
                <a:spcPct val="105000"/>
              </a:lnSpc>
              <a:buNone/>
            </a:pPr>
            <a:r>
              <a:rPr lang="en-US" altLang="en-US" sz="1500" b="1" dirty="0">
                <a:solidFill>
                  <a:srgbClr val="62747A"/>
                </a:solidFill>
                <a:latin typeface="Arial" pitchFamily="34" charset="0"/>
                <a:ea typeface="Arial" pitchFamily="34" charset="-122"/>
                <a:cs typeface="Arial" pitchFamily="34" charset="-120"/>
              </a:rPr>
              <a:t>Objective</a:t>
            </a:r>
            <a:endParaRPr lang="en-US" sz="1500" dirty="0"/>
          </a:p>
        </p:txBody>
      </p:sp>
      <p:sp>
        <p:nvSpPr>
          <p:cNvPr id="14" name="Text 12"/>
          <p:cNvSpPr/>
          <p:nvPr/>
        </p:nvSpPr>
        <p:spPr>
          <a:xfrm>
            <a:off x="800100" y="4320540"/>
            <a:ext cx="3048000" cy="358140"/>
          </a:xfrm>
          <a:prstGeom prst="rect">
            <a:avLst/>
          </a:prstGeom>
          <a:noFill/>
          <a:ln/>
        </p:spPr>
        <p:txBody>
          <a:bodyPr wrap="square" lIns="0" tIns="0" rIns="0" bIns="0" rtlCol="0" anchor="t"/>
          <a:lstStyle/>
          <a:p>
            <a:pPr algn="l" indent="0" marL="0">
              <a:lnSpc>
                <a:spcPct val="105000"/>
              </a:lnSpc>
              <a:buNone/>
            </a:pPr>
            <a:r>
              <a:rPr lang="en-US" altLang="en-US" sz="2160" b="1" dirty="0">
                <a:solidFill>
                  <a:srgbClr val="183139"/>
                </a:solidFill>
                <a:latin typeface="Arial" pitchFamily="34" charset="0"/>
                <a:ea typeface="Arial" pitchFamily="34" charset="-122"/>
                <a:cs typeface="Arial" pitchFamily="34" charset="-120"/>
              </a:rPr>
              <a:t>Pick and lift</a:t>
            </a:r>
            <a:endParaRPr lang="en-US" sz="2160" dirty="0"/>
          </a:p>
        </p:txBody>
      </p:sp>
      <p:sp>
        <p:nvSpPr>
          <p:cNvPr id="15" name="Shape 13"/>
          <p:cNvSpPr/>
          <p:nvPr/>
        </p:nvSpPr>
        <p:spPr>
          <a:xfrm>
            <a:off x="800100" y="4991100"/>
            <a:ext cx="1036320" cy="289560"/>
          </a:xfrm>
          <a:prstGeom prst="roundRect">
            <a:avLst/>
          </a:prstGeom>
          <a:solidFill>
            <a:srgbClr val="E8ECE8"/>
          </a:solidFill>
          <a:ln w="12700">
            <a:solidFill>
              <a:srgbClr val="E8ECE8">
                <a:alpha val="0"/>
              </a:srgbClr>
            </a:solidFill>
            <a:prstDash val="solid"/>
          </a:ln>
        </p:spPr>
      </p:sp>
      <p:sp>
        <p:nvSpPr>
          <p:cNvPr id="16" name="Text 14"/>
          <p:cNvSpPr/>
          <p:nvPr/>
        </p:nvSpPr>
        <p:spPr>
          <a:xfrm>
            <a:off x="800100" y="5036820"/>
            <a:ext cx="1036320" cy="205740"/>
          </a:xfrm>
          <a:prstGeom prst="rect">
            <a:avLst/>
          </a:prstGeom>
          <a:noFill/>
          <a:ln/>
        </p:spPr>
        <p:txBody>
          <a:bodyPr wrap="square" lIns="0" tIns="0" rIns="0" bIns="0" rtlCol="0" anchor="t"/>
          <a:lstStyle/>
          <a:p>
            <a:pPr algn="ctr" indent="0" marL="0">
              <a:lnSpc>
                <a:spcPct val="105000"/>
              </a:lnSpc>
              <a:buNone/>
            </a:pPr>
            <a:r>
              <a:rPr lang="en-US" altLang="en-US" sz="1080" b="1" dirty="0">
                <a:solidFill>
                  <a:srgbClr val="62747A"/>
                </a:solidFill>
                <a:latin typeface="Arial" pitchFamily="34" charset="0"/>
                <a:ea typeface="Arial" pitchFamily="34" charset="-122"/>
                <a:cs typeface="Arial" pitchFamily="34" charset="-120"/>
              </a:rPr>
              <a:t>FIXED</a:t>
            </a:r>
            <a:endParaRPr lang="en-US" sz="1080" dirty="0"/>
          </a:p>
        </p:txBody>
      </p:sp>
      <p:sp>
        <p:nvSpPr>
          <p:cNvPr id="17" name="Shape 15"/>
          <p:cNvSpPr/>
          <p:nvPr/>
        </p:nvSpPr>
        <p:spPr>
          <a:xfrm>
            <a:off x="4381500" y="3733800"/>
            <a:ext cx="3429000" cy="1821180"/>
          </a:xfrm>
          <a:prstGeom prst="roundRect">
            <a:avLst/>
          </a:prstGeom>
          <a:solidFill>
            <a:srgbClr val="FFFFFF"/>
          </a:solidFill>
          <a:ln w="12700">
            <a:solidFill>
              <a:srgbClr val="FFFFFF">
                <a:alpha val="0"/>
              </a:srgbClr>
            </a:solidFill>
            <a:prstDash val="solid"/>
          </a:ln>
        </p:spPr>
      </p:sp>
      <p:sp>
        <p:nvSpPr>
          <p:cNvPr id="18" name="Text 16"/>
          <p:cNvSpPr/>
          <p:nvPr/>
        </p:nvSpPr>
        <p:spPr>
          <a:xfrm>
            <a:off x="4572000" y="3962400"/>
            <a:ext cx="3048000" cy="259080"/>
          </a:xfrm>
          <a:prstGeom prst="rect">
            <a:avLst/>
          </a:prstGeom>
          <a:noFill/>
          <a:ln/>
        </p:spPr>
        <p:txBody>
          <a:bodyPr wrap="square" lIns="0" tIns="0" rIns="0" bIns="0" rtlCol="0" anchor="t"/>
          <a:lstStyle/>
          <a:p>
            <a:pPr algn="l" indent="0" marL="0">
              <a:lnSpc>
                <a:spcPct val="105000"/>
              </a:lnSpc>
              <a:buNone/>
            </a:pPr>
            <a:r>
              <a:rPr lang="en-US" altLang="en-US" sz="1500" b="1" dirty="0">
                <a:solidFill>
                  <a:srgbClr val="62747A"/>
                </a:solidFill>
                <a:latin typeface="Arial" pitchFamily="34" charset="0"/>
                <a:ea typeface="Arial" pitchFamily="34" charset="-122"/>
                <a:cs typeface="Arial" pitchFamily="34" charset="-120"/>
              </a:rPr>
              <a:t>Grasp strategy</a:t>
            </a:r>
            <a:endParaRPr lang="en-US" sz="1500" dirty="0"/>
          </a:p>
        </p:txBody>
      </p:sp>
      <p:sp>
        <p:nvSpPr>
          <p:cNvPr id="19" name="Text 17"/>
          <p:cNvSpPr/>
          <p:nvPr/>
        </p:nvSpPr>
        <p:spPr>
          <a:xfrm>
            <a:off x="4572000" y="4320540"/>
            <a:ext cx="3048000" cy="358140"/>
          </a:xfrm>
          <a:prstGeom prst="rect">
            <a:avLst/>
          </a:prstGeom>
          <a:noFill/>
          <a:ln/>
        </p:spPr>
        <p:txBody>
          <a:bodyPr wrap="square" lIns="0" tIns="0" rIns="0" bIns="0" rtlCol="0" anchor="t"/>
          <a:lstStyle/>
          <a:p>
            <a:pPr algn="l" indent="0" marL="0">
              <a:lnSpc>
                <a:spcPct val="105000"/>
              </a:lnSpc>
              <a:buNone/>
            </a:pPr>
            <a:r>
              <a:rPr lang="en-US" altLang="en-US" sz="2160" b="1" dirty="0">
                <a:solidFill>
                  <a:srgbClr val="183139"/>
                </a:solidFill>
                <a:latin typeface="Arial" pitchFamily="34" charset="0"/>
                <a:ea typeface="Arial" pitchFamily="34" charset="-122"/>
                <a:cs typeface="Arial" pitchFamily="34" charset="-120"/>
              </a:rPr>
              <a:t>Top-down grasp</a:t>
            </a:r>
            <a:endParaRPr lang="en-US" sz="2160" dirty="0"/>
          </a:p>
        </p:txBody>
      </p:sp>
      <p:sp>
        <p:nvSpPr>
          <p:cNvPr id="20" name="Shape 18"/>
          <p:cNvSpPr/>
          <p:nvPr/>
        </p:nvSpPr>
        <p:spPr>
          <a:xfrm>
            <a:off x="4572000" y="4991100"/>
            <a:ext cx="1036320" cy="289560"/>
          </a:xfrm>
          <a:prstGeom prst="roundRect">
            <a:avLst/>
          </a:prstGeom>
          <a:solidFill>
            <a:srgbClr val="E8ECE8"/>
          </a:solidFill>
          <a:ln w="12700">
            <a:solidFill>
              <a:srgbClr val="E8ECE8">
                <a:alpha val="0"/>
              </a:srgbClr>
            </a:solidFill>
            <a:prstDash val="solid"/>
          </a:ln>
        </p:spPr>
      </p:sp>
      <p:sp>
        <p:nvSpPr>
          <p:cNvPr id="21" name="Text 19"/>
          <p:cNvSpPr/>
          <p:nvPr/>
        </p:nvSpPr>
        <p:spPr>
          <a:xfrm>
            <a:off x="4572000" y="5036820"/>
            <a:ext cx="1036320" cy="205740"/>
          </a:xfrm>
          <a:prstGeom prst="rect">
            <a:avLst/>
          </a:prstGeom>
          <a:noFill/>
          <a:ln/>
        </p:spPr>
        <p:txBody>
          <a:bodyPr wrap="square" lIns="0" tIns="0" rIns="0" bIns="0" rtlCol="0" anchor="t"/>
          <a:lstStyle/>
          <a:p>
            <a:pPr algn="ctr" indent="0" marL="0">
              <a:lnSpc>
                <a:spcPct val="105000"/>
              </a:lnSpc>
              <a:buNone/>
            </a:pPr>
            <a:r>
              <a:rPr lang="en-US" altLang="en-US" sz="1080" b="1" dirty="0">
                <a:solidFill>
                  <a:srgbClr val="62747A"/>
                </a:solidFill>
                <a:latin typeface="Arial" pitchFamily="34" charset="0"/>
                <a:ea typeface="Arial" pitchFamily="34" charset="-122"/>
                <a:cs typeface="Arial" pitchFamily="34" charset="-120"/>
              </a:rPr>
              <a:t>FIXED</a:t>
            </a:r>
            <a:endParaRPr lang="en-US" sz="1080" dirty="0"/>
          </a:p>
        </p:txBody>
      </p:sp>
      <p:sp>
        <p:nvSpPr>
          <p:cNvPr id="22" name="Shape 20"/>
          <p:cNvSpPr/>
          <p:nvPr/>
        </p:nvSpPr>
        <p:spPr>
          <a:xfrm>
            <a:off x="8153400" y="3733800"/>
            <a:ext cx="3429000" cy="1821180"/>
          </a:xfrm>
          <a:prstGeom prst="roundRect">
            <a:avLst/>
          </a:prstGeom>
          <a:solidFill>
            <a:srgbClr val="FFFFFF"/>
          </a:solidFill>
          <a:ln w="15240">
            <a:solidFill>
              <a:srgbClr val="087F7B"/>
            </a:solidFill>
            <a:prstDash val="solid"/>
          </a:ln>
        </p:spPr>
      </p:sp>
      <p:sp>
        <p:nvSpPr>
          <p:cNvPr id="23" name="Text 21"/>
          <p:cNvSpPr/>
          <p:nvPr/>
        </p:nvSpPr>
        <p:spPr>
          <a:xfrm>
            <a:off x="8343900" y="3962400"/>
            <a:ext cx="3048000" cy="259080"/>
          </a:xfrm>
          <a:prstGeom prst="rect">
            <a:avLst/>
          </a:prstGeom>
          <a:noFill/>
          <a:ln/>
        </p:spPr>
        <p:txBody>
          <a:bodyPr wrap="square" lIns="0" tIns="0" rIns="0" bIns="0" rtlCol="0" anchor="t"/>
          <a:lstStyle/>
          <a:p>
            <a:pPr algn="l" indent="0" marL="0">
              <a:lnSpc>
                <a:spcPct val="105000"/>
              </a:lnSpc>
              <a:buNone/>
            </a:pPr>
            <a:r>
              <a:rPr lang="en-US" altLang="en-US" sz="1500" b="1" dirty="0">
                <a:solidFill>
                  <a:srgbClr val="62747A"/>
                </a:solidFill>
                <a:latin typeface="Arial" pitchFamily="34" charset="0"/>
                <a:ea typeface="Arial" pitchFamily="34" charset="-122"/>
                <a:cs typeface="Arial" pitchFamily="34" charset="-120"/>
              </a:rPr>
              <a:t>Physical understanding</a:t>
            </a:r>
            <a:endParaRPr lang="en-US" sz="1500" dirty="0"/>
          </a:p>
        </p:txBody>
      </p:sp>
      <p:sp>
        <p:nvSpPr>
          <p:cNvPr id="24" name="Text 22"/>
          <p:cNvSpPr/>
          <p:nvPr/>
        </p:nvSpPr>
        <p:spPr>
          <a:xfrm>
            <a:off x="8343900" y="4320540"/>
            <a:ext cx="3048000" cy="358140"/>
          </a:xfrm>
          <a:prstGeom prst="rect">
            <a:avLst/>
          </a:prstGeom>
          <a:noFill/>
          <a:ln/>
        </p:spPr>
        <p:txBody>
          <a:bodyPr wrap="square" lIns="0" tIns="0" rIns="0" bIns="0" rtlCol="0" anchor="t"/>
          <a:lstStyle/>
          <a:p>
            <a:pPr algn="l" indent="0" marL="0">
              <a:lnSpc>
                <a:spcPct val="105000"/>
              </a:lnSpc>
              <a:buNone/>
            </a:pPr>
            <a:r>
              <a:rPr lang="en-US" altLang="en-US" sz="2160" b="1" dirty="0">
                <a:solidFill>
                  <a:srgbClr val="183139"/>
                </a:solidFill>
                <a:latin typeface="Arial" pitchFamily="34" charset="0"/>
                <a:ea typeface="Arial" pitchFamily="34" charset="-122"/>
                <a:cs typeface="Arial" pitchFamily="34" charset="-120"/>
              </a:rPr>
              <a:t>Initial estimate</a:t>
            </a:r>
            <a:endParaRPr lang="en-US" sz="2160" dirty="0"/>
          </a:p>
        </p:txBody>
      </p:sp>
      <p:sp>
        <p:nvSpPr>
          <p:cNvPr id="25" name="Shape 23"/>
          <p:cNvSpPr/>
          <p:nvPr/>
        </p:nvSpPr>
        <p:spPr>
          <a:xfrm>
            <a:off x="8343900" y="4991100"/>
            <a:ext cx="1036320" cy="289560"/>
          </a:xfrm>
          <a:prstGeom prst="roundRect">
            <a:avLst/>
          </a:prstGeom>
          <a:solidFill>
            <a:srgbClr val="E1EFEB"/>
          </a:solidFill>
          <a:ln w="12700">
            <a:solidFill>
              <a:srgbClr val="E1EFEB">
                <a:alpha val="0"/>
              </a:srgbClr>
            </a:solidFill>
            <a:prstDash val="solid"/>
          </a:ln>
        </p:spPr>
      </p:sp>
      <p:sp>
        <p:nvSpPr>
          <p:cNvPr id="26" name="Text 24"/>
          <p:cNvSpPr/>
          <p:nvPr/>
        </p:nvSpPr>
        <p:spPr>
          <a:xfrm>
            <a:off x="8343900" y="5036820"/>
            <a:ext cx="1036320" cy="205740"/>
          </a:xfrm>
          <a:prstGeom prst="rect">
            <a:avLst/>
          </a:prstGeom>
          <a:noFill/>
          <a:ln/>
        </p:spPr>
        <p:txBody>
          <a:bodyPr wrap="square" lIns="0" tIns="0" rIns="0" bIns="0" rtlCol="0" anchor="t"/>
          <a:lstStyle/>
          <a:p>
            <a:pPr algn="ctr" indent="0" marL="0">
              <a:lnSpc>
                <a:spcPct val="105000"/>
              </a:lnSpc>
              <a:buNone/>
            </a:pPr>
            <a:r>
              <a:rPr lang="en-US" altLang="en-US" sz="1080" b="1" dirty="0">
                <a:solidFill>
                  <a:srgbClr val="087F7B"/>
                </a:solidFill>
                <a:latin typeface="Arial" pitchFamily="34" charset="0"/>
                <a:ea typeface="Arial" pitchFamily="34" charset="-122"/>
                <a:cs typeface="Arial" pitchFamily="34" charset="-120"/>
              </a:rPr>
              <a:t>STUDIED</a:t>
            </a:r>
            <a:endParaRPr lang="en-US" sz="1080" dirty="0"/>
          </a:p>
        </p:txBody>
      </p:sp>
      <p:sp>
        <p:nvSpPr>
          <p:cNvPr id="27" name="Text 25"/>
          <p:cNvSpPr/>
          <p:nvPr/>
        </p:nvSpPr>
        <p:spPr>
          <a:xfrm>
            <a:off x="609600" y="5913120"/>
            <a:ext cx="10972800" cy="289560"/>
          </a:xfrm>
          <a:prstGeom prst="rect">
            <a:avLst/>
          </a:prstGeom>
          <a:noFill/>
          <a:ln/>
        </p:spPr>
        <p:txBody>
          <a:bodyPr wrap="square" lIns="0" tIns="0" rIns="0" bIns="0" rtlCol="0" anchor="t"/>
          <a:lstStyle/>
          <a:p>
            <a:pPr algn="l" indent="0" marL="0">
              <a:lnSpc>
                <a:spcPct val="105000"/>
              </a:lnSpc>
              <a:buNone/>
            </a:pPr>
            <a:r>
              <a:rPr lang="en-US" altLang="en-US" sz="1740" dirty="0">
                <a:solidFill>
                  <a:srgbClr val="183139"/>
                </a:solidFill>
                <a:latin typeface="Arial" pitchFamily="34" charset="0"/>
                <a:ea typeface="Arial" pitchFamily="34" charset="-122"/>
                <a:cs typeface="Arial" pitchFamily="34" charset="-120"/>
              </a:rPr>
              <a:t>Fixing the objective and strategy keeps the focus on physical estimation.</a:t>
            </a:r>
            <a:endParaRPr lang="en-US" sz="17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04 · CONTROLLED TASK</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540" b="1" dirty="0">
                <a:solidFill>
                  <a:srgbClr val="183139"/>
                </a:solidFill>
                <a:latin typeface="Arial" pitchFamily="34" charset="0"/>
                <a:ea typeface="Arial" pitchFamily="34" charset="-122"/>
                <a:cs typeface="Arial" pitchFamily="34" charset="-120"/>
              </a:rPr>
              <a:t>One task. One grasp strategy.</a:t>
            </a:r>
            <a:endParaRPr lang="en-US" sz="354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Use a top-down pick and lift to isolate the physical-estimation question.</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INITIAL PHYSICAL UNDERSTANDING  /  MENTOR DISCUSSION</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04 / 07</a:t>
            </a:r>
            <a:endParaRPr lang="en-US" sz="1140" dirty="0"/>
          </a:p>
        </p:txBody>
      </p:sp>
      <p:sp>
        <p:nvSpPr>
          <p:cNvPr id="10" name="Shape 8"/>
          <p:cNvSpPr/>
          <p:nvPr/>
        </p:nvSpPr>
        <p:spPr>
          <a:xfrm>
            <a:off x="609600" y="2225040"/>
            <a:ext cx="3429000" cy="3200400"/>
          </a:xfrm>
          <a:prstGeom prst="roundRect">
            <a:avLst/>
          </a:prstGeom>
          <a:solidFill>
            <a:srgbClr val="FFFFFF"/>
          </a:solidFill>
          <a:ln w="12700">
            <a:solidFill>
              <a:srgbClr val="FFFFFF">
                <a:alpha val="0"/>
              </a:srgbClr>
            </a:solidFill>
            <a:prstDash val="solid"/>
          </a:ln>
        </p:spPr>
      </p:sp>
      <p:sp>
        <p:nvSpPr>
          <p:cNvPr id="11" name="Shape 9"/>
          <p:cNvSpPr/>
          <p:nvPr/>
        </p:nvSpPr>
        <p:spPr>
          <a:xfrm>
            <a:off x="800100" y="2415540"/>
            <a:ext cx="304800" cy="304800"/>
          </a:xfrm>
          <a:prstGeom prst="ellipse">
            <a:avLst/>
          </a:prstGeom>
          <a:solidFill>
            <a:srgbClr val="22434A"/>
          </a:solidFill>
          <a:ln w="12700">
            <a:solidFill>
              <a:srgbClr val="22434A">
                <a:alpha val="0"/>
              </a:srgbClr>
            </a:solidFill>
            <a:prstDash val="solid"/>
          </a:ln>
        </p:spPr>
      </p:sp>
      <p:sp>
        <p:nvSpPr>
          <p:cNvPr id="12" name="Text 10"/>
          <p:cNvSpPr/>
          <p:nvPr/>
        </p:nvSpPr>
        <p:spPr>
          <a:xfrm>
            <a:off x="800100" y="246126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1</a:t>
            </a:r>
            <a:endParaRPr lang="en-US" sz="1380" dirty="0"/>
          </a:p>
        </p:txBody>
      </p:sp>
      <p:sp>
        <p:nvSpPr>
          <p:cNvPr id="13" name="Text 11"/>
          <p:cNvSpPr/>
          <p:nvPr/>
        </p:nvSpPr>
        <p:spPr>
          <a:xfrm>
            <a:off x="1257300" y="2438400"/>
            <a:ext cx="2514600" cy="320040"/>
          </a:xfrm>
          <a:prstGeom prst="rect">
            <a:avLst/>
          </a:prstGeom>
          <a:noFill/>
          <a:ln/>
        </p:spPr>
        <p:txBody>
          <a:bodyPr wrap="square" lIns="0" tIns="0" rIns="0" bIns="0" rtlCol="0" anchor="t"/>
          <a:lstStyle/>
          <a:p>
            <a:pPr algn="l" indent="0" marL="0">
              <a:lnSpc>
                <a:spcPct val="105000"/>
              </a:lnSpc>
              <a:buNone/>
            </a:pPr>
            <a:r>
              <a:rPr lang="en-US" altLang="en-US" sz="1920" b="1" dirty="0">
                <a:solidFill>
                  <a:srgbClr val="183139"/>
                </a:solidFill>
                <a:latin typeface="Arial" pitchFamily="34" charset="0"/>
                <a:ea typeface="Arial" pitchFamily="34" charset="-122"/>
                <a:cs typeface="Arial" pitchFamily="34" charset="-120"/>
              </a:rPr>
              <a:t>Approach</a:t>
            </a:r>
            <a:endParaRPr lang="en-US" sz="1920" dirty="0"/>
          </a:p>
        </p:txBody>
      </p:sp>
      <p:sp>
        <p:nvSpPr>
          <p:cNvPr id="14" name="Shape 12"/>
          <p:cNvSpPr/>
          <p:nvPr/>
        </p:nvSpPr>
        <p:spPr>
          <a:xfrm>
            <a:off x="2292585" y="4781852"/>
            <a:ext cx="1528486" cy="0"/>
          </a:xfrm>
          <a:prstGeom prst="line">
            <a:avLst/>
          </a:prstGeom>
          <a:noFill/>
          <a:ln w="31515">
            <a:solidFill>
              <a:srgbClr val="93A5AA"/>
            </a:solidFill>
            <a:prstDash val="solid"/>
          </a:ln>
        </p:spPr>
      </p:sp>
      <p:sp>
        <p:nvSpPr>
          <p:cNvPr id="15" name="Shape 13"/>
          <p:cNvSpPr/>
          <p:nvPr/>
        </p:nvSpPr>
        <p:spPr>
          <a:xfrm>
            <a:off x="2442282" y="4797610"/>
            <a:ext cx="0" cy="244243"/>
          </a:xfrm>
          <a:prstGeom prst="line">
            <a:avLst/>
          </a:prstGeom>
          <a:noFill/>
          <a:ln w="39394">
            <a:solidFill>
              <a:srgbClr val="D8DFD9"/>
            </a:solidFill>
            <a:prstDash val="solid"/>
          </a:ln>
        </p:spPr>
      </p:sp>
      <p:sp>
        <p:nvSpPr>
          <p:cNvPr id="16" name="Shape 14"/>
          <p:cNvSpPr/>
          <p:nvPr/>
        </p:nvSpPr>
        <p:spPr>
          <a:xfrm>
            <a:off x="3695010" y="4797610"/>
            <a:ext cx="0" cy="244243"/>
          </a:xfrm>
          <a:prstGeom prst="line">
            <a:avLst/>
          </a:prstGeom>
          <a:noFill/>
          <a:ln w="39394">
            <a:solidFill>
              <a:srgbClr val="D8DFD9"/>
            </a:solidFill>
            <a:prstDash val="solid"/>
          </a:ln>
        </p:spPr>
      </p:sp>
      <p:sp>
        <p:nvSpPr>
          <p:cNvPr id="17" name="Shape 15"/>
          <p:cNvSpPr/>
          <p:nvPr/>
        </p:nvSpPr>
        <p:spPr>
          <a:xfrm>
            <a:off x="866523" y="4797610"/>
            <a:ext cx="630303" cy="141818"/>
          </a:xfrm>
          <a:prstGeom prst="roundRect">
            <a:avLst/>
          </a:prstGeom>
          <a:solidFill>
            <a:srgbClr val="22434A"/>
          </a:solidFill>
          <a:ln w="12700">
            <a:solidFill>
              <a:srgbClr val="22434A">
                <a:alpha val="0"/>
              </a:srgbClr>
            </a:solidFill>
            <a:prstDash val="solid"/>
          </a:ln>
        </p:spPr>
      </p:sp>
      <p:sp>
        <p:nvSpPr>
          <p:cNvPr id="18" name="Shape 16"/>
          <p:cNvSpPr/>
          <p:nvPr/>
        </p:nvSpPr>
        <p:spPr>
          <a:xfrm>
            <a:off x="1063493" y="4561246"/>
            <a:ext cx="244243" cy="236364"/>
          </a:xfrm>
          <a:prstGeom prst="roundRect">
            <a:avLst/>
          </a:prstGeom>
          <a:solidFill>
            <a:srgbClr val="93A5AA"/>
          </a:solidFill>
          <a:ln w="12700">
            <a:solidFill>
              <a:srgbClr val="93A5AA">
                <a:alpha val="0"/>
              </a:srgbClr>
            </a:solidFill>
            <a:prstDash val="solid"/>
          </a:ln>
        </p:spPr>
      </p:sp>
      <p:sp>
        <p:nvSpPr>
          <p:cNvPr id="19" name="Shape 17"/>
          <p:cNvSpPr/>
          <p:nvPr/>
        </p:nvSpPr>
        <p:spPr>
          <a:xfrm flipV="1">
            <a:off x="1181675" y="3655185"/>
            <a:ext cx="401818" cy="921819"/>
          </a:xfrm>
          <a:prstGeom prst="line">
            <a:avLst/>
          </a:prstGeom>
          <a:noFill/>
          <a:ln w="157576">
            <a:solidFill>
              <a:srgbClr val="93A5AA"/>
            </a:solidFill>
            <a:prstDash val="solid"/>
          </a:ln>
        </p:spPr>
      </p:sp>
      <p:sp>
        <p:nvSpPr>
          <p:cNvPr id="20" name="Shape 18"/>
          <p:cNvSpPr/>
          <p:nvPr/>
        </p:nvSpPr>
        <p:spPr>
          <a:xfrm flipV="1">
            <a:off x="1583494" y="3497609"/>
            <a:ext cx="811516" cy="157576"/>
          </a:xfrm>
          <a:prstGeom prst="line">
            <a:avLst/>
          </a:prstGeom>
          <a:noFill/>
          <a:ln w="157576">
            <a:solidFill>
              <a:srgbClr val="93A5AA"/>
            </a:solidFill>
            <a:prstDash val="solid"/>
          </a:ln>
        </p:spPr>
      </p:sp>
      <p:sp>
        <p:nvSpPr>
          <p:cNvPr id="21" name="Shape 19"/>
          <p:cNvSpPr/>
          <p:nvPr/>
        </p:nvSpPr>
        <p:spPr>
          <a:xfrm>
            <a:off x="2395009" y="3497609"/>
            <a:ext cx="661819" cy="7879"/>
          </a:xfrm>
          <a:prstGeom prst="line">
            <a:avLst/>
          </a:prstGeom>
          <a:noFill/>
          <a:ln w="126061">
            <a:solidFill>
              <a:srgbClr val="93A5AA"/>
            </a:solidFill>
            <a:prstDash val="solid"/>
          </a:ln>
        </p:spPr>
      </p:sp>
      <p:sp>
        <p:nvSpPr>
          <p:cNvPr id="22" name="Shape 20"/>
          <p:cNvSpPr/>
          <p:nvPr/>
        </p:nvSpPr>
        <p:spPr>
          <a:xfrm>
            <a:off x="1055614" y="4450943"/>
            <a:ext cx="252121" cy="252121"/>
          </a:xfrm>
          <a:prstGeom prst="ellipse">
            <a:avLst/>
          </a:prstGeom>
          <a:solidFill>
            <a:srgbClr val="22434A"/>
          </a:solidFill>
          <a:ln w="12700">
            <a:solidFill>
              <a:srgbClr val="22434A">
                <a:alpha val="0"/>
              </a:srgbClr>
            </a:solidFill>
            <a:prstDash val="solid"/>
          </a:ln>
        </p:spPr>
      </p:sp>
      <p:sp>
        <p:nvSpPr>
          <p:cNvPr id="23" name="Shape 21"/>
          <p:cNvSpPr/>
          <p:nvPr/>
        </p:nvSpPr>
        <p:spPr>
          <a:xfrm>
            <a:off x="1457433" y="3529124"/>
            <a:ext cx="252121" cy="252121"/>
          </a:xfrm>
          <a:prstGeom prst="ellipse">
            <a:avLst/>
          </a:prstGeom>
          <a:solidFill>
            <a:srgbClr val="22434A"/>
          </a:solidFill>
          <a:ln w="12700">
            <a:solidFill>
              <a:srgbClr val="22434A">
                <a:alpha val="0"/>
              </a:srgbClr>
            </a:solidFill>
            <a:prstDash val="solid"/>
          </a:ln>
        </p:spPr>
      </p:sp>
      <p:sp>
        <p:nvSpPr>
          <p:cNvPr id="24" name="Shape 22"/>
          <p:cNvSpPr/>
          <p:nvPr/>
        </p:nvSpPr>
        <p:spPr>
          <a:xfrm>
            <a:off x="2292585" y="3395184"/>
            <a:ext cx="204849" cy="204849"/>
          </a:xfrm>
          <a:prstGeom prst="ellipse">
            <a:avLst/>
          </a:prstGeom>
          <a:solidFill>
            <a:srgbClr val="22434A"/>
          </a:solidFill>
          <a:ln w="12700">
            <a:solidFill>
              <a:srgbClr val="22434A">
                <a:alpha val="0"/>
              </a:srgbClr>
            </a:solidFill>
            <a:prstDash val="solid"/>
          </a:ln>
        </p:spPr>
      </p:sp>
      <p:sp>
        <p:nvSpPr>
          <p:cNvPr id="25" name="Shape 23"/>
          <p:cNvSpPr/>
          <p:nvPr/>
        </p:nvSpPr>
        <p:spPr>
          <a:xfrm>
            <a:off x="1118645" y="4513973"/>
            <a:ext cx="126061" cy="126061"/>
          </a:xfrm>
          <a:prstGeom prst="ellipse">
            <a:avLst/>
          </a:prstGeom>
          <a:solidFill>
            <a:srgbClr val="F6F4EF"/>
          </a:solidFill>
          <a:ln w="12700">
            <a:solidFill>
              <a:srgbClr val="F6F4EF">
                <a:alpha val="0"/>
              </a:srgbClr>
            </a:solidFill>
            <a:prstDash val="solid"/>
          </a:ln>
        </p:spPr>
      </p:sp>
      <p:sp>
        <p:nvSpPr>
          <p:cNvPr id="26" name="Shape 24"/>
          <p:cNvSpPr/>
          <p:nvPr/>
        </p:nvSpPr>
        <p:spPr>
          <a:xfrm>
            <a:off x="1528342" y="3600033"/>
            <a:ext cx="110303" cy="110303"/>
          </a:xfrm>
          <a:prstGeom prst="ellipse">
            <a:avLst/>
          </a:prstGeom>
          <a:solidFill>
            <a:srgbClr val="F6F4EF"/>
          </a:solidFill>
          <a:ln w="12700">
            <a:solidFill>
              <a:srgbClr val="F6F4EF">
                <a:alpha val="0"/>
              </a:srgbClr>
            </a:solidFill>
            <a:prstDash val="solid"/>
          </a:ln>
        </p:spPr>
      </p:sp>
      <p:sp>
        <p:nvSpPr>
          <p:cNvPr id="27" name="Shape 25"/>
          <p:cNvSpPr/>
          <p:nvPr/>
        </p:nvSpPr>
        <p:spPr>
          <a:xfrm>
            <a:off x="2347736" y="3450336"/>
            <a:ext cx="94546" cy="94546"/>
          </a:xfrm>
          <a:prstGeom prst="ellipse">
            <a:avLst/>
          </a:prstGeom>
          <a:solidFill>
            <a:srgbClr val="F6F4EF"/>
          </a:solidFill>
          <a:ln w="12700">
            <a:solidFill>
              <a:srgbClr val="F6F4EF">
                <a:alpha val="0"/>
              </a:srgbClr>
            </a:solidFill>
            <a:prstDash val="solid"/>
          </a:ln>
        </p:spPr>
      </p:sp>
      <p:sp>
        <p:nvSpPr>
          <p:cNvPr id="28" name="Shape 26"/>
          <p:cNvSpPr/>
          <p:nvPr/>
        </p:nvSpPr>
        <p:spPr>
          <a:xfrm>
            <a:off x="3056828" y="3505488"/>
            <a:ext cx="0" cy="196970"/>
          </a:xfrm>
          <a:prstGeom prst="line">
            <a:avLst/>
          </a:prstGeom>
          <a:noFill/>
          <a:ln w="94546">
            <a:solidFill>
              <a:srgbClr val="22434A"/>
            </a:solidFill>
            <a:prstDash val="solid"/>
          </a:ln>
        </p:spPr>
      </p:sp>
      <p:sp>
        <p:nvSpPr>
          <p:cNvPr id="29" name="Shape 27"/>
          <p:cNvSpPr/>
          <p:nvPr/>
        </p:nvSpPr>
        <p:spPr>
          <a:xfrm>
            <a:off x="2773191" y="3702457"/>
            <a:ext cx="567273" cy="133939"/>
          </a:xfrm>
          <a:prstGeom prst="roundRect">
            <a:avLst/>
          </a:prstGeom>
          <a:solidFill>
            <a:srgbClr val="22434A"/>
          </a:solidFill>
          <a:ln w="12700">
            <a:solidFill>
              <a:srgbClr val="22434A">
                <a:alpha val="0"/>
              </a:srgbClr>
            </a:solidFill>
            <a:prstDash val="solid"/>
          </a:ln>
        </p:spPr>
      </p:sp>
      <p:sp>
        <p:nvSpPr>
          <p:cNvPr id="30" name="Shape 28"/>
          <p:cNvSpPr/>
          <p:nvPr/>
        </p:nvSpPr>
        <p:spPr>
          <a:xfrm>
            <a:off x="2599858" y="3804882"/>
            <a:ext cx="94546" cy="512122"/>
          </a:xfrm>
          <a:prstGeom prst="roundRect">
            <a:avLst/>
          </a:prstGeom>
          <a:solidFill>
            <a:srgbClr val="93A5AA"/>
          </a:solidFill>
          <a:ln w="12700">
            <a:solidFill>
              <a:srgbClr val="93A5AA">
                <a:alpha val="0"/>
              </a:srgbClr>
            </a:solidFill>
            <a:prstDash val="solid"/>
          </a:ln>
        </p:spPr>
      </p:sp>
      <p:sp>
        <p:nvSpPr>
          <p:cNvPr id="31" name="Shape 29"/>
          <p:cNvSpPr/>
          <p:nvPr/>
        </p:nvSpPr>
        <p:spPr>
          <a:xfrm>
            <a:off x="3419252" y="3804882"/>
            <a:ext cx="94546" cy="512122"/>
          </a:xfrm>
          <a:prstGeom prst="roundRect">
            <a:avLst/>
          </a:prstGeom>
          <a:solidFill>
            <a:srgbClr val="93A5AA"/>
          </a:solidFill>
          <a:ln w="12700">
            <a:solidFill>
              <a:srgbClr val="93A5AA">
                <a:alpha val="0"/>
              </a:srgbClr>
            </a:solidFill>
            <a:prstDash val="solid"/>
          </a:ln>
        </p:spPr>
      </p:sp>
      <p:sp>
        <p:nvSpPr>
          <p:cNvPr id="32" name="Shape 30"/>
          <p:cNvSpPr/>
          <p:nvPr/>
        </p:nvSpPr>
        <p:spPr>
          <a:xfrm>
            <a:off x="2599858" y="4230336"/>
            <a:ext cx="157576" cy="86667"/>
          </a:xfrm>
          <a:prstGeom prst="roundRect">
            <a:avLst/>
          </a:prstGeom>
          <a:solidFill>
            <a:srgbClr val="22434A"/>
          </a:solidFill>
          <a:ln w="12700">
            <a:solidFill>
              <a:srgbClr val="22434A">
                <a:alpha val="0"/>
              </a:srgbClr>
            </a:solidFill>
            <a:prstDash val="solid"/>
          </a:ln>
        </p:spPr>
      </p:sp>
      <p:sp>
        <p:nvSpPr>
          <p:cNvPr id="33" name="Shape 31"/>
          <p:cNvSpPr/>
          <p:nvPr/>
        </p:nvSpPr>
        <p:spPr>
          <a:xfrm>
            <a:off x="3356222" y="4230336"/>
            <a:ext cx="157576" cy="86667"/>
          </a:xfrm>
          <a:prstGeom prst="roundRect">
            <a:avLst/>
          </a:prstGeom>
          <a:solidFill>
            <a:srgbClr val="22434A"/>
          </a:solidFill>
          <a:ln w="12700">
            <a:solidFill>
              <a:srgbClr val="22434A">
                <a:alpha val="0"/>
              </a:srgbClr>
            </a:solidFill>
            <a:prstDash val="solid"/>
          </a:ln>
        </p:spPr>
      </p:sp>
      <p:sp>
        <p:nvSpPr>
          <p:cNvPr id="34" name="Shape 32"/>
          <p:cNvSpPr/>
          <p:nvPr/>
        </p:nvSpPr>
        <p:spPr>
          <a:xfrm>
            <a:off x="2899252" y="4450943"/>
            <a:ext cx="315152" cy="315152"/>
          </a:xfrm>
          <a:prstGeom prst="roundRect">
            <a:avLst/>
          </a:prstGeom>
          <a:solidFill>
            <a:srgbClr val="DFC28E"/>
          </a:solidFill>
          <a:ln w="12700">
            <a:solidFill>
              <a:srgbClr val="DFC28E">
                <a:alpha val="0"/>
              </a:srgbClr>
            </a:solidFill>
            <a:prstDash val="solid"/>
          </a:ln>
        </p:spPr>
      </p:sp>
      <p:sp>
        <p:nvSpPr>
          <p:cNvPr id="35" name="Shape 33"/>
          <p:cNvSpPr/>
          <p:nvPr/>
        </p:nvSpPr>
        <p:spPr>
          <a:xfrm>
            <a:off x="3135616" y="4450943"/>
            <a:ext cx="78788" cy="315152"/>
          </a:xfrm>
          <a:prstGeom prst="roundRect">
            <a:avLst/>
          </a:prstGeom>
          <a:solidFill>
            <a:srgbClr val="BA9A61"/>
          </a:solidFill>
          <a:ln w="12700">
            <a:solidFill>
              <a:srgbClr val="BA9A61">
                <a:alpha val="0"/>
              </a:srgbClr>
            </a:solidFill>
            <a:prstDash val="solid"/>
          </a:ln>
        </p:spPr>
      </p:sp>
      <p:sp>
        <p:nvSpPr>
          <p:cNvPr id="36" name="Shape 34"/>
          <p:cNvSpPr/>
          <p:nvPr/>
        </p:nvSpPr>
        <p:spPr>
          <a:xfrm>
            <a:off x="2899252" y="4545488"/>
            <a:ext cx="315152" cy="0"/>
          </a:xfrm>
          <a:prstGeom prst="line">
            <a:avLst/>
          </a:prstGeom>
          <a:noFill/>
          <a:ln w="11030">
            <a:solidFill>
              <a:srgbClr val="F4E8CE"/>
            </a:solidFill>
            <a:prstDash val="solid"/>
          </a:ln>
        </p:spPr>
      </p:sp>
      <p:sp>
        <p:nvSpPr>
          <p:cNvPr id="37" name="Shape 35"/>
          <p:cNvSpPr/>
          <p:nvPr/>
        </p:nvSpPr>
        <p:spPr>
          <a:xfrm>
            <a:off x="3568949" y="3875791"/>
            <a:ext cx="0" cy="480606"/>
          </a:xfrm>
          <a:prstGeom prst="line">
            <a:avLst/>
          </a:prstGeom>
          <a:noFill/>
          <a:ln w="31515">
            <a:solidFill>
              <a:srgbClr val="087F7B"/>
            </a:solidFill>
            <a:prstDash val="solid"/>
            <a:tailEnd type="triangle"/>
          </a:ln>
        </p:spPr>
      </p:sp>
      <p:sp>
        <p:nvSpPr>
          <p:cNvPr id="38" name="Shape 36"/>
          <p:cNvSpPr/>
          <p:nvPr/>
        </p:nvSpPr>
        <p:spPr>
          <a:xfrm>
            <a:off x="4152900" y="3870960"/>
            <a:ext cx="129540" cy="0"/>
          </a:xfrm>
          <a:prstGeom prst="line">
            <a:avLst/>
          </a:prstGeom>
          <a:noFill/>
          <a:ln w="15240">
            <a:solidFill>
              <a:srgbClr val="93A5AA"/>
            </a:solidFill>
            <a:prstDash val="solid"/>
            <a:tailEnd type="triangle"/>
          </a:ln>
        </p:spPr>
      </p:sp>
      <p:sp>
        <p:nvSpPr>
          <p:cNvPr id="39" name="Shape 37"/>
          <p:cNvSpPr/>
          <p:nvPr/>
        </p:nvSpPr>
        <p:spPr>
          <a:xfrm>
            <a:off x="4381500" y="2225040"/>
            <a:ext cx="3429000" cy="3200400"/>
          </a:xfrm>
          <a:prstGeom prst="roundRect">
            <a:avLst/>
          </a:prstGeom>
          <a:solidFill>
            <a:srgbClr val="FFFFFF"/>
          </a:solidFill>
          <a:ln w="12700">
            <a:solidFill>
              <a:srgbClr val="FFFFFF">
                <a:alpha val="0"/>
              </a:srgbClr>
            </a:solidFill>
            <a:prstDash val="solid"/>
          </a:ln>
        </p:spPr>
      </p:sp>
      <p:sp>
        <p:nvSpPr>
          <p:cNvPr id="40" name="Shape 38"/>
          <p:cNvSpPr/>
          <p:nvPr/>
        </p:nvSpPr>
        <p:spPr>
          <a:xfrm>
            <a:off x="4572000" y="2415540"/>
            <a:ext cx="304800" cy="304800"/>
          </a:xfrm>
          <a:prstGeom prst="ellipse">
            <a:avLst/>
          </a:prstGeom>
          <a:solidFill>
            <a:srgbClr val="22434A"/>
          </a:solidFill>
          <a:ln w="12700">
            <a:solidFill>
              <a:srgbClr val="22434A">
                <a:alpha val="0"/>
              </a:srgbClr>
            </a:solidFill>
            <a:prstDash val="solid"/>
          </a:ln>
        </p:spPr>
      </p:sp>
      <p:sp>
        <p:nvSpPr>
          <p:cNvPr id="41" name="Text 39"/>
          <p:cNvSpPr/>
          <p:nvPr/>
        </p:nvSpPr>
        <p:spPr>
          <a:xfrm>
            <a:off x="4572000" y="246126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2</a:t>
            </a:r>
            <a:endParaRPr lang="en-US" sz="1380" dirty="0"/>
          </a:p>
        </p:txBody>
      </p:sp>
      <p:sp>
        <p:nvSpPr>
          <p:cNvPr id="42" name="Text 40"/>
          <p:cNvSpPr/>
          <p:nvPr/>
        </p:nvSpPr>
        <p:spPr>
          <a:xfrm>
            <a:off x="5029200" y="2438400"/>
            <a:ext cx="2514600" cy="320040"/>
          </a:xfrm>
          <a:prstGeom prst="rect">
            <a:avLst/>
          </a:prstGeom>
          <a:noFill/>
          <a:ln/>
        </p:spPr>
        <p:txBody>
          <a:bodyPr wrap="square" lIns="0" tIns="0" rIns="0" bIns="0" rtlCol="0" anchor="t"/>
          <a:lstStyle/>
          <a:p>
            <a:pPr algn="l" indent="0" marL="0">
              <a:lnSpc>
                <a:spcPct val="105000"/>
              </a:lnSpc>
              <a:buNone/>
            </a:pPr>
            <a:r>
              <a:rPr lang="en-US" altLang="en-US" sz="1920" b="1" dirty="0">
                <a:solidFill>
                  <a:srgbClr val="183139"/>
                </a:solidFill>
                <a:latin typeface="Arial" pitchFamily="34" charset="0"/>
                <a:ea typeface="Arial" pitchFamily="34" charset="-122"/>
                <a:cs typeface="Arial" pitchFamily="34" charset="-120"/>
              </a:rPr>
              <a:t>Grasp</a:t>
            </a:r>
            <a:endParaRPr lang="en-US" sz="1920" dirty="0"/>
          </a:p>
        </p:txBody>
      </p:sp>
      <p:sp>
        <p:nvSpPr>
          <p:cNvPr id="43" name="Shape 41"/>
          <p:cNvSpPr/>
          <p:nvPr/>
        </p:nvSpPr>
        <p:spPr>
          <a:xfrm>
            <a:off x="6064485" y="4781852"/>
            <a:ext cx="1528486" cy="0"/>
          </a:xfrm>
          <a:prstGeom prst="line">
            <a:avLst/>
          </a:prstGeom>
          <a:noFill/>
          <a:ln w="31515">
            <a:solidFill>
              <a:srgbClr val="93A5AA"/>
            </a:solidFill>
            <a:prstDash val="solid"/>
          </a:ln>
        </p:spPr>
      </p:sp>
      <p:sp>
        <p:nvSpPr>
          <p:cNvPr id="44" name="Shape 42"/>
          <p:cNvSpPr/>
          <p:nvPr/>
        </p:nvSpPr>
        <p:spPr>
          <a:xfrm>
            <a:off x="6214182" y="4797610"/>
            <a:ext cx="0" cy="244243"/>
          </a:xfrm>
          <a:prstGeom prst="line">
            <a:avLst/>
          </a:prstGeom>
          <a:noFill/>
          <a:ln w="39394">
            <a:solidFill>
              <a:srgbClr val="D8DFD9"/>
            </a:solidFill>
            <a:prstDash val="solid"/>
          </a:ln>
        </p:spPr>
      </p:sp>
      <p:sp>
        <p:nvSpPr>
          <p:cNvPr id="45" name="Shape 43"/>
          <p:cNvSpPr/>
          <p:nvPr/>
        </p:nvSpPr>
        <p:spPr>
          <a:xfrm>
            <a:off x="7466910" y="4797610"/>
            <a:ext cx="0" cy="244243"/>
          </a:xfrm>
          <a:prstGeom prst="line">
            <a:avLst/>
          </a:prstGeom>
          <a:noFill/>
          <a:ln w="39394">
            <a:solidFill>
              <a:srgbClr val="D8DFD9"/>
            </a:solidFill>
            <a:prstDash val="solid"/>
          </a:ln>
        </p:spPr>
      </p:sp>
      <p:sp>
        <p:nvSpPr>
          <p:cNvPr id="46" name="Shape 44"/>
          <p:cNvSpPr/>
          <p:nvPr/>
        </p:nvSpPr>
        <p:spPr>
          <a:xfrm>
            <a:off x="4638423" y="4797610"/>
            <a:ext cx="630303" cy="141818"/>
          </a:xfrm>
          <a:prstGeom prst="roundRect">
            <a:avLst/>
          </a:prstGeom>
          <a:solidFill>
            <a:srgbClr val="22434A"/>
          </a:solidFill>
          <a:ln w="12700">
            <a:solidFill>
              <a:srgbClr val="22434A">
                <a:alpha val="0"/>
              </a:srgbClr>
            </a:solidFill>
            <a:prstDash val="solid"/>
          </a:ln>
        </p:spPr>
      </p:sp>
      <p:sp>
        <p:nvSpPr>
          <p:cNvPr id="47" name="Shape 45"/>
          <p:cNvSpPr/>
          <p:nvPr/>
        </p:nvSpPr>
        <p:spPr>
          <a:xfrm>
            <a:off x="4835393" y="4561246"/>
            <a:ext cx="244243" cy="236364"/>
          </a:xfrm>
          <a:prstGeom prst="roundRect">
            <a:avLst/>
          </a:prstGeom>
          <a:solidFill>
            <a:srgbClr val="93A5AA"/>
          </a:solidFill>
          <a:ln w="12700">
            <a:solidFill>
              <a:srgbClr val="93A5AA">
                <a:alpha val="0"/>
              </a:srgbClr>
            </a:solidFill>
            <a:prstDash val="solid"/>
          </a:ln>
        </p:spPr>
      </p:sp>
      <p:sp>
        <p:nvSpPr>
          <p:cNvPr id="48" name="Shape 46"/>
          <p:cNvSpPr/>
          <p:nvPr/>
        </p:nvSpPr>
        <p:spPr>
          <a:xfrm flipV="1">
            <a:off x="4953575" y="3655185"/>
            <a:ext cx="401818" cy="921819"/>
          </a:xfrm>
          <a:prstGeom prst="line">
            <a:avLst/>
          </a:prstGeom>
          <a:noFill/>
          <a:ln w="157576">
            <a:solidFill>
              <a:srgbClr val="93A5AA"/>
            </a:solidFill>
            <a:prstDash val="solid"/>
          </a:ln>
        </p:spPr>
      </p:sp>
      <p:sp>
        <p:nvSpPr>
          <p:cNvPr id="49" name="Shape 47"/>
          <p:cNvSpPr/>
          <p:nvPr/>
        </p:nvSpPr>
        <p:spPr>
          <a:xfrm flipV="1">
            <a:off x="5355394" y="3497609"/>
            <a:ext cx="811516" cy="157576"/>
          </a:xfrm>
          <a:prstGeom prst="line">
            <a:avLst/>
          </a:prstGeom>
          <a:noFill/>
          <a:ln w="157576">
            <a:solidFill>
              <a:srgbClr val="93A5AA"/>
            </a:solidFill>
            <a:prstDash val="solid"/>
          </a:ln>
        </p:spPr>
      </p:sp>
      <p:sp>
        <p:nvSpPr>
          <p:cNvPr id="50" name="Shape 48"/>
          <p:cNvSpPr/>
          <p:nvPr/>
        </p:nvSpPr>
        <p:spPr>
          <a:xfrm>
            <a:off x="6166909" y="3497609"/>
            <a:ext cx="661819" cy="480606"/>
          </a:xfrm>
          <a:prstGeom prst="line">
            <a:avLst/>
          </a:prstGeom>
          <a:noFill/>
          <a:ln w="126061">
            <a:solidFill>
              <a:srgbClr val="93A5AA"/>
            </a:solidFill>
            <a:prstDash val="solid"/>
          </a:ln>
        </p:spPr>
      </p:sp>
      <p:sp>
        <p:nvSpPr>
          <p:cNvPr id="51" name="Shape 49"/>
          <p:cNvSpPr/>
          <p:nvPr/>
        </p:nvSpPr>
        <p:spPr>
          <a:xfrm>
            <a:off x="4827514" y="4450943"/>
            <a:ext cx="252121" cy="252121"/>
          </a:xfrm>
          <a:prstGeom prst="ellipse">
            <a:avLst/>
          </a:prstGeom>
          <a:solidFill>
            <a:srgbClr val="22434A"/>
          </a:solidFill>
          <a:ln w="12700">
            <a:solidFill>
              <a:srgbClr val="22434A">
                <a:alpha val="0"/>
              </a:srgbClr>
            </a:solidFill>
            <a:prstDash val="solid"/>
          </a:ln>
        </p:spPr>
      </p:sp>
      <p:sp>
        <p:nvSpPr>
          <p:cNvPr id="52" name="Shape 50"/>
          <p:cNvSpPr/>
          <p:nvPr/>
        </p:nvSpPr>
        <p:spPr>
          <a:xfrm>
            <a:off x="5229333" y="3529124"/>
            <a:ext cx="252121" cy="252121"/>
          </a:xfrm>
          <a:prstGeom prst="ellipse">
            <a:avLst/>
          </a:prstGeom>
          <a:solidFill>
            <a:srgbClr val="22434A"/>
          </a:solidFill>
          <a:ln w="12700">
            <a:solidFill>
              <a:srgbClr val="22434A">
                <a:alpha val="0"/>
              </a:srgbClr>
            </a:solidFill>
            <a:prstDash val="solid"/>
          </a:ln>
        </p:spPr>
      </p:sp>
      <p:sp>
        <p:nvSpPr>
          <p:cNvPr id="53" name="Shape 51"/>
          <p:cNvSpPr/>
          <p:nvPr/>
        </p:nvSpPr>
        <p:spPr>
          <a:xfrm>
            <a:off x="6064485" y="3395184"/>
            <a:ext cx="204849" cy="204849"/>
          </a:xfrm>
          <a:prstGeom prst="ellipse">
            <a:avLst/>
          </a:prstGeom>
          <a:solidFill>
            <a:srgbClr val="22434A"/>
          </a:solidFill>
          <a:ln w="12700">
            <a:solidFill>
              <a:srgbClr val="22434A">
                <a:alpha val="0"/>
              </a:srgbClr>
            </a:solidFill>
            <a:prstDash val="solid"/>
          </a:ln>
        </p:spPr>
      </p:sp>
      <p:sp>
        <p:nvSpPr>
          <p:cNvPr id="54" name="Shape 52"/>
          <p:cNvSpPr/>
          <p:nvPr/>
        </p:nvSpPr>
        <p:spPr>
          <a:xfrm>
            <a:off x="4890545" y="4513973"/>
            <a:ext cx="126061" cy="126061"/>
          </a:xfrm>
          <a:prstGeom prst="ellipse">
            <a:avLst/>
          </a:prstGeom>
          <a:solidFill>
            <a:srgbClr val="F6F4EF"/>
          </a:solidFill>
          <a:ln w="12700">
            <a:solidFill>
              <a:srgbClr val="F6F4EF">
                <a:alpha val="0"/>
              </a:srgbClr>
            </a:solidFill>
            <a:prstDash val="solid"/>
          </a:ln>
        </p:spPr>
      </p:sp>
      <p:sp>
        <p:nvSpPr>
          <p:cNvPr id="55" name="Shape 53"/>
          <p:cNvSpPr/>
          <p:nvPr/>
        </p:nvSpPr>
        <p:spPr>
          <a:xfrm>
            <a:off x="5300242" y="3600033"/>
            <a:ext cx="110303" cy="110303"/>
          </a:xfrm>
          <a:prstGeom prst="ellipse">
            <a:avLst/>
          </a:prstGeom>
          <a:solidFill>
            <a:srgbClr val="F6F4EF"/>
          </a:solidFill>
          <a:ln w="12700">
            <a:solidFill>
              <a:srgbClr val="F6F4EF">
                <a:alpha val="0"/>
              </a:srgbClr>
            </a:solidFill>
            <a:prstDash val="solid"/>
          </a:ln>
        </p:spPr>
      </p:sp>
      <p:sp>
        <p:nvSpPr>
          <p:cNvPr id="56" name="Shape 54"/>
          <p:cNvSpPr/>
          <p:nvPr/>
        </p:nvSpPr>
        <p:spPr>
          <a:xfrm>
            <a:off x="6119636" y="3450336"/>
            <a:ext cx="94546" cy="94546"/>
          </a:xfrm>
          <a:prstGeom prst="ellipse">
            <a:avLst/>
          </a:prstGeom>
          <a:solidFill>
            <a:srgbClr val="F6F4EF"/>
          </a:solidFill>
          <a:ln w="12700">
            <a:solidFill>
              <a:srgbClr val="F6F4EF">
                <a:alpha val="0"/>
              </a:srgbClr>
            </a:solidFill>
            <a:prstDash val="solid"/>
          </a:ln>
        </p:spPr>
      </p:sp>
      <p:sp>
        <p:nvSpPr>
          <p:cNvPr id="57" name="Shape 55"/>
          <p:cNvSpPr/>
          <p:nvPr/>
        </p:nvSpPr>
        <p:spPr>
          <a:xfrm>
            <a:off x="6828728" y="3978215"/>
            <a:ext cx="0" cy="196970"/>
          </a:xfrm>
          <a:prstGeom prst="line">
            <a:avLst/>
          </a:prstGeom>
          <a:noFill/>
          <a:ln w="94546">
            <a:solidFill>
              <a:srgbClr val="22434A"/>
            </a:solidFill>
            <a:prstDash val="solid"/>
          </a:ln>
        </p:spPr>
      </p:sp>
      <p:sp>
        <p:nvSpPr>
          <p:cNvPr id="58" name="Shape 56"/>
          <p:cNvSpPr/>
          <p:nvPr/>
        </p:nvSpPr>
        <p:spPr>
          <a:xfrm>
            <a:off x="6545091" y="4175185"/>
            <a:ext cx="567273" cy="133939"/>
          </a:xfrm>
          <a:prstGeom prst="roundRect">
            <a:avLst/>
          </a:prstGeom>
          <a:solidFill>
            <a:srgbClr val="22434A"/>
          </a:solidFill>
          <a:ln w="12700">
            <a:solidFill>
              <a:srgbClr val="22434A">
                <a:alpha val="0"/>
              </a:srgbClr>
            </a:solidFill>
            <a:prstDash val="solid"/>
          </a:ln>
        </p:spPr>
      </p:sp>
      <p:sp>
        <p:nvSpPr>
          <p:cNvPr id="59" name="Shape 57"/>
          <p:cNvSpPr/>
          <p:nvPr/>
        </p:nvSpPr>
        <p:spPr>
          <a:xfrm>
            <a:off x="6529334" y="4277609"/>
            <a:ext cx="94546" cy="512122"/>
          </a:xfrm>
          <a:prstGeom prst="roundRect">
            <a:avLst/>
          </a:prstGeom>
          <a:solidFill>
            <a:srgbClr val="93A5AA"/>
          </a:solidFill>
          <a:ln w="12700">
            <a:solidFill>
              <a:srgbClr val="93A5AA">
                <a:alpha val="0"/>
              </a:srgbClr>
            </a:solidFill>
            <a:prstDash val="solid"/>
          </a:ln>
        </p:spPr>
      </p:sp>
      <p:sp>
        <p:nvSpPr>
          <p:cNvPr id="60" name="Shape 58"/>
          <p:cNvSpPr/>
          <p:nvPr/>
        </p:nvSpPr>
        <p:spPr>
          <a:xfrm>
            <a:off x="7033576" y="4277609"/>
            <a:ext cx="94546" cy="512122"/>
          </a:xfrm>
          <a:prstGeom prst="roundRect">
            <a:avLst/>
          </a:prstGeom>
          <a:solidFill>
            <a:srgbClr val="93A5AA"/>
          </a:solidFill>
          <a:ln w="12700">
            <a:solidFill>
              <a:srgbClr val="93A5AA">
                <a:alpha val="0"/>
              </a:srgbClr>
            </a:solidFill>
            <a:prstDash val="solid"/>
          </a:ln>
        </p:spPr>
      </p:sp>
      <p:sp>
        <p:nvSpPr>
          <p:cNvPr id="61" name="Shape 59"/>
          <p:cNvSpPr/>
          <p:nvPr/>
        </p:nvSpPr>
        <p:spPr>
          <a:xfrm>
            <a:off x="6529334" y="4703064"/>
            <a:ext cx="157576" cy="86667"/>
          </a:xfrm>
          <a:prstGeom prst="roundRect">
            <a:avLst/>
          </a:prstGeom>
          <a:solidFill>
            <a:srgbClr val="22434A"/>
          </a:solidFill>
          <a:ln w="12700">
            <a:solidFill>
              <a:srgbClr val="22434A">
                <a:alpha val="0"/>
              </a:srgbClr>
            </a:solidFill>
            <a:prstDash val="solid"/>
          </a:ln>
        </p:spPr>
      </p:sp>
      <p:sp>
        <p:nvSpPr>
          <p:cNvPr id="62" name="Shape 60"/>
          <p:cNvSpPr/>
          <p:nvPr/>
        </p:nvSpPr>
        <p:spPr>
          <a:xfrm>
            <a:off x="6970546" y="4703064"/>
            <a:ext cx="157576" cy="86667"/>
          </a:xfrm>
          <a:prstGeom prst="roundRect">
            <a:avLst/>
          </a:prstGeom>
          <a:solidFill>
            <a:srgbClr val="22434A"/>
          </a:solidFill>
          <a:ln w="12700">
            <a:solidFill>
              <a:srgbClr val="22434A">
                <a:alpha val="0"/>
              </a:srgbClr>
            </a:solidFill>
            <a:prstDash val="solid"/>
          </a:ln>
        </p:spPr>
      </p:sp>
      <p:sp>
        <p:nvSpPr>
          <p:cNvPr id="63" name="Shape 61"/>
          <p:cNvSpPr/>
          <p:nvPr/>
        </p:nvSpPr>
        <p:spPr>
          <a:xfrm>
            <a:off x="6671152" y="4450943"/>
            <a:ext cx="315152" cy="315152"/>
          </a:xfrm>
          <a:prstGeom prst="roundRect">
            <a:avLst/>
          </a:prstGeom>
          <a:solidFill>
            <a:srgbClr val="DFC28E"/>
          </a:solidFill>
          <a:ln w="12700">
            <a:solidFill>
              <a:srgbClr val="DFC28E">
                <a:alpha val="0"/>
              </a:srgbClr>
            </a:solidFill>
            <a:prstDash val="solid"/>
          </a:ln>
        </p:spPr>
      </p:sp>
      <p:sp>
        <p:nvSpPr>
          <p:cNvPr id="64" name="Shape 62"/>
          <p:cNvSpPr/>
          <p:nvPr/>
        </p:nvSpPr>
        <p:spPr>
          <a:xfrm>
            <a:off x="6907516" y="4450943"/>
            <a:ext cx="78788" cy="315152"/>
          </a:xfrm>
          <a:prstGeom prst="roundRect">
            <a:avLst/>
          </a:prstGeom>
          <a:solidFill>
            <a:srgbClr val="BA9A61"/>
          </a:solidFill>
          <a:ln w="12700">
            <a:solidFill>
              <a:srgbClr val="BA9A61">
                <a:alpha val="0"/>
              </a:srgbClr>
            </a:solidFill>
            <a:prstDash val="solid"/>
          </a:ln>
        </p:spPr>
      </p:sp>
      <p:sp>
        <p:nvSpPr>
          <p:cNvPr id="65" name="Shape 63"/>
          <p:cNvSpPr/>
          <p:nvPr/>
        </p:nvSpPr>
        <p:spPr>
          <a:xfrm>
            <a:off x="6671152" y="4545488"/>
            <a:ext cx="315152" cy="0"/>
          </a:xfrm>
          <a:prstGeom prst="line">
            <a:avLst/>
          </a:prstGeom>
          <a:noFill/>
          <a:ln w="11030">
            <a:solidFill>
              <a:srgbClr val="F4E8CE"/>
            </a:solidFill>
            <a:prstDash val="solid"/>
          </a:ln>
        </p:spPr>
      </p:sp>
      <p:sp>
        <p:nvSpPr>
          <p:cNvPr id="66" name="Shape 64"/>
          <p:cNvSpPr/>
          <p:nvPr/>
        </p:nvSpPr>
        <p:spPr>
          <a:xfrm>
            <a:off x="6316606" y="4584882"/>
            <a:ext cx="204849" cy="0"/>
          </a:xfrm>
          <a:prstGeom prst="line">
            <a:avLst/>
          </a:prstGeom>
          <a:noFill/>
          <a:ln w="23636">
            <a:solidFill>
              <a:srgbClr val="087F7B"/>
            </a:solidFill>
            <a:prstDash val="solid"/>
            <a:tailEnd type="triangle"/>
          </a:ln>
        </p:spPr>
      </p:sp>
      <p:sp>
        <p:nvSpPr>
          <p:cNvPr id="67" name="Shape 65"/>
          <p:cNvSpPr/>
          <p:nvPr/>
        </p:nvSpPr>
        <p:spPr>
          <a:xfrm flipH="1">
            <a:off x="7136001" y="4584882"/>
            <a:ext cx="204849" cy="0"/>
          </a:xfrm>
          <a:prstGeom prst="line">
            <a:avLst/>
          </a:prstGeom>
          <a:noFill/>
          <a:ln w="23636">
            <a:solidFill>
              <a:srgbClr val="087F7B"/>
            </a:solidFill>
            <a:prstDash val="solid"/>
            <a:tailEnd type="triangle"/>
          </a:ln>
        </p:spPr>
      </p:sp>
      <p:sp>
        <p:nvSpPr>
          <p:cNvPr id="68" name="Shape 66"/>
          <p:cNvSpPr/>
          <p:nvPr/>
        </p:nvSpPr>
        <p:spPr>
          <a:xfrm>
            <a:off x="7924800" y="3870960"/>
            <a:ext cx="129540" cy="0"/>
          </a:xfrm>
          <a:prstGeom prst="line">
            <a:avLst/>
          </a:prstGeom>
          <a:noFill/>
          <a:ln w="15240">
            <a:solidFill>
              <a:srgbClr val="93A5AA"/>
            </a:solidFill>
            <a:prstDash val="solid"/>
            <a:tailEnd type="triangle"/>
          </a:ln>
        </p:spPr>
      </p:sp>
      <p:sp>
        <p:nvSpPr>
          <p:cNvPr id="69" name="Shape 67"/>
          <p:cNvSpPr/>
          <p:nvPr/>
        </p:nvSpPr>
        <p:spPr>
          <a:xfrm>
            <a:off x="8153400" y="2225040"/>
            <a:ext cx="3429000" cy="3200400"/>
          </a:xfrm>
          <a:prstGeom prst="roundRect">
            <a:avLst/>
          </a:prstGeom>
          <a:solidFill>
            <a:srgbClr val="FFFFFF"/>
          </a:solidFill>
          <a:ln w="12700">
            <a:solidFill>
              <a:srgbClr val="FFFFFF">
                <a:alpha val="0"/>
              </a:srgbClr>
            </a:solidFill>
            <a:prstDash val="solid"/>
          </a:ln>
        </p:spPr>
      </p:sp>
      <p:sp>
        <p:nvSpPr>
          <p:cNvPr id="70" name="Shape 68"/>
          <p:cNvSpPr/>
          <p:nvPr/>
        </p:nvSpPr>
        <p:spPr>
          <a:xfrm>
            <a:off x="8343900" y="2415540"/>
            <a:ext cx="304800" cy="304800"/>
          </a:xfrm>
          <a:prstGeom prst="ellipse">
            <a:avLst/>
          </a:prstGeom>
          <a:solidFill>
            <a:srgbClr val="087F7B"/>
          </a:solidFill>
          <a:ln w="12700">
            <a:solidFill>
              <a:srgbClr val="087F7B">
                <a:alpha val="0"/>
              </a:srgbClr>
            </a:solidFill>
            <a:prstDash val="solid"/>
          </a:ln>
        </p:spPr>
      </p:sp>
      <p:sp>
        <p:nvSpPr>
          <p:cNvPr id="71" name="Text 69"/>
          <p:cNvSpPr/>
          <p:nvPr/>
        </p:nvSpPr>
        <p:spPr>
          <a:xfrm>
            <a:off x="8343900" y="246126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3</a:t>
            </a:r>
            <a:endParaRPr lang="en-US" sz="1380" dirty="0"/>
          </a:p>
        </p:txBody>
      </p:sp>
      <p:sp>
        <p:nvSpPr>
          <p:cNvPr id="72" name="Text 70"/>
          <p:cNvSpPr/>
          <p:nvPr/>
        </p:nvSpPr>
        <p:spPr>
          <a:xfrm>
            <a:off x="8801100" y="2438400"/>
            <a:ext cx="2514600" cy="320040"/>
          </a:xfrm>
          <a:prstGeom prst="rect">
            <a:avLst/>
          </a:prstGeom>
          <a:noFill/>
          <a:ln/>
        </p:spPr>
        <p:txBody>
          <a:bodyPr wrap="square" lIns="0" tIns="0" rIns="0" bIns="0" rtlCol="0" anchor="t"/>
          <a:lstStyle/>
          <a:p>
            <a:pPr algn="l" indent="0" marL="0">
              <a:lnSpc>
                <a:spcPct val="105000"/>
              </a:lnSpc>
              <a:buNone/>
            </a:pPr>
            <a:r>
              <a:rPr lang="en-US" altLang="en-US" sz="1920" b="1" dirty="0">
                <a:solidFill>
                  <a:srgbClr val="183139"/>
                </a:solidFill>
                <a:latin typeface="Arial" pitchFamily="34" charset="0"/>
                <a:ea typeface="Arial" pitchFamily="34" charset="-122"/>
                <a:cs typeface="Arial" pitchFamily="34" charset="-120"/>
              </a:rPr>
              <a:t>Lift</a:t>
            </a:r>
            <a:endParaRPr lang="en-US" sz="1920" dirty="0"/>
          </a:p>
        </p:txBody>
      </p:sp>
      <p:sp>
        <p:nvSpPr>
          <p:cNvPr id="73" name="Shape 71"/>
          <p:cNvSpPr/>
          <p:nvPr/>
        </p:nvSpPr>
        <p:spPr>
          <a:xfrm>
            <a:off x="9836385" y="4781852"/>
            <a:ext cx="1528486" cy="0"/>
          </a:xfrm>
          <a:prstGeom prst="line">
            <a:avLst/>
          </a:prstGeom>
          <a:noFill/>
          <a:ln w="31515">
            <a:solidFill>
              <a:srgbClr val="93A5AA"/>
            </a:solidFill>
            <a:prstDash val="solid"/>
          </a:ln>
        </p:spPr>
      </p:sp>
      <p:sp>
        <p:nvSpPr>
          <p:cNvPr id="74" name="Shape 72"/>
          <p:cNvSpPr/>
          <p:nvPr/>
        </p:nvSpPr>
        <p:spPr>
          <a:xfrm>
            <a:off x="9986082" y="4797610"/>
            <a:ext cx="0" cy="244243"/>
          </a:xfrm>
          <a:prstGeom prst="line">
            <a:avLst/>
          </a:prstGeom>
          <a:noFill/>
          <a:ln w="39394">
            <a:solidFill>
              <a:srgbClr val="D8DFD9"/>
            </a:solidFill>
            <a:prstDash val="solid"/>
          </a:ln>
        </p:spPr>
      </p:sp>
      <p:sp>
        <p:nvSpPr>
          <p:cNvPr id="75" name="Shape 73"/>
          <p:cNvSpPr/>
          <p:nvPr/>
        </p:nvSpPr>
        <p:spPr>
          <a:xfrm>
            <a:off x="11238810" y="4797610"/>
            <a:ext cx="0" cy="244243"/>
          </a:xfrm>
          <a:prstGeom prst="line">
            <a:avLst/>
          </a:prstGeom>
          <a:noFill/>
          <a:ln w="39394">
            <a:solidFill>
              <a:srgbClr val="D8DFD9"/>
            </a:solidFill>
            <a:prstDash val="solid"/>
          </a:ln>
        </p:spPr>
      </p:sp>
      <p:sp>
        <p:nvSpPr>
          <p:cNvPr id="76" name="Shape 74"/>
          <p:cNvSpPr/>
          <p:nvPr/>
        </p:nvSpPr>
        <p:spPr>
          <a:xfrm>
            <a:off x="8410323" y="4797610"/>
            <a:ext cx="630303" cy="141818"/>
          </a:xfrm>
          <a:prstGeom prst="roundRect">
            <a:avLst/>
          </a:prstGeom>
          <a:solidFill>
            <a:srgbClr val="22434A"/>
          </a:solidFill>
          <a:ln w="12700">
            <a:solidFill>
              <a:srgbClr val="22434A">
                <a:alpha val="0"/>
              </a:srgbClr>
            </a:solidFill>
            <a:prstDash val="solid"/>
          </a:ln>
        </p:spPr>
      </p:sp>
      <p:sp>
        <p:nvSpPr>
          <p:cNvPr id="77" name="Shape 75"/>
          <p:cNvSpPr/>
          <p:nvPr/>
        </p:nvSpPr>
        <p:spPr>
          <a:xfrm>
            <a:off x="8607293" y="4561246"/>
            <a:ext cx="244243" cy="236364"/>
          </a:xfrm>
          <a:prstGeom prst="roundRect">
            <a:avLst/>
          </a:prstGeom>
          <a:solidFill>
            <a:srgbClr val="93A5AA"/>
          </a:solidFill>
          <a:ln w="12700">
            <a:solidFill>
              <a:srgbClr val="93A5AA">
                <a:alpha val="0"/>
              </a:srgbClr>
            </a:solidFill>
            <a:prstDash val="solid"/>
          </a:ln>
        </p:spPr>
      </p:sp>
      <p:sp>
        <p:nvSpPr>
          <p:cNvPr id="78" name="Shape 76"/>
          <p:cNvSpPr/>
          <p:nvPr/>
        </p:nvSpPr>
        <p:spPr>
          <a:xfrm flipV="1">
            <a:off x="8725475" y="3655185"/>
            <a:ext cx="401818" cy="921819"/>
          </a:xfrm>
          <a:prstGeom prst="line">
            <a:avLst/>
          </a:prstGeom>
          <a:noFill/>
          <a:ln w="157576">
            <a:solidFill>
              <a:srgbClr val="93A5AA"/>
            </a:solidFill>
            <a:prstDash val="solid"/>
          </a:ln>
        </p:spPr>
      </p:sp>
      <p:sp>
        <p:nvSpPr>
          <p:cNvPr id="79" name="Shape 77"/>
          <p:cNvSpPr/>
          <p:nvPr/>
        </p:nvSpPr>
        <p:spPr>
          <a:xfrm flipV="1">
            <a:off x="9127294" y="3497609"/>
            <a:ext cx="811516" cy="157576"/>
          </a:xfrm>
          <a:prstGeom prst="line">
            <a:avLst/>
          </a:prstGeom>
          <a:noFill/>
          <a:ln w="157576">
            <a:solidFill>
              <a:srgbClr val="93A5AA"/>
            </a:solidFill>
            <a:prstDash val="solid"/>
          </a:ln>
        </p:spPr>
      </p:sp>
      <p:sp>
        <p:nvSpPr>
          <p:cNvPr id="80" name="Shape 78"/>
          <p:cNvSpPr/>
          <p:nvPr/>
        </p:nvSpPr>
        <p:spPr>
          <a:xfrm flipV="1">
            <a:off x="9938809" y="3347912"/>
            <a:ext cx="661819" cy="149697"/>
          </a:xfrm>
          <a:prstGeom prst="line">
            <a:avLst/>
          </a:prstGeom>
          <a:noFill/>
          <a:ln w="126061">
            <a:solidFill>
              <a:srgbClr val="93A5AA"/>
            </a:solidFill>
            <a:prstDash val="solid"/>
          </a:ln>
        </p:spPr>
      </p:sp>
      <p:sp>
        <p:nvSpPr>
          <p:cNvPr id="81" name="Shape 79"/>
          <p:cNvSpPr/>
          <p:nvPr/>
        </p:nvSpPr>
        <p:spPr>
          <a:xfrm>
            <a:off x="8599414" y="4450943"/>
            <a:ext cx="252121" cy="252121"/>
          </a:xfrm>
          <a:prstGeom prst="ellipse">
            <a:avLst/>
          </a:prstGeom>
          <a:solidFill>
            <a:srgbClr val="22434A"/>
          </a:solidFill>
          <a:ln w="12700">
            <a:solidFill>
              <a:srgbClr val="22434A">
                <a:alpha val="0"/>
              </a:srgbClr>
            </a:solidFill>
            <a:prstDash val="solid"/>
          </a:ln>
        </p:spPr>
      </p:sp>
      <p:sp>
        <p:nvSpPr>
          <p:cNvPr id="82" name="Shape 80"/>
          <p:cNvSpPr/>
          <p:nvPr/>
        </p:nvSpPr>
        <p:spPr>
          <a:xfrm>
            <a:off x="9001233" y="3529124"/>
            <a:ext cx="252121" cy="252121"/>
          </a:xfrm>
          <a:prstGeom prst="ellipse">
            <a:avLst/>
          </a:prstGeom>
          <a:solidFill>
            <a:srgbClr val="22434A"/>
          </a:solidFill>
          <a:ln w="12700">
            <a:solidFill>
              <a:srgbClr val="22434A">
                <a:alpha val="0"/>
              </a:srgbClr>
            </a:solidFill>
            <a:prstDash val="solid"/>
          </a:ln>
        </p:spPr>
      </p:sp>
      <p:sp>
        <p:nvSpPr>
          <p:cNvPr id="83" name="Shape 81"/>
          <p:cNvSpPr/>
          <p:nvPr/>
        </p:nvSpPr>
        <p:spPr>
          <a:xfrm>
            <a:off x="9836385" y="3395184"/>
            <a:ext cx="204849" cy="204849"/>
          </a:xfrm>
          <a:prstGeom prst="ellipse">
            <a:avLst/>
          </a:prstGeom>
          <a:solidFill>
            <a:srgbClr val="22434A"/>
          </a:solidFill>
          <a:ln w="12700">
            <a:solidFill>
              <a:srgbClr val="22434A">
                <a:alpha val="0"/>
              </a:srgbClr>
            </a:solidFill>
            <a:prstDash val="solid"/>
          </a:ln>
        </p:spPr>
      </p:sp>
      <p:sp>
        <p:nvSpPr>
          <p:cNvPr id="84" name="Shape 82"/>
          <p:cNvSpPr/>
          <p:nvPr/>
        </p:nvSpPr>
        <p:spPr>
          <a:xfrm>
            <a:off x="8662445" y="4513973"/>
            <a:ext cx="126061" cy="126061"/>
          </a:xfrm>
          <a:prstGeom prst="ellipse">
            <a:avLst/>
          </a:prstGeom>
          <a:solidFill>
            <a:srgbClr val="F6F4EF"/>
          </a:solidFill>
          <a:ln w="12700">
            <a:solidFill>
              <a:srgbClr val="F6F4EF">
                <a:alpha val="0"/>
              </a:srgbClr>
            </a:solidFill>
            <a:prstDash val="solid"/>
          </a:ln>
        </p:spPr>
      </p:sp>
      <p:sp>
        <p:nvSpPr>
          <p:cNvPr id="85" name="Shape 83"/>
          <p:cNvSpPr/>
          <p:nvPr/>
        </p:nvSpPr>
        <p:spPr>
          <a:xfrm>
            <a:off x="9072142" y="3600033"/>
            <a:ext cx="110303" cy="110303"/>
          </a:xfrm>
          <a:prstGeom prst="ellipse">
            <a:avLst/>
          </a:prstGeom>
          <a:solidFill>
            <a:srgbClr val="F6F4EF"/>
          </a:solidFill>
          <a:ln w="12700">
            <a:solidFill>
              <a:srgbClr val="F6F4EF">
                <a:alpha val="0"/>
              </a:srgbClr>
            </a:solidFill>
            <a:prstDash val="solid"/>
          </a:ln>
        </p:spPr>
      </p:sp>
      <p:sp>
        <p:nvSpPr>
          <p:cNvPr id="86" name="Shape 84"/>
          <p:cNvSpPr/>
          <p:nvPr/>
        </p:nvSpPr>
        <p:spPr>
          <a:xfrm>
            <a:off x="9891536" y="3450336"/>
            <a:ext cx="94546" cy="94546"/>
          </a:xfrm>
          <a:prstGeom prst="ellipse">
            <a:avLst/>
          </a:prstGeom>
          <a:solidFill>
            <a:srgbClr val="F6F4EF"/>
          </a:solidFill>
          <a:ln w="12700">
            <a:solidFill>
              <a:srgbClr val="F6F4EF">
                <a:alpha val="0"/>
              </a:srgbClr>
            </a:solidFill>
            <a:prstDash val="solid"/>
          </a:ln>
        </p:spPr>
      </p:sp>
      <p:sp>
        <p:nvSpPr>
          <p:cNvPr id="87" name="Shape 85"/>
          <p:cNvSpPr/>
          <p:nvPr/>
        </p:nvSpPr>
        <p:spPr>
          <a:xfrm>
            <a:off x="10600628" y="3347912"/>
            <a:ext cx="0" cy="196970"/>
          </a:xfrm>
          <a:prstGeom prst="line">
            <a:avLst/>
          </a:prstGeom>
          <a:noFill/>
          <a:ln w="94546">
            <a:solidFill>
              <a:srgbClr val="22434A"/>
            </a:solidFill>
            <a:prstDash val="solid"/>
          </a:ln>
        </p:spPr>
      </p:sp>
      <p:sp>
        <p:nvSpPr>
          <p:cNvPr id="88" name="Shape 86"/>
          <p:cNvSpPr/>
          <p:nvPr/>
        </p:nvSpPr>
        <p:spPr>
          <a:xfrm>
            <a:off x="10316991" y="3544882"/>
            <a:ext cx="567273" cy="133939"/>
          </a:xfrm>
          <a:prstGeom prst="roundRect">
            <a:avLst/>
          </a:prstGeom>
          <a:solidFill>
            <a:srgbClr val="22434A"/>
          </a:solidFill>
          <a:ln w="12700">
            <a:solidFill>
              <a:srgbClr val="22434A">
                <a:alpha val="0"/>
              </a:srgbClr>
            </a:solidFill>
            <a:prstDash val="solid"/>
          </a:ln>
        </p:spPr>
      </p:sp>
      <p:sp>
        <p:nvSpPr>
          <p:cNvPr id="89" name="Shape 87"/>
          <p:cNvSpPr/>
          <p:nvPr/>
        </p:nvSpPr>
        <p:spPr>
          <a:xfrm>
            <a:off x="10301234" y="3647306"/>
            <a:ext cx="94546" cy="512122"/>
          </a:xfrm>
          <a:prstGeom prst="roundRect">
            <a:avLst/>
          </a:prstGeom>
          <a:solidFill>
            <a:srgbClr val="93A5AA"/>
          </a:solidFill>
          <a:ln w="12700">
            <a:solidFill>
              <a:srgbClr val="93A5AA">
                <a:alpha val="0"/>
              </a:srgbClr>
            </a:solidFill>
            <a:prstDash val="solid"/>
          </a:ln>
        </p:spPr>
      </p:sp>
      <p:sp>
        <p:nvSpPr>
          <p:cNvPr id="90" name="Shape 88"/>
          <p:cNvSpPr/>
          <p:nvPr/>
        </p:nvSpPr>
        <p:spPr>
          <a:xfrm>
            <a:off x="10805476" y="3647306"/>
            <a:ext cx="94546" cy="512122"/>
          </a:xfrm>
          <a:prstGeom prst="roundRect">
            <a:avLst/>
          </a:prstGeom>
          <a:solidFill>
            <a:srgbClr val="93A5AA"/>
          </a:solidFill>
          <a:ln w="12700">
            <a:solidFill>
              <a:srgbClr val="93A5AA">
                <a:alpha val="0"/>
              </a:srgbClr>
            </a:solidFill>
            <a:prstDash val="solid"/>
          </a:ln>
        </p:spPr>
      </p:sp>
      <p:sp>
        <p:nvSpPr>
          <p:cNvPr id="91" name="Shape 89"/>
          <p:cNvSpPr/>
          <p:nvPr/>
        </p:nvSpPr>
        <p:spPr>
          <a:xfrm>
            <a:off x="10301234" y="4072761"/>
            <a:ext cx="157576" cy="86667"/>
          </a:xfrm>
          <a:prstGeom prst="roundRect">
            <a:avLst/>
          </a:prstGeom>
          <a:solidFill>
            <a:srgbClr val="22434A"/>
          </a:solidFill>
          <a:ln w="12700">
            <a:solidFill>
              <a:srgbClr val="22434A">
                <a:alpha val="0"/>
              </a:srgbClr>
            </a:solidFill>
            <a:prstDash val="solid"/>
          </a:ln>
        </p:spPr>
      </p:sp>
      <p:sp>
        <p:nvSpPr>
          <p:cNvPr id="92" name="Shape 90"/>
          <p:cNvSpPr/>
          <p:nvPr/>
        </p:nvSpPr>
        <p:spPr>
          <a:xfrm>
            <a:off x="10742446" y="4072761"/>
            <a:ext cx="157576" cy="86667"/>
          </a:xfrm>
          <a:prstGeom prst="roundRect">
            <a:avLst/>
          </a:prstGeom>
          <a:solidFill>
            <a:srgbClr val="22434A"/>
          </a:solidFill>
          <a:ln w="12700">
            <a:solidFill>
              <a:srgbClr val="22434A">
                <a:alpha val="0"/>
              </a:srgbClr>
            </a:solidFill>
            <a:prstDash val="solid"/>
          </a:ln>
        </p:spPr>
      </p:sp>
      <p:sp>
        <p:nvSpPr>
          <p:cNvPr id="93" name="Shape 91"/>
          <p:cNvSpPr/>
          <p:nvPr/>
        </p:nvSpPr>
        <p:spPr>
          <a:xfrm>
            <a:off x="10443052" y="3836397"/>
            <a:ext cx="315152" cy="315152"/>
          </a:xfrm>
          <a:prstGeom prst="roundRect">
            <a:avLst/>
          </a:prstGeom>
          <a:solidFill>
            <a:srgbClr val="DFC28E"/>
          </a:solidFill>
          <a:ln w="12700">
            <a:solidFill>
              <a:srgbClr val="DFC28E">
                <a:alpha val="0"/>
              </a:srgbClr>
            </a:solidFill>
            <a:prstDash val="solid"/>
          </a:ln>
        </p:spPr>
      </p:sp>
      <p:sp>
        <p:nvSpPr>
          <p:cNvPr id="94" name="Shape 92"/>
          <p:cNvSpPr/>
          <p:nvPr/>
        </p:nvSpPr>
        <p:spPr>
          <a:xfrm>
            <a:off x="10679416" y="3836397"/>
            <a:ext cx="78788" cy="315152"/>
          </a:xfrm>
          <a:prstGeom prst="roundRect">
            <a:avLst/>
          </a:prstGeom>
          <a:solidFill>
            <a:srgbClr val="BA9A61"/>
          </a:solidFill>
          <a:ln w="12700">
            <a:solidFill>
              <a:srgbClr val="BA9A61">
                <a:alpha val="0"/>
              </a:srgbClr>
            </a:solidFill>
            <a:prstDash val="solid"/>
          </a:ln>
        </p:spPr>
      </p:sp>
      <p:sp>
        <p:nvSpPr>
          <p:cNvPr id="95" name="Shape 93"/>
          <p:cNvSpPr/>
          <p:nvPr/>
        </p:nvSpPr>
        <p:spPr>
          <a:xfrm>
            <a:off x="10443052" y="3930942"/>
            <a:ext cx="315152" cy="0"/>
          </a:xfrm>
          <a:prstGeom prst="line">
            <a:avLst/>
          </a:prstGeom>
          <a:noFill/>
          <a:ln w="11030">
            <a:solidFill>
              <a:srgbClr val="F4E8CE"/>
            </a:solidFill>
            <a:prstDash val="solid"/>
          </a:ln>
        </p:spPr>
      </p:sp>
      <p:sp>
        <p:nvSpPr>
          <p:cNvPr id="96" name="Shape 94"/>
          <p:cNvSpPr/>
          <p:nvPr/>
        </p:nvSpPr>
        <p:spPr>
          <a:xfrm flipV="1">
            <a:off x="11112749" y="3930942"/>
            <a:ext cx="0" cy="496364"/>
          </a:xfrm>
          <a:prstGeom prst="line">
            <a:avLst/>
          </a:prstGeom>
          <a:noFill/>
          <a:ln w="31515">
            <a:solidFill>
              <a:srgbClr val="087F7B"/>
            </a:solidFill>
            <a:prstDash val="solid"/>
            <a:tailEnd type="triangle"/>
          </a:ln>
        </p:spPr>
      </p:sp>
      <p:sp>
        <p:nvSpPr>
          <p:cNvPr id="97" name="Shape 95"/>
          <p:cNvSpPr/>
          <p:nvPr/>
        </p:nvSpPr>
        <p:spPr>
          <a:xfrm>
            <a:off x="609600" y="5699760"/>
            <a:ext cx="10972800" cy="480060"/>
          </a:xfrm>
          <a:prstGeom prst="roundRect">
            <a:avLst/>
          </a:prstGeom>
          <a:solidFill>
            <a:srgbClr val="E1EFEB"/>
          </a:solidFill>
          <a:ln w="12700">
            <a:solidFill>
              <a:srgbClr val="E1EFEB">
                <a:alpha val="0"/>
              </a:srgbClr>
            </a:solidFill>
            <a:prstDash val="solid"/>
          </a:ln>
        </p:spPr>
      </p:sp>
      <p:sp>
        <p:nvSpPr>
          <p:cNvPr id="98" name="Text 96"/>
          <p:cNvSpPr/>
          <p:nvPr/>
        </p:nvSpPr>
        <p:spPr>
          <a:xfrm>
            <a:off x="784860" y="5821680"/>
            <a:ext cx="10622280" cy="289560"/>
          </a:xfrm>
          <a:prstGeom prst="rect">
            <a:avLst/>
          </a:prstGeom>
          <a:noFill/>
          <a:ln/>
        </p:spPr>
        <p:txBody>
          <a:bodyPr wrap="square" lIns="0" tIns="0" rIns="0" bIns="0" rtlCol="0" anchor="t"/>
          <a:lstStyle/>
          <a:p>
            <a:pPr algn="ctr" indent="0" marL="0">
              <a:lnSpc>
                <a:spcPct val="105000"/>
              </a:lnSpc>
              <a:buNone/>
            </a:pPr>
            <a:r>
              <a:rPr lang="en-US" altLang="en-US" sz="1740" dirty="0">
                <a:solidFill>
                  <a:srgbClr val="183139"/>
                </a:solidFill>
                <a:latin typeface="Arial" pitchFamily="34" charset="0"/>
                <a:ea typeface="Arial" pitchFamily="34" charset="-122"/>
                <a:cs typeface="Arial" pitchFamily="34" charset="-120"/>
              </a:rPr>
              <a:t>The objective and grasp strategy remain fixed throughout the experiment.</a:t>
            </a:r>
            <a:endParaRPr lang="en-US" sz="17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05 · SIMULATION SETUP</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540" b="1" dirty="0">
                <a:solidFill>
                  <a:srgbClr val="183139"/>
                </a:solidFill>
                <a:latin typeface="Arial" pitchFamily="34" charset="0"/>
                <a:ea typeface="Arial" pitchFamily="34" charset="-122"/>
                <a:cs typeface="Arial" pitchFamily="34" charset="-120"/>
              </a:rPr>
              <a:t>Prepare the policy in simulation</a:t>
            </a:r>
            <a:endParaRPr lang="en-US" sz="354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Select a compact physical context, then train across variations in that context.</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INITIAL PHYSICAL UNDERSTANDING  /  MENTOR DISCUSSION</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05 / 07</a:t>
            </a:r>
            <a:endParaRPr lang="en-US" sz="1140" dirty="0"/>
          </a:p>
        </p:txBody>
      </p:sp>
      <p:sp>
        <p:nvSpPr>
          <p:cNvPr id="10" name="Shape 8"/>
          <p:cNvSpPr/>
          <p:nvPr/>
        </p:nvSpPr>
        <p:spPr>
          <a:xfrm>
            <a:off x="609600" y="2179320"/>
            <a:ext cx="3429000" cy="3421380"/>
          </a:xfrm>
          <a:prstGeom prst="roundRect">
            <a:avLst/>
          </a:prstGeom>
          <a:solidFill>
            <a:srgbClr val="FFFFFF"/>
          </a:solidFill>
          <a:ln w="12700">
            <a:solidFill>
              <a:srgbClr val="FFFFFF">
                <a:alpha val="0"/>
              </a:srgbClr>
            </a:solidFill>
            <a:prstDash val="solid"/>
          </a:ln>
        </p:spPr>
      </p:sp>
      <p:sp>
        <p:nvSpPr>
          <p:cNvPr id="11" name="Shape 9"/>
          <p:cNvSpPr/>
          <p:nvPr/>
        </p:nvSpPr>
        <p:spPr>
          <a:xfrm>
            <a:off x="4381500" y="2179320"/>
            <a:ext cx="3429000" cy="3421380"/>
          </a:xfrm>
          <a:prstGeom prst="roundRect">
            <a:avLst/>
          </a:prstGeom>
          <a:solidFill>
            <a:srgbClr val="FFFFFF"/>
          </a:solidFill>
          <a:ln w="12700">
            <a:solidFill>
              <a:srgbClr val="FFFFFF">
                <a:alpha val="0"/>
              </a:srgbClr>
            </a:solidFill>
            <a:prstDash val="solid"/>
          </a:ln>
        </p:spPr>
      </p:sp>
      <p:sp>
        <p:nvSpPr>
          <p:cNvPr id="12" name="Shape 10"/>
          <p:cNvSpPr/>
          <p:nvPr/>
        </p:nvSpPr>
        <p:spPr>
          <a:xfrm>
            <a:off x="8153400" y="2179320"/>
            <a:ext cx="3429000" cy="3421380"/>
          </a:xfrm>
          <a:prstGeom prst="roundRect">
            <a:avLst/>
          </a:prstGeom>
          <a:solidFill>
            <a:srgbClr val="FFFFFF"/>
          </a:solidFill>
          <a:ln w="12700">
            <a:solidFill>
              <a:srgbClr val="FFFFFF">
                <a:alpha val="0"/>
              </a:srgbClr>
            </a:solidFill>
            <a:prstDash val="solid"/>
          </a:ln>
        </p:spPr>
      </p:sp>
      <p:sp>
        <p:nvSpPr>
          <p:cNvPr id="13" name="Shape 11"/>
          <p:cNvSpPr/>
          <p:nvPr/>
        </p:nvSpPr>
        <p:spPr>
          <a:xfrm>
            <a:off x="800100" y="2369820"/>
            <a:ext cx="304800" cy="304800"/>
          </a:xfrm>
          <a:prstGeom prst="ellipse">
            <a:avLst/>
          </a:prstGeom>
          <a:solidFill>
            <a:srgbClr val="22434A"/>
          </a:solidFill>
          <a:ln w="12700">
            <a:solidFill>
              <a:srgbClr val="22434A">
                <a:alpha val="0"/>
              </a:srgbClr>
            </a:solidFill>
            <a:prstDash val="solid"/>
          </a:ln>
        </p:spPr>
      </p:sp>
      <p:sp>
        <p:nvSpPr>
          <p:cNvPr id="14" name="Text 12"/>
          <p:cNvSpPr/>
          <p:nvPr/>
        </p:nvSpPr>
        <p:spPr>
          <a:xfrm>
            <a:off x="800100" y="241554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1</a:t>
            </a:r>
            <a:endParaRPr lang="en-US" sz="1380" dirty="0"/>
          </a:p>
        </p:txBody>
      </p:sp>
      <p:sp>
        <p:nvSpPr>
          <p:cNvPr id="15" name="Text 13"/>
          <p:cNvSpPr/>
          <p:nvPr/>
        </p:nvSpPr>
        <p:spPr>
          <a:xfrm>
            <a:off x="1242060" y="2400300"/>
            <a:ext cx="2606040" cy="274320"/>
          </a:xfrm>
          <a:prstGeom prst="rect">
            <a:avLst/>
          </a:prstGeom>
          <a:noFill/>
          <a:ln/>
        </p:spPr>
        <p:txBody>
          <a:bodyPr wrap="square" lIns="0" tIns="0" rIns="0" bIns="0" rtlCol="0" anchor="t"/>
          <a:lstStyle/>
          <a:p>
            <a:pPr algn="l" indent="0" marL="0">
              <a:lnSpc>
                <a:spcPct val="105000"/>
              </a:lnSpc>
              <a:buNone/>
            </a:pPr>
            <a:r>
              <a:rPr lang="en-US" altLang="en-US" sz="1620" b="1" dirty="0">
                <a:solidFill>
                  <a:srgbClr val="183139"/>
                </a:solidFill>
                <a:latin typeface="Arial" pitchFamily="34" charset="0"/>
                <a:ea typeface="Arial" pitchFamily="34" charset="-122"/>
                <a:cs typeface="Arial" pitchFamily="34" charset="-120"/>
              </a:rPr>
              <a:t>Select relevant variables</a:t>
            </a:r>
            <a:endParaRPr lang="en-US" sz="1620" dirty="0"/>
          </a:p>
        </p:txBody>
      </p:sp>
      <p:sp>
        <p:nvSpPr>
          <p:cNvPr id="16" name="Shape 14"/>
          <p:cNvSpPr/>
          <p:nvPr/>
        </p:nvSpPr>
        <p:spPr>
          <a:xfrm>
            <a:off x="838200" y="2956560"/>
            <a:ext cx="1005840" cy="289560"/>
          </a:xfrm>
          <a:prstGeom prst="roundRect">
            <a:avLst/>
          </a:prstGeom>
          <a:solidFill>
            <a:srgbClr val="E8ECE8"/>
          </a:solidFill>
          <a:ln w="12700">
            <a:solidFill>
              <a:srgbClr val="E8ECE8">
                <a:alpha val="0"/>
              </a:srgbClr>
            </a:solidFill>
            <a:prstDash val="solid"/>
          </a:ln>
        </p:spPr>
      </p:sp>
      <p:sp>
        <p:nvSpPr>
          <p:cNvPr id="17" name="Text 15"/>
          <p:cNvSpPr/>
          <p:nvPr/>
        </p:nvSpPr>
        <p:spPr>
          <a:xfrm>
            <a:off x="838200" y="3002280"/>
            <a:ext cx="1005840" cy="205740"/>
          </a:xfrm>
          <a:prstGeom prst="rect">
            <a:avLst/>
          </a:prstGeom>
          <a:noFill/>
          <a:ln/>
        </p:spPr>
        <p:txBody>
          <a:bodyPr wrap="square" lIns="0" tIns="0" rIns="0" bIns="0" rtlCol="0" anchor="t"/>
          <a:lstStyle/>
          <a:p>
            <a:pPr algn="ctr" indent="0" marL="0">
              <a:lnSpc>
                <a:spcPct val="105000"/>
              </a:lnSpc>
              <a:buNone/>
            </a:pPr>
            <a:r>
              <a:rPr lang="en-US" altLang="en-US" sz="1260" b="1" dirty="0">
                <a:solidFill>
                  <a:srgbClr val="62747A"/>
                </a:solidFill>
                <a:latin typeface="Arial" pitchFamily="34" charset="0"/>
                <a:ea typeface="Arial" pitchFamily="34" charset="-122"/>
                <a:cs typeface="Arial" pitchFamily="34" charset="-120"/>
              </a:rPr>
              <a:t>mass</a:t>
            </a:r>
            <a:endParaRPr lang="en-US" sz="1260" dirty="0"/>
          </a:p>
        </p:txBody>
      </p:sp>
      <p:sp>
        <p:nvSpPr>
          <p:cNvPr id="18" name="Shape 16"/>
          <p:cNvSpPr/>
          <p:nvPr/>
        </p:nvSpPr>
        <p:spPr>
          <a:xfrm>
            <a:off x="1973580" y="2956560"/>
            <a:ext cx="1394460" cy="289560"/>
          </a:xfrm>
          <a:prstGeom prst="roundRect">
            <a:avLst/>
          </a:prstGeom>
          <a:solidFill>
            <a:srgbClr val="E8ECE8"/>
          </a:solidFill>
          <a:ln w="12700">
            <a:solidFill>
              <a:srgbClr val="E8ECE8">
                <a:alpha val="0"/>
              </a:srgbClr>
            </a:solidFill>
            <a:prstDash val="solid"/>
          </a:ln>
        </p:spPr>
      </p:sp>
      <p:sp>
        <p:nvSpPr>
          <p:cNvPr id="19" name="Text 17"/>
          <p:cNvSpPr/>
          <p:nvPr/>
        </p:nvSpPr>
        <p:spPr>
          <a:xfrm>
            <a:off x="1973580" y="3002280"/>
            <a:ext cx="1394460" cy="205740"/>
          </a:xfrm>
          <a:prstGeom prst="rect">
            <a:avLst/>
          </a:prstGeom>
          <a:noFill/>
          <a:ln/>
        </p:spPr>
        <p:txBody>
          <a:bodyPr wrap="square" lIns="0" tIns="0" rIns="0" bIns="0" rtlCol="0" anchor="t"/>
          <a:lstStyle/>
          <a:p>
            <a:pPr algn="ctr" indent="0" marL="0">
              <a:lnSpc>
                <a:spcPct val="105000"/>
              </a:lnSpc>
              <a:buNone/>
            </a:pPr>
            <a:r>
              <a:rPr lang="en-US" altLang="en-US" sz="1260" b="1" dirty="0">
                <a:solidFill>
                  <a:srgbClr val="62747A"/>
                </a:solidFill>
                <a:latin typeface="Arial" pitchFamily="34" charset="0"/>
                <a:ea typeface="Arial" pitchFamily="34" charset="-122"/>
                <a:cs typeface="Arial" pitchFamily="34" charset="-120"/>
              </a:rPr>
              <a:t>friction</a:t>
            </a:r>
            <a:endParaRPr lang="en-US" sz="1260" dirty="0"/>
          </a:p>
        </p:txBody>
      </p:sp>
      <p:sp>
        <p:nvSpPr>
          <p:cNvPr id="20" name="Shape 18"/>
          <p:cNvSpPr/>
          <p:nvPr/>
        </p:nvSpPr>
        <p:spPr>
          <a:xfrm>
            <a:off x="838200" y="3375660"/>
            <a:ext cx="1569720" cy="289560"/>
          </a:xfrm>
          <a:prstGeom prst="roundRect">
            <a:avLst/>
          </a:prstGeom>
          <a:solidFill>
            <a:srgbClr val="E8ECE8"/>
          </a:solidFill>
          <a:ln w="12700">
            <a:solidFill>
              <a:srgbClr val="E8ECE8">
                <a:alpha val="0"/>
              </a:srgbClr>
            </a:solidFill>
            <a:prstDash val="solid"/>
          </a:ln>
        </p:spPr>
      </p:sp>
      <p:sp>
        <p:nvSpPr>
          <p:cNvPr id="21" name="Text 19"/>
          <p:cNvSpPr/>
          <p:nvPr/>
        </p:nvSpPr>
        <p:spPr>
          <a:xfrm>
            <a:off x="838200" y="3421380"/>
            <a:ext cx="1569720" cy="205740"/>
          </a:xfrm>
          <a:prstGeom prst="rect">
            <a:avLst/>
          </a:prstGeom>
          <a:noFill/>
          <a:ln/>
        </p:spPr>
        <p:txBody>
          <a:bodyPr wrap="square" lIns="0" tIns="0" rIns="0" bIns="0" rtlCol="0" anchor="t"/>
          <a:lstStyle/>
          <a:p>
            <a:pPr algn="ctr" indent="0" marL="0">
              <a:lnSpc>
                <a:spcPct val="105000"/>
              </a:lnSpc>
              <a:buNone/>
            </a:pPr>
            <a:r>
              <a:rPr lang="en-US" altLang="en-US" sz="1260" b="1" dirty="0">
                <a:solidFill>
                  <a:srgbClr val="62747A"/>
                </a:solidFill>
                <a:latin typeface="Arial" pitchFamily="34" charset="0"/>
                <a:ea typeface="Arial" pitchFamily="34" charset="-122"/>
                <a:cs typeface="Arial" pitchFamily="34" charset="-120"/>
              </a:rPr>
              <a:t>geometry</a:t>
            </a:r>
            <a:endParaRPr lang="en-US" sz="1260" dirty="0"/>
          </a:p>
        </p:txBody>
      </p:sp>
      <p:sp>
        <p:nvSpPr>
          <p:cNvPr id="22" name="Shape 20"/>
          <p:cNvSpPr/>
          <p:nvPr/>
        </p:nvSpPr>
        <p:spPr>
          <a:xfrm>
            <a:off x="2537460" y="3375660"/>
            <a:ext cx="830580" cy="289560"/>
          </a:xfrm>
          <a:prstGeom prst="roundRect">
            <a:avLst/>
          </a:prstGeom>
          <a:solidFill>
            <a:srgbClr val="E8ECE8"/>
          </a:solidFill>
          <a:ln w="12700">
            <a:solidFill>
              <a:srgbClr val="E8ECE8">
                <a:alpha val="0"/>
              </a:srgbClr>
            </a:solidFill>
            <a:prstDash val="solid"/>
          </a:ln>
        </p:spPr>
      </p:sp>
      <p:sp>
        <p:nvSpPr>
          <p:cNvPr id="23" name="Text 21"/>
          <p:cNvSpPr/>
          <p:nvPr/>
        </p:nvSpPr>
        <p:spPr>
          <a:xfrm>
            <a:off x="2537460" y="3421380"/>
            <a:ext cx="830580" cy="205740"/>
          </a:xfrm>
          <a:prstGeom prst="rect">
            <a:avLst/>
          </a:prstGeom>
          <a:noFill/>
          <a:ln/>
        </p:spPr>
        <p:txBody>
          <a:bodyPr wrap="square" lIns="0" tIns="0" rIns="0" bIns="0" rtlCol="0" anchor="t"/>
          <a:lstStyle/>
          <a:p>
            <a:pPr algn="ctr" indent="0" marL="0">
              <a:lnSpc>
                <a:spcPct val="105000"/>
              </a:lnSpc>
              <a:buNone/>
            </a:pPr>
            <a:r>
              <a:rPr lang="en-US" altLang="en-US" sz="1440" b="1" dirty="0">
                <a:solidFill>
                  <a:srgbClr val="62747A"/>
                </a:solidFill>
                <a:latin typeface="Arial" pitchFamily="34" charset="0"/>
                <a:ea typeface="Arial" pitchFamily="34" charset="-122"/>
                <a:cs typeface="Arial" pitchFamily="34" charset="-120"/>
              </a:rPr>
              <a:t>…</a:t>
            </a:r>
            <a:endParaRPr lang="en-US" sz="1440" dirty="0"/>
          </a:p>
        </p:txBody>
      </p:sp>
      <p:sp>
        <p:nvSpPr>
          <p:cNvPr id="24" name="Text 22"/>
          <p:cNvSpPr/>
          <p:nvPr/>
        </p:nvSpPr>
        <p:spPr>
          <a:xfrm>
            <a:off x="838200" y="3756660"/>
            <a:ext cx="2819400" cy="190500"/>
          </a:xfrm>
          <a:prstGeom prst="rect">
            <a:avLst/>
          </a:prstGeom>
          <a:noFill/>
          <a:ln/>
        </p:spPr>
        <p:txBody>
          <a:bodyPr wrap="square" lIns="0" tIns="0" rIns="0" bIns="0" rtlCol="0" anchor="t"/>
          <a:lstStyle/>
          <a:p>
            <a:pPr algn="l" indent="0" marL="0">
              <a:lnSpc>
                <a:spcPct val="105000"/>
              </a:lnSpc>
              <a:buNone/>
            </a:pPr>
            <a:r>
              <a:rPr lang="en-US" altLang="en-US" sz="1080" dirty="0">
                <a:solidFill>
                  <a:srgbClr val="62747A"/>
                </a:solidFill>
                <a:latin typeface="Arial" pitchFamily="34" charset="0"/>
                <a:ea typeface="Arial" pitchFamily="34" charset="-122"/>
                <a:cs typeface="Arial" pitchFamily="34" charset="-120"/>
              </a:rPr>
              <a:t>Illustrative candidate properties</a:t>
            </a:r>
            <a:endParaRPr lang="en-US" sz="1080" dirty="0"/>
          </a:p>
        </p:txBody>
      </p:sp>
      <p:sp>
        <p:nvSpPr>
          <p:cNvPr id="25" name="Shape 23"/>
          <p:cNvSpPr/>
          <p:nvPr/>
        </p:nvSpPr>
        <p:spPr>
          <a:xfrm>
            <a:off x="2324100" y="4008120"/>
            <a:ext cx="0" cy="220980"/>
          </a:xfrm>
          <a:prstGeom prst="line">
            <a:avLst/>
          </a:prstGeom>
          <a:noFill/>
          <a:ln w="19050">
            <a:solidFill>
              <a:srgbClr val="087F7B"/>
            </a:solidFill>
            <a:prstDash val="solid"/>
            <a:tailEnd type="triangle"/>
          </a:ln>
        </p:spPr>
      </p:sp>
      <p:sp>
        <p:nvSpPr>
          <p:cNvPr id="26" name="Shape 24"/>
          <p:cNvSpPr/>
          <p:nvPr/>
        </p:nvSpPr>
        <p:spPr>
          <a:xfrm>
            <a:off x="1264920" y="4328160"/>
            <a:ext cx="2118360" cy="510540"/>
          </a:xfrm>
          <a:prstGeom prst="roundRect">
            <a:avLst/>
          </a:prstGeom>
          <a:solidFill>
            <a:srgbClr val="E1EFEB"/>
          </a:solidFill>
          <a:ln w="12700">
            <a:solidFill>
              <a:srgbClr val="E1EFEB">
                <a:alpha val="0"/>
              </a:srgbClr>
            </a:solidFill>
            <a:prstDash val="solid"/>
          </a:ln>
        </p:spPr>
      </p:sp>
      <p:sp>
        <p:nvSpPr>
          <p:cNvPr id="27" name="Text 25"/>
          <p:cNvSpPr/>
          <p:nvPr/>
        </p:nvSpPr>
        <p:spPr>
          <a:xfrm>
            <a:off x="1341120" y="4442460"/>
            <a:ext cx="196596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087F7B"/>
                </a:solidFill>
                <a:latin typeface="Arial" pitchFamily="34" charset="0"/>
                <a:ea typeface="Arial" pitchFamily="34" charset="-122"/>
                <a:cs typeface="Arial" pitchFamily="34" charset="-120"/>
              </a:rPr>
              <a:t>CREST</a:t>
            </a:r>
            <a:endParaRPr lang="en-US" sz="1740" dirty="0"/>
          </a:p>
        </p:txBody>
      </p:sp>
      <p:sp>
        <p:nvSpPr>
          <p:cNvPr id="28" name="Text 26"/>
          <p:cNvSpPr/>
          <p:nvPr/>
        </p:nvSpPr>
        <p:spPr>
          <a:xfrm>
            <a:off x="838200" y="5044440"/>
            <a:ext cx="2971800" cy="510540"/>
          </a:xfrm>
          <a:prstGeom prst="rect">
            <a:avLst/>
          </a:prstGeom>
          <a:noFill/>
          <a:ln/>
        </p:spPr>
        <p:txBody>
          <a:bodyPr wrap="square" lIns="0" tIns="0" rIns="0" bIns="0" rtlCol="0" anchor="t"/>
          <a:lstStyle/>
          <a:p>
            <a:pPr algn="l" indent="0" marL="0">
              <a:lnSpc>
                <a:spcPct val="105000"/>
              </a:lnSpc>
              <a:buNone/>
            </a:pPr>
            <a:r>
              <a:rPr lang="en-US" altLang="en-US" sz="1500" dirty="0">
                <a:solidFill>
                  <a:srgbClr val="62747A"/>
                </a:solidFill>
                <a:latin typeface="Arial" pitchFamily="34" charset="0"/>
                <a:ea typeface="Arial" pitchFamily="34" charset="-122"/>
                <a:cs typeface="Arial" pitchFamily="34" charset="-120"/>
              </a:rPr>
              <a:t>Keep the representation</a:t>
            </a:r>
            <a:endParaRPr lang="en-US" sz="1500" dirty="0"/>
          </a:p>
          <a:p>
            <a:pPr algn="l" indent="0" marL="0">
              <a:lnSpc>
                <a:spcPct val="105000"/>
              </a:lnSpc>
              <a:buNone/>
            </a:pPr>
            <a:r>
              <a:rPr lang="en-US" altLang="en-US" sz="1500" dirty="0">
                <a:solidFill>
                  <a:srgbClr val="62747A"/>
                </a:solidFill>
                <a:latin typeface="Arial" pitchFamily="34" charset="0"/>
                <a:ea typeface="Arial" pitchFamily="34" charset="-122"/>
                <a:cs typeface="Arial" pitchFamily="34" charset="-120"/>
              </a:rPr>
              <a:t>and computation manageable.</a:t>
            </a:r>
            <a:endParaRPr lang="en-US" sz="1500" dirty="0"/>
          </a:p>
        </p:txBody>
      </p:sp>
      <p:sp>
        <p:nvSpPr>
          <p:cNvPr id="29" name="Shape 27"/>
          <p:cNvSpPr/>
          <p:nvPr/>
        </p:nvSpPr>
        <p:spPr>
          <a:xfrm>
            <a:off x="4572000" y="2369820"/>
            <a:ext cx="304800" cy="304800"/>
          </a:xfrm>
          <a:prstGeom prst="ellipse">
            <a:avLst/>
          </a:prstGeom>
          <a:solidFill>
            <a:srgbClr val="22434A"/>
          </a:solidFill>
          <a:ln w="12700">
            <a:solidFill>
              <a:srgbClr val="22434A">
                <a:alpha val="0"/>
              </a:srgbClr>
            </a:solidFill>
            <a:prstDash val="solid"/>
          </a:ln>
        </p:spPr>
      </p:sp>
      <p:sp>
        <p:nvSpPr>
          <p:cNvPr id="30" name="Text 28"/>
          <p:cNvSpPr/>
          <p:nvPr/>
        </p:nvSpPr>
        <p:spPr>
          <a:xfrm>
            <a:off x="4572000" y="241554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2</a:t>
            </a:r>
            <a:endParaRPr lang="en-US" sz="1380" dirty="0"/>
          </a:p>
        </p:txBody>
      </p:sp>
      <p:sp>
        <p:nvSpPr>
          <p:cNvPr id="31" name="Text 29"/>
          <p:cNvSpPr/>
          <p:nvPr/>
        </p:nvSpPr>
        <p:spPr>
          <a:xfrm>
            <a:off x="5013960" y="2400300"/>
            <a:ext cx="2606040" cy="274320"/>
          </a:xfrm>
          <a:prstGeom prst="rect">
            <a:avLst/>
          </a:prstGeom>
          <a:noFill/>
          <a:ln/>
        </p:spPr>
        <p:txBody>
          <a:bodyPr wrap="square" lIns="0" tIns="0" rIns="0" bIns="0" rtlCol="0" anchor="t"/>
          <a:lstStyle/>
          <a:p>
            <a:pPr algn="l" indent="0" marL="0">
              <a:lnSpc>
                <a:spcPct val="105000"/>
              </a:lnSpc>
              <a:buNone/>
            </a:pPr>
            <a:r>
              <a:rPr lang="en-US" altLang="en-US" sz="1620" b="1" dirty="0">
                <a:solidFill>
                  <a:srgbClr val="183139"/>
                </a:solidFill>
                <a:latin typeface="Arial" pitchFamily="34" charset="0"/>
                <a:ea typeface="Arial" pitchFamily="34" charset="-122"/>
                <a:cs typeface="Arial" pitchFamily="34" charset="-120"/>
              </a:rPr>
              <a:t>Vary physical conditions</a:t>
            </a:r>
            <a:endParaRPr lang="en-US" sz="1620" dirty="0"/>
          </a:p>
        </p:txBody>
      </p:sp>
      <p:sp>
        <p:nvSpPr>
          <p:cNvPr id="32" name="Shape 30"/>
          <p:cNvSpPr/>
          <p:nvPr/>
        </p:nvSpPr>
        <p:spPr>
          <a:xfrm>
            <a:off x="4610100" y="3032760"/>
            <a:ext cx="861060" cy="731520"/>
          </a:xfrm>
          <a:prstGeom prst="roundRect">
            <a:avLst/>
          </a:prstGeom>
          <a:solidFill>
            <a:srgbClr val="FFFFFF"/>
          </a:solidFill>
          <a:ln w="7620">
            <a:solidFill>
              <a:srgbClr val="D8DFD9"/>
            </a:solidFill>
            <a:prstDash val="solid"/>
          </a:ln>
        </p:spPr>
      </p:sp>
      <p:sp>
        <p:nvSpPr>
          <p:cNvPr id="33" name="Shape 31"/>
          <p:cNvSpPr/>
          <p:nvPr/>
        </p:nvSpPr>
        <p:spPr>
          <a:xfrm>
            <a:off x="4724400" y="3147060"/>
            <a:ext cx="205740" cy="205740"/>
          </a:xfrm>
          <a:prstGeom prst="roundRect">
            <a:avLst/>
          </a:prstGeom>
          <a:solidFill>
            <a:srgbClr val="DFC28E"/>
          </a:solidFill>
          <a:ln w="12700">
            <a:solidFill>
              <a:srgbClr val="DFC28E">
                <a:alpha val="0"/>
              </a:srgbClr>
            </a:solidFill>
            <a:prstDash val="solid"/>
          </a:ln>
        </p:spPr>
      </p:sp>
      <p:sp>
        <p:nvSpPr>
          <p:cNvPr id="34" name="Shape 32"/>
          <p:cNvSpPr/>
          <p:nvPr/>
        </p:nvSpPr>
        <p:spPr>
          <a:xfrm>
            <a:off x="4709160" y="3383280"/>
            <a:ext cx="259080" cy="0"/>
          </a:xfrm>
          <a:prstGeom prst="line">
            <a:avLst/>
          </a:prstGeom>
          <a:noFill/>
          <a:ln w="15240">
            <a:solidFill>
              <a:srgbClr val="93A5AA"/>
            </a:solidFill>
            <a:prstDash val="solid"/>
          </a:ln>
        </p:spPr>
      </p:sp>
      <p:sp>
        <p:nvSpPr>
          <p:cNvPr id="35" name="Shape 33"/>
          <p:cNvSpPr/>
          <p:nvPr/>
        </p:nvSpPr>
        <p:spPr>
          <a:xfrm>
            <a:off x="5059680" y="3169920"/>
            <a:ext cx="312420" cy="38100"/>
          </a:xfrm>
          <a:prstGeom prst="roundRect">
            <a:avLst/>
          </a:prstGeom>
          <a:solidFill>
            <a:srgbClr val="E8ECE8"/>
          </a:solidFill>
          <a:ln w="12700">
            <a:solidFill>
              <a:srgbClr val="E8ECE8">
                <a:alpha val="0"/>
              </a:srgbClr>
            </a:solidFill>
            <a:prstDash val="solid"/>
          </a:ln>
        </p:spPr>
      </p:sp>
      <p:sp>
        <p:nvSpPr>
          <p:cNvPr id="36" name="Shape 34"/>
          <p:cNvSpPr/>
          <p:nvPr/>
        </p:nvSpPr>
        <p:spPr>
          <a:xfrm>
            <a:off x="5059680" y="3169920"/>
            <a:ext cx="174955" cy="38100"/>
          </a:xfrm>
          <a:prstGeom prst="roundRect">
            <a:avLst/>
          </a:prstGeom>
          <a:solidFill>
            <a:srgbClr val="087F7B"/>
          </a:solidFill>
          <a:ln w="12700">
            <a:solidFill>
              <a:srgbClr val="087F7B">
                <a:alpha val="0"/>
              </a:srgbClr>
            </a:solidFill>
            <a:prstDash val="solid"/>
          </a:ln>
        </p:spPr>
      </p:sp>
      <p:sp>
        <p:nvSpPr>
          <p:cNvPr id="37" name="Shape 35"/>
          <p:cNvSpPr/>
          <p:nvPr/>
        </p:nvSpPr>
        <p:spPr>
          <a:xfrm>
            <a:off x="5059680" y="3299460"/>
            <a:ext cx="312420" cy="38100"/>
          </a:xfrm>
          <a:prstGeom prst="roundRect">
            <a:avLst/>
          </a:prstGeom>
          <a:solidFill>
            <a:srgbClr val="E8ECE8"/>
          </a:solidFill>
          <a:ln w="12700">
            <a:solidFill>
              <a:srgbClr val="E8ECE8">
                <a:alpha val="0"/>
              </a:srgbClr>
            </a:solidFill>
            <a:prstDash val="solid"/>
          </a:ln>
        </p:spPr>
      </p:sp>
      <p:sp>
        <p:nvSpPr>
          <p:cNvPr id="38" name="Shape 36"/>
          <p:cNvSpPr/>
          <p:nvPr/>
        </p:nvSpPr>
        <p:spPr>
          <a:xfrm>
            <a:off x="5059680" y="3299460"/>
            <a:ext cx="224942" cy="38100"/>
          </a:xfrm>
          <a:prstGeom prst="roundRect">
            <a:avLst/>
          </a:prstGeom>
          <a:solidFill>
            <a:srgbClr val="93A5AA"/>
          </a:solidFill>
          <a:ln w="12700">
            <a:solidFill>
              <a:srgbClr val="93A5AA">
                <a:alpha val="0"/>
              </a:srgbClr>
            </a:solidFill>
            <a:prstDash val="solid"/>
          </a:ln>
        </p:spPr>
      </p:sp>
      <p:sp>
        <p:nvSpPr>
          <p:cNvPr id="39" name="Shape 37"/>
          <p:cNvSpPr/>
          <p:nvPr/>
        </p:nvSpPr>
        <p:spPr>
          <a:xfrm>
            <a:off x="5059680" y="3429000"/>
            <a:ext cx="312420" cy="38100"/>
          </a:xfrm>
          <a:prstGeom prst="roundRect">
            <a:avLst/>
          </a:prstGeom>
          <a:solidFill>
            <a:srgbClr val="E8ECE8"/>
          </a:solidFill>
          <a:ln w="12700">
            <a:solidFill>
              <a:srgbClr val="E8ECE8">
                <a:alpha val="0"/>
              </a:srgbClr>
            </a:solidFill>
            <a:prstDash val="solid"/>
          </a:ln>
        </p:spPr>
      </p:sp>
      <p:sp>
        <p:nvSpPr>
          <p:cNvPr id="40" name="Shape 38"/>
          <p:cNvSpPr/>
          <p:nvPr/>
        </p:nvSpPr>
        <p:spPr>
          <a:xfrm>
            <a:off x="5059680" y="3429000"/>
            <a:ext cx="274930" cy="38100"/>
          </a:xfrm>
          <a:prstGeom prst="roundRect">
            <a:avLst/>
          </a:prstGeom>
          <a:solidFill>
            <a:srgbClr val="93A5AA"/>
          </a:solidFill>
          <a:ln w="12700">
            <a:solidFill>
              <a:srgbClr val="93A5AA">
                <a:alpha val="0"/>
              </a:srgbClr>
            </a:solidFill>
            <a:prstDash val="solid"/>
          </a:ln>
        </p:spPr>
      </p:sp>
      <p:sp>
        <p:nvSpPr>
          <p:cNvPr id="41" name="Text 39"/>
          <p:cNvSpPr/>
          <p:nvPr/>
        </p:nvSpPr>
        <p:spPr>
          <a:xfrm>
            <a:off x="4724400" y="3528060"/>
            <a:ext cx="6324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02</a:t>
            </a:r>
            <a:endParaRPr lang="en-US" sz="960" dirty="0"/>
          </a:p>
        </p:txBody>
      </p:sp>
      <p:sp>
        <p:nvSpPr>
          <p:cNvPr id="42" name="Shape 40"/>
          <p:cNvSpPr/>
          <p:nvPr/>
        </p:nvSpPr>
        <p:spPr>
          <a:xfrm>
            <a:off x="5600700" y="3032760"/>
            <a:ext cx="861060" cy="731520"/>
          </a:xfrm>
          <a:prstGeom prst="roundRect">
            <a:avLst/>
          </a:prstGeom>
          <a:solidFill>
            <a:srgbClr val="FFFFFF"/>
          </a:solidFill>
          <a:ln w="7620">
            <a:solidFill>
              <a:srgbClr val="D8DFD9"/>
            </a:solidFill>
            <a:prstDash val="solid"/>
          </a:ln>
        </p:spPr>
      </p:sp>
      <p:sp>
        <p:nvSpPr>
          <p:cNvPr id="43" name="Shape 41"/>
          <p:cNvSpPr/>
          <p:nvPr/>
        </p:nvSpPr>
        <p:spPr>
          <a:xfrm>
            <a:off x="5715000" y="3147060"/>
            <a:ext cx="205740" cy="205740"/>
          </a:xfrm>
          <a:prstGeom prst="roundRect">
            <a:avLst/>
          </a:prstGeom>
          <a:solidFill>
            <a:srgbClr val="DFC28E"/>
          </a:solidFill>
          <a:ln w="12700">
            <a:solidFill>
              <a:srgbClr val="DFC28E">
                <a:alpha val="0"/>
              </a:srgbClr>
            </a:solidFill>
            <a:prstDash val="solid"/>
          </a:ln>
        </p:spPr>
      </p:sp>
      <p:sp>
        <p:nvSpPr>
          <p:cNvPr id="44" name="Shape 42"/>
          <p:cNvSpPr/>
          <p:nvPr/>
        </p:nvSpPr>
        <p:spPr>
          <a:xfrm>
            <a:off x="5699760" y="3383280"/>
            <a:ext cx="259080" cy="0"/>
          </a:xfrm>
          <a:prstGeom prst="line">
            <a:avLst/>
          </a:prstGeom>
          <a:noFill/>
          <a:ln w="15240">
            <a:solidFill>
              <a:srgbClr val="93A5AA"/>
            </a:solidFill>
            <a:prstDash val="solid"/>
          </a:ln>
        </p:spPr>
      </p:sp>
      <p:sp>
        <p:nvSpPr>
          <p:cNvPr id="45" name="Shape 43"/>
          <p:cNvSpPr/>
          <p:nvPr/>
        </p:nvSpPr>
        <p:spPr>
          <a:xfrm>
            <a:off x="6050280" y="3169920"/>
            <a:ext cx="312420" cy="38100"/>
          </a:xfrm>
          <a:prstGeom prst="roundRect">
            <a:avLst/>
          </a:prstGeom>
          <a:solidFill>
            <a:srgbClr val="E8ECE8"/>
          </a:solidFill>
          <a:ln w="12700">
            <a:solidFill>
              <a:srgbClr val="E8ECE8">
                <a:alpha val="0"/>
              </a:srgbClr>
            </a:solidFill>
            <a:prstDash val="solid"/>
          </a:ln>
        </p:spPr>
      </p:sp>
      <p:sp>
        <p:nvSpPr>
          <p:cNvPr id="46" name="Shape 44"/>
          <p:cNvSpPr/>
          <p:nvPr/>
        </p:nvSpPr>
        <p:spPr>
          <a:xfrm>
            <a:off x="6050280" y="3169920"/>
            <a:ext cx="274930" cy="38100"/>
          </a:xfrm>
          <a:prstGeom prst="roundRect">
            <a:avLst/>
          </a:prstGeom>
          <a:solidFill>
            <a:srgbClr val="087F7B"/>
          </a:solidFill>
          <a:ln w="12700">
            <a:solidFill>
              <a:srgbClr val="087F7B">
                <a:alpha val="0"/>
              </a:srgbClr>
            </a:solidFill>
            <a:prstDash val="solid"/>
          </a:ln>
        </p:spPr>
      </p:sp>
      <p:sp>
        <p:nvSpPr>
          <p:cNvPr id="47" name="Shape 45"/>
          <p:cNvSpPr/>
          <p:nvPr/>
        </p:nvSpPr>
        <p:spPr>
          <a:xfrm>
            <a:off x="6050280" y="3299460"/>
            <a:ext cx="312420" cy="38100"/>
          </a:xfrm>
          <a:prstGeom prst="roundRect">
            <a:avLst/>
          </a:prstGeom>
          <a:solidFill>
            <a:srgbClr val="E8ECE8"/>
          </a:solidFill>
          <a:ln w="12700">
            <a:solidFill>
              <a:srgbClr val="E8ECE8">
                <a:alpha val="0"/>
              </a:srgbClr>
            </a:solidFill>
            <a:prstDash val="solid"/>
          </a:ln>
        </p:spPr>
      </p:sp>
      <p:sp>
        <p:nvSpPr>
          <p:cNvPr id="48" name="Shape 46"/>
          <p:cNvSpPr/>
          <p:nvPr/>
        </p:nvSpPr>
        <p:spPr>
          <a:xfrm>
            <a:off x="6050280" y="3299460"/>
            <a:ext cx="74981" cy="38100"/>
          </a:xfrm>
          <a:prstGeom prst="roundRect">
            <a:avLst/>
          </a:prstGeom>
          <a:solidFill>
            <a:srgbClr val="93A5AA"/>
          </a:solidFill>
          <a:ln w="12700">
            <a:solidFill>
              <a:srgbClr val="93A5AA">
                <a:alpha val="0"/>
              </a:srgbClr>
            </a:solidFill>
            <a:prstDash val="solid"/>
          </a:ln>
        </p:spPr>
      </p:sp>
      <p:sp>
        <p:nvSpPr>
          <p:cNvPr id="49" name="Shape 47"/>
          <p:cNvSpPr/>
          <p:nvPr/>
        </p:nvSpPr>
        <p:spPr>
          <a:xfrm>
            <a:off x="6050280" y="3429000"/>
            <a:ext cx="312420" cy="38100"/>
          </a:xfrm>
          <a:prstGeom prst="roundRect">
            <a:avLst/>
          </a:prstGeom>
          <a:solidFill>
            <a:srgbClr val="E8ECE8"/>
          </a:solidFill>
          <a:ln w="12700">
            <a:solidFill>
              <a:srgbClr val="E8ECE8">
                <a:alpha val="0"/>
              </a:srgbClr>
            </a:solidFill>
            <a:prstDash val="solid"/>
          </a:ln>
        </p:spPr>
      </p:sp>
      <p:sp>
        <p:nvSpPr>
          <p:cNvPr id="50" name="Shape 48"/>
          <p:cNvSpPr/>
          <p:nvPr/>
        </p:nvSpPr>
        <p:spPr>
          <a:xfrm>
            <a:off x="6050280" y="3429000"/>
            <a:ext cx="124968" cy="38100"/>
          </a:xfrm>
          <a:prstGeom prst="roundRect">
            <a:avLst/>
          </a:prstGeom>
          <a:solidFill>
            <a:srgbClr val="93A5AA"/>
          </a:solidFill>
          <a:ln w="12700">
            <a:solidFill>
              <a:srgbClr val="93A5AA">
                <a:alpha val="0"/>
              </a:srgbClr>
            </a:solidFill>
            <a:prstDash val="solid"/>
          </a:ln>
        </p:spPr>
      </p:sp>
      <p:sp>
        <p:nvSpPr>
          <p:cNvPr id="51" name="Text 49"/>
          <p:cNvSpPr/>
          <p:nvPr/>
        </p:nvSpPr>
        <p:spPr>
          <a:xfrm>
            <a:off x="5715000" y="3528060"/>
            <a:ext cx="6324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03</a:t>
            </a:r>
            <a:endParaRPr lang="en-US" sz="960" dirty="0"/>
          </a:p>
        </p:txBody>
      </p:sp>
      <p:sp>
        <p:nvSpPr>
          <p:cNvPr id="52" name="Shape 50"/>
          <p:cNvSpPr/>
          <p:nvPr/>
        </p:nvSpPr>
        <p:spPr>
          <a:xfrm>
            <a:off x="6591300" y="3032760"/>
            <a:ext cx="861060" cy="731520"/>
          </a:xfrm>
          <a:prstGeom prst="roundRect">
            <a:avLst/>
          </a:prstGeom>
          <a:solidFill>
            <a:srgbClr val="FFFFFF"/>
          </a:solidFill>
          <a:ln w="7620">
            <a:solidFill>
              <a:srgbClr val="D8DFD9"/>
            </a:solidFill>
            <a:prstDash val="solid"/>
          </a:ln>
        </p:spPr>
      </p:sp>
      <p:sp>
        <p:nvSpPr>
          <p:cNvPr id="53" name="Shape 51"/>
          <p:cNvSpPr/>
          <p:nvPr/>
        </p:nvSpPr>
        <p:spPr>
          <a:xfrm>
            <a:off x="6705600" y="3147060"/>
            <a:ext cx="205740" cy="205740"/>
          </a:xfrm>
          <a:prstGeom prst="roundRect">
            <a:avLst/>
          </a:prstGeom>
          <a:solidFill>
            <a:srgbClr val="DFC28E"/>
          </a:solidFill>
          <a:ln w="12700">
            <a:solidFill>
              <a:srgbClr val="DFC28E">
                <a:alpha val="0"/>
              </a:srgbClr>
            </a:solidFill>
            <a:prstDash val="solid"/>
          </a:ln>
        </p:spPr>
      </p:sp>
      <p:sp>
        <p:nvSpPr>
          <p:cNvPr id="54" name="Shape 52"/>
          <p:cNvSpPr/>
          <p:nvPr/>
        </p:nvSpPr>
        <p:spPr>
          <a:xfrm>
            <a:off x="6690360" y="3383280"/>
            <a:ext cx="259080" cy="0"/>
          </a:xfrm>
          <a:prstGeom prst="line">
            <a:avLst/>
          </a:prstGeom>
          <a:noFill/>
          <a:ln w="15240">
            <a:solidFill>
              <a:srgbClr val="93A5AA"/>
            </a:solidFill>
            <a:prstDash val="solid"/>
          </a:ln>
        </p:spPr>
      </p:sp>
      <p:sp>
        <p:nvSpPr>
          <p:cNvPr id="55" name="Shape 53"/>
          <p:cNvSpPr/>
          <p:nvPr/>
        </p:nvSpPr>
        <p:spPr>
          <a:xfrm>
            <a:off x="7040880" y="3169920"/>
            <a:ext cx="312420" cy="38100"/>
          </a:xfrm>
          <a:prstGeom prst="roundRect">
            <a:avLst/>
          </a:prstGeom>
          <a:solidFill>
            <a:srgbClr val="E8ECE8"/>
          </a:solidFill>
          <a:ln w="12700">
            <a:solidFill>
              <a:srgbClr val="E8ECE8">
                <a:alpha val="0"/>
              </a:srgbClr>
            </a:solidFill>
            <a:prstDash val="solid"/>
          </a:ln>
        </p:spPr>
      </p:sp>
      <p:sp>
        <p:nvSpPr>
          <p:cNvPr id="56" name="Shape 54"/>
          <p:cNvSpPr/>
          <p:nvPr/>
        </p:nvSpPr>
        <p:spPr>
          <a:xfrm>
            <a:off x="7040880" y="3169920"/>
            <a:ext cx="124968" cy="38100"/>
          </a:xfrm>
          <a:prstGeom prst="roundRect">
            <a:avLst/>
          </a:prstGeom>
          <a:solidFill>
            <a:srgbClr val="087F7B"/>
          </a:solidFill>
          <a:ln w="12700">
            <a:solidFill>
              <a:srgbClr val="087F7B">
                <a:alpha val="0"/>
              </a:srgbClr>
            </a:solidFill>
            <a:prstDash val="solid"/>
          </a:ln>
        </p:spPr>
      </p:sp>
      <p:sp>
        <p:nvSpPr>
          <p:cNvPr id="57" name="Shape 55"/>
          <p:cNvSpPr/>
          <p:nvPr/>
        </p:nvSpPr>
        <p:spPr>
          <a:xfrm>
            <a:off x="7040880" y="3299460"/>
            <a:ext cx="312420" cy="38100"/>
          </a:xfrm>
          <a:prstGeom prst="roundRect">
            <a:avLst/>
          </a:prstGeom>
          <a:solidFill>
            <a:srgbClr val="E8ECE8"/>
          </a:solidFill>
          <a:ln w="12700">
            <a:solidFill>
              <a:srgbClr val="E8ECE8">
                <a:alpha val="0"/>
              </a:srgbClr>
            </a:solidFill>
            <a:prstDash val="solid"/>
          </a:ln>
        </p:spPr>
      </p:sp>
      <p:sp>
        <p:nvSpPr>
          <p:cNvPr id="58" name="Shape 56"/>
          <p:cNvSpPr/>
          <p:nvPr/>
        </p:nvSpPr>
        <p:spPr>
          <a:xfrm>
            <a:off x="7040880" y="3299460"/>
            <a:ext cx="174955" cy="38100"/>
          </a:xfrm>
          <a:prstGeom prst="roundRect">
            <a:avLst/>
          </a:prstGeom>
          <a:solidFill>
            <a:srgbClr val="93A5AA"/>
          </a:solidFill>
          <a:ln w="12700">
            <a:solidFill>
              <a:srgbClr val="93A5AA">
                <a:alpha val="0"/>
              </a:srgbClr>
            </a:solidFill>
            <a:prstDash val="solid"/>
          </a:ln>
        </p:spPr>
      </p:sp>
      <p:sp>
        <p:nvSpPr>
          <p:cNvPr id="59" name="Shape 57"/>
          <p:cNvSpPr/>
          <p:nvPr/>
        </p:nvSpPr>
        <p:spPr>
          <a:xfrm>
            <a:off x="7040880" y="3429000"/>
            <a:ext cx="312420" cy="38100"/>
          </a:xfrm>
          <a:prstGeom prst="roundRect">
            <a:avLst/>
          </a:prstGeom>
          <a:solidFill>
            <a:srgbClr val="E8ECE8"/>
          </a:solidFill>
          <a:ln w="12700">
            <a:solidFill>
              <a:srgbClr val="E8ECE8">
                <a:alpha val="0"/>
              </a:srgbClr>
            </a:solidFill>
            <a:prstDash val="solid"/>
          </a:ln>
        </p:spPr>
      </p:sp>
      <p:sp>
        <p:nvSpPr>
          <p:cNvPr id="60" name="Shape 58"/>
          <p:cNvSpPr/>
          <p:nvPr/>
        </p:nvSpPr>
        <p:spPr>
          <a:xfrm>
            <a:off x="7040880" y="3429000"/>
            <a:ext cx="224942" cy="38100"/>
          </a:xfrm>
          <a:prstGeom prst="roundRect">
            <a:avLst/>
          </a:prstGeom>
          <a:solidFill>
            <a:srgbClr val="93A5AA"/>
          </a:solidFill>
          <a:ln w="12700">
            <a:solidFill>
              <a:srgbClr val="93A5AA">
                <a:alpha val="0"/>
              </a:srgbClr>
            </a:solidFill>
            <a:prstDash val="solid"/>
          </a:ln>
        </p:spPr>
      </p:sp>
      <p:sp>
        <p:nvSpPr>
          <p:cNvPr id="61" name="Text 59"/>
          <p:cNvSpPr/>
          <p:nvPr/>
        </p:nvSpPr>
        <p:spPr>
          <a:xfrm>
            <a:off x="6705600" y="3528060"/>
            <a:ext cx="6324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04</a:t>
            </a:r>
            <a:endParaRPr lang="en-US" sz="960" dirty="0"/>
          </a:p>
        </p:txBody>
      </p:sp>
      <p:sp>
        <p:nvSpPr>
          <p:cNvPr id="62" name="Shape 60"/>
          <p:cNvSpPr/>
          <p:nvPr/>
        </p:nvSpPr>
        <p:spPr>
          <a:xfrm>
            <a:off x="4610100" y="3878580"/>
            <a:ext cx="861060" cy="731520"/>
          </a:xfrm>
          <a:prstGeom prst="roundRect">
            <a:avLst/>
          </a:prstGeom>
          <a:solidFill>
            <a:srgbClr val="FFFFFF"/>
          </a:solidFill>
          <a:ln w="7620">
            <a:solidFill>
              <a:srgbClr val="D8DFD9"/>
            </a:solidFill>
            <a:prstDash val="solid"/>
          </a:ln>
        </p:spPr>
      </p:sp>
      <p:sp>
        <p:nvSpPr>
          <p:cNvPr id="63" name="Shape 61"/>
          <p:cNvSpPr/>
          <p:nvPr/>
        </p:nvSpPr>
        <p:spPr>
          <a:xfrm>
            <a:off x="4724400" y="3992880"/>
            <a:ext cx="205740" cy="205740"/>
          </a:xfrm>
          <a:prstGeom prst="roundRect">
            <a:avLst/>
          </a:prstGeom>
          <a:solidFill>
            <a:srgbClr val="DFC28E"/>
          </a:solidFill>
          <a:ln w="12700">
            <a:solidFill>
              <a:srgbClr val="DFC28E">
                <a:alpha val="0"/>
              </a:srgbClr>
            </a:solidFill>
            <a:prstDash val="solid"/>
          </a:ln>
        </p:spPr>
      </p:sp>
      <p:sp>
        <p:nvSpPr>
          <p:cNvPr id="64" name="Shape 62"/>
          <p:cNvSpPr/>
          <p:nvPr/>
        </p:nvSpPr>
        <p:spPr>
          <a:xfrm>
            <a:off x="4709160" y="4229100"/>
            <a:ext cx="259080" cy="0"/>
          </a:xfrm>
          <a:prstGeom prst="line">
            <a:avLst/>
          </a:prstGeom>
          <a:noFill/>
          <a:ln w="15240">
            <a:solidFill>
              <a:srgbClr val="93A5AA"/>
            </a:solidFill>
            <a:prstDash val="solid"/>
          </a:ln>
        </p:spPr>
      </p:sp>
      <p:sp>
        <p:nvSpPr>
          <p:cNvPr id="65" name="Shape 63"/>
          <p:cNvSpPr/>
          <p:nvPr/>
        </p:nvSpPr>
        <p:spPr>
          <a:xfrm>
            <a:off x="5059680" y="4015740"/>
            <a:ext cx="312420" cy="38100"/>
          </a:xfrm>
          <a:prstGeom prst="roundRect">
            <a:avLst/>
          </a:prstGeom>
          <a:solidFill>
            <a:srgbClr val="E8ECE8"/>
          </a:solidFill>
          <a:ln w="12700">
            <a:solidFill>
              <a:srgbClr val="E8ECE8">
                <a:alpha val="0"/>
              </a:srgbClr>
            </a:solidFill>
            <a:prstDash val="solid"/>
          </a:ln>
        </p:spPr>
      </p:sp>
      <p:sp>
        <p:nvSpPr>
          <p:cNvPr id="66" name="Shape 64"/>
          <p:cNvSpPr/>
          <p:nvPr/>
        </p:nvSpPr>
        <p:spPr>
          <a:xfrm>
            <a:off x="5059680" y="4015740"/>
            <a:ext cx="224942" cy="38100"/>
          </a:xfrm>
          <a:prstGeom prst="roundRect">
            <a:avLst/>
          </a:prstGeom>
          <a:solidFill>
            <a:srgbClr val="087F7B"/>
          </a:solidFill>
          <a:ln w="12700">
            <a:solidFill>
              <a:srgbClr val="087F7B">
                <a:alpha val="0"/>
              </a:srgbClr>
            </a:solidFill>
            <a:prstDash val="solid"/>
          </a:ln>
        </p:spPr>
      </p:sp>
      <p:sp>
        <p:nvSpPr>
          <p:cNvPr id="67" name="Shape 65"/>
          <p:cNvSpPr/>
          <p:nvPr/>
        </p:nvSpPr>
        <p:spPr>
          <a:xfrm>
            <a:off x="5059680" y="4145280"/>
            <a:ext cx="312420" cy="38100"/>
          </a:xfrm>
          <a:prstGeom prst="roundRect">
            <a:avLst/>
          </a:prstGeom>
          <a:solidFill>
            <a:srgbClr val="E8ECE8"/>
          </a:solidFill>
          <a:ln w="12700">
            <a:solidFill>
              <a:srgbClr val="E8ECE8">
                <a:alpha val="0"/>
              </a:srgbClr>
            </a:solidFill>
            <a:prstDash val="solid"/>
          </a:ln>
        </p:spPr>
      </p:sp>
      <p:sp>
        <p:nvSpPr>
          <p:cNvPr id="68" name="Shape 66"/>
          <p:cNvSpPr/>
          <p:nvPr/>
        </p:nvSpPr>
        <p:spPr>
          <a:xfrm>
            <a:off x="5059680" y="4145280"/>
            <a:ext cx="274930" cy="38100"/>
          </a:xfrm>
          <a:prstGeom prst="roundRect">
            <a:avLst/>
          </a:prstGeom>
          <a:solidFill>
            <a:srgbClr val="93A5AA"/>
          </a:solidFill>
          <a:ln w="12700">
            <a:solidFill>
              <a:srgbClr val="93A5AA">
                <a:alpha val="0"/>
              </a:srgbClr>
            </a:solidFill>
            <a:prstDash val="solid"/>
          </a:ln>
        </p:spPr>
      </p:sp>
      <p:sp>
        <p:nvSpPr>
          <p:cNvPr id="69" name="Shape 67"/>
          <p:cNvSpPr/>
          <p:nvPr/>
        </p:nvSpPr>
        <p:spPr>
          <a:xfrm>
            <a:off x="5059680" y="4274820"/>
            <a:ext cx="312420" cy="38100"/>
          </a:xfrm>
          <a:prstGeom prst="roundRect">
            <a:avLst/>
          </a:prstGeom>
          <a:solidFill>
            <a:srgbClr val="E8ECE8"/>
          </a:solidFill>
          <a:ln w="12700">
            <a:solidFill>
              <a:srgbClr val="E8ECE8">
                <a:alpha val="0"/>
              </a:srgbClr>
            </a:solidFill>
            <a:prstDash val="solid"/>
          </a:ln>
        </p:spPr>
      </p:sp>
      <p:sp>
        <p:nvSpPr>
          <p:cNvPr id="70" name="Shape 68"/>
          <p:cNvSpPr/>
          <p:nvPr/>
        </p:nvSpPr>
        <p:spPr>
          <a:xfrm>
            <a:off x="5059680" y="4274820"/>
            <a:ext cx="74981" cy="38100"/>
          </a:xfrm>
          <a:prstGeom prst="roundRect">
            <a:avLst/>
          </a:prstGeom>
          <a:solidFill>
            <a:srgbClr val="93A5AA"/>
          </a:solidFill>
          <a:ln w="12700">
            <a:solidFill>
              <a:srgbClr val="93A5AA">
                <a:alpha val="0"/>
              </a:srgbClr>
            </a:solidFill>
            <a:prstDash val="solid"/>
          </a:ln>
        </p:spPr>
      </p:sp>
      <p:sp>
        <p:nvSpPr>
          <p:cNvPr id="71" name="Text 69"/>
          <p:cNvSpPr/>
          <p:nvPr/>
        </p:nvSpPr>
        <p:spPr>
          <a:xfrm>
            <a:off x="4724400" y="4373880"/>
            <a:ext cx="6324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05</a:t>
            </a:r>
            <a:endParaRPr lang="en-US" sz="960" dirty="0"/>
          </a:p>
        </p:txBody>
      </p:sp>
      <p:sp>
        <p:nvSpPr>
          <p:cNvPr id="72" name="Shape 70"/>
          <p:cNvSpPr/>
          <p:nvPr/>
        </p:nvSpPr>
        <p:spPr>
          <a:xfrm>
            <a:off x="5600700" y="3878580"/>
            <a:ext cx="861060" cy="731520"/>
          </a:xfrm>
          <a:prstGeom prst="roundRect">
            <a:avLst/>
          </a:prstGeom>
          <a:solidFill>
            <a:srgbClr val="FFFFFF"/>
          </a:solidFill>
          <a:ln w="7620">
            <a:solidFill>
              <a:srgbClr val="D8DFD9"/>
            </a:solidFill>
            <a:prstDash val="solid"/>
          </a:ln>
        </p:spPr>
      </p:sp>
      <p:sp>
        <p:nvSpPr>
          <p:cNvPr id="73" name="Shape 71"/>
          <p:cNvSpPr/>
          <p:nvPr/>
        </p:nvSpPr>
        <p:spPr>
          <a:xfrm>
            <a:off x="5715000" y="3992880"/>
            <a:ext cx="205740" cy="205740"/>
          </a:xfrm>
          <a:prstGeom prst="roundRect">
            <a:avLst/>
          </a:prstGeom>
          <a:solidFill>
            <a:srgbClr val="DFC28E"/>
          </a:solidFill>
          <a:ln w="12700">
            <a:solidFill>
              <a:srgbClr val="DFC28E">
                <a:alpha val="0"/>
              </a:srgbClr>
            </a:solidFill>
            <a:prstDash val="solid"/>
          </a:ln>
        </p:spPr>
      </p:sp>
      <p:sp>
        <p:nvSpPr>
          <p:cNvPr id="74" name="Shape 72"/>
          <p:cNvSpPr/>
          <p:nvPr/>
        </p:nvSpPr>
        <p:spPr>
          <a:xfrm>
            <a:off x="5699760" y="4229100"/>
            <a:ext cx="259080" cy="0"/>
          </a:xfrm>
          <a:prstGeom prst="line">
            <a:avLst/>
          </a:prstGeom>
          <a:noFill/>
          <a:ln w="15240">
            <a:solidFill>
              <a:srgbClr val="93A5AA"/>
            </a:solidFill>
            <a:prstDash val="solid"/>
          </a:ln>
        </p:spPr>
      </p:sp>
      <p:sp>
        <p:nvSpPr>
          <p:cNvPr id="75" name="Shape 73"/>
          <p:cNvSpPr/>
          <p:nvPr/>
        </p:nvSpPr>
        <p:spPr>
          <a:xfrm>
            <a:off x="6050280" y="4015740"/>
            <a:ext cx="312420" cy="38100"/>
          </a:xfrm>
          <a:prstGeom prst="roundRect">
            <a:avLst/>
          </a:prstGeom>
          <a:solidFill>
            <a:srgbClr val="E8ECE8"/>
          </a:solidFill>
          <a:ln w="12700">
            <a:solidFill>
              <a:srgbClr val="E8ECE8">
                <a:alpha val="0"/>
              </a:srgbClr>
            </a:solidFill>
            <a:prstDash val="solid"/>
          </a:ln>
        </p:spPr>
      </p:sp>
      <p:sp>
        <p:nvSpPr>
          <p:cNvPr id="76" name="Shape 74"/>
          <p:cNvSpPr/>
          <p:nvPr/>
        </p:nvSpPr>
        <p:spPr>
          <a:xfrm>
            <a:off x="6050280" y="4015740"/>
            <a:ext cx="74981" cy="38100"/>
          </a:xfrm>
          <a:prstGeom prst="roundRect">
            <a:avLst/>
          </a:prstGeom>
          <a:solidFill>
            <a:srgbClr val="087F7B"/>
          </a:solidFill>
          <a:ln w="12700">
            <a:solidFill>
              <a:srgbClr val="087F7B">
                <a:alpha val="0"/>
              </a:srgbClr>
            </a:solidFill>
            <a:prstDash val="solid"/>
          </a:ln>
        </p:spPr>
      </p:sp>
      <p:sp>
        <p:nvSpPr>
          <p:cNvPr id="77" name="Shape 75"/>
          <p:cNvSpPr/>
          <p:nvPr/>
        </p:nvSpPr>
        <p:spPr>
          <a:xfrm>
            <a:off x="6050280" y="4145280"/>
            <a:ext cx="312420" cy="38100"/>
          </a:xfrm>
          <a:prstGeom prst="roundRect">
            <a:avLst/>
          </a:prstGeom>
          <a:solidFill>
            <a:srgbClr val="E8ECE8"/>
          </a:solidFill>
          <a:ln w="12700">
            <a:solidFill>
              <a:srgbClr val="E8ECE8">
                <a:alpha val="0"/>
              </a:srgbClr>
            </a:solidFill>
            <a:prstDash val="solid"/>
          </a:ln>
        </p:spPr>
      </p:sp>
      <p:sp>
        <p:nvSpPr>
          <p:cNvPr id="78" name="Shape 76"/>
          <p:cNvSpPr/>
          <p:nvPr/>
        </p:nvSpPr>
        <p:spPr>
          <a:xfrm>
            <a:off x="6050280" y="4145280"/>
            <a:ext cx="124968" cy="38100"/>
          </a:xfrm>
          <a:prstGeom prst="roundRect">
            <a:avLst/>
          </a:prstGeom>
          <a:solidFill>
            <a:srgbClr val="93A5AA"/>
          </a:solidFill>
          <a:ln w="12700">
            <a:solidFill>
              <a:srgbClr val="93A5AA">
                <a:alpha val="0"/>
              </a:srgbClr>
            </a:solidFill>
            <a:prstDash val="solid"/>
          </a:ln>
        </p:spPr>
      </p:sp>
      <p:sp>
        <p:nvSpPr>
          <p:cNvPr id="79" name="Shape 77"/>
          <p:cNvSpPr/>
          <p:nvPr/>
        </p:nvSpPr>
        <p:spPr>
          <a:xfrm>
            <a:off x="6050280" y="4274820"/>
            <a:ext cx="312420" cy="38100"/>
          </a:xfrm>
          <a:prstGeom prst="roundRect">
            <a:avLst/>
          </a:prstGeom>
          <a:solidFill>
            <a:srgbClr val="E8ECE8"/>
          </a:solidFill>
          <a:ln w="12700">
            <a:solidFill>
              <a:srgbClr val="E8ECE8">
                <a:alpha val="0"/>
              </a:srgbClr>
            </a:solidFill>
            <a:prstDash val="solid"/>
          </a:ln>
        </p:spPr>
      </p:sp>
      <p:sp>
        <p:nvSpPr>
          <p:cNvPr id="80" name="Shape 78"/>
          <p:cNvSpPr/>
          <p:nvPr/>
        </p:nvSpPr>
        <p:spPr>
          <a:xfrm>
            <a:off x="6050280" y="4274820"/>
            <a:ext cx="174955" cy="38100"/>
          </a:xfrm>
          <a:prstGeom prst="roundRect">
            <a:avLst/>
          </a:prstGeom>
          <a:solidFill>
            <a:srgbClr val="93A5AA"/>
          </a:solidFill>
          <a:ln w="12700">
            <a:solidFill>
              <a:srgbClr val="93A5AA">
                <a:alpha val="0"/>
              </a:srgbClr>
            </a:solidFill>
            <a:prstDash val="solid"/>
          </a:ln>
        </p:spPr>
      </p:sp>
      <p:sp>
        <p:nvSpPr>
          <p:cNvPr id="81" name="Text 79"/>
          <p:cNvSpPr/>
          <p:nvPr/>
        </p:nvSpPr>
        <p:spPr>
          <a:xfrm>
            <a:off x="5715000" y="4373880"/>
            <a:ext cx="6324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06</a:t>
            </a:r>
            <a:endParaRPr lang="en-US" sz="960" dirty="0"/>
          </a:p>
        </p:txBody>
      </p:sp>
      <p:sp>
        <p:nvSpPr>
          <p:cNvPr id="82" name="Shape 80"/>
          <p:cNvSpPr/>
          <p:nvPr/>
        </p:nvSpPr>
        <p:spPr>
          <a:xfrm>
            <a:off x="6591300" y="3878580"/>
            <a:ext cx="861060" cy="731520"/>
          </a:xfrm>
          <a:prstGeom prst="roundRect">
            <a:avLst/>
          </a:prstGeom>
          <a:solidFill>
            <a:srgbClr val="FFFFFF"/>
          </a:solidFill>
          <a:ln w="7620">
            <a:solidFill>
              <a:srgbClr val="D8DFD9"/>
            </a:solidFill>
            <a:prstDash val="solid"/>
          </a:ln>
        </p:spPr>
      </p:sp>
      <p:sp>
        <p:nvSpPr>
          <p:cNvPr id="83" name="Shape 81"/>
          <p:cNvSpPr/>
          <p:nvPr/>
        </p:nvSpPr>
        <p:spPr>
          <a:xfrm>
            <a:off x="6705600" y="3992880"/>
            <a:ext cx="205740" cy="205740"/>
          </a:xfrm>
          <a:prstGeom prst="roundRect">
            <a:avLst/>
          </a:prstGeom>
          <a:solidFill>
            <a:srgbClr val="DFC28E"/>
          </a:solidFill>
          <a:ln w="12700">
            <a:solidFill>
              <a:srgbClr val="DFC28E">
                <a:alpha val="0"/>
              </a:srgbClr>
            </a:solidFill>
            <a:prstDash val="solid"/>
          </a:ln>
        </p:spPr>
      </p:sp>
      <p:sp>
        <p:nvSpPr>
          <p:cNvPr id="84" name="Shape 82"/>
          <p:cNvSpPr/>
          <p:nvPr/>
        </p:nvSpPr>
        <p:spPr>
          <a:xfrm>
            <a:off x="6690360" y="4229100"/>
            <a:ext cx="259080" cy="0"/>
          </a:xfrm>
          <a:prstGeom prst="line">
            <a:avLst/>
          </a:prstGeom>
          <a:noFill/>
          <a:ln w="15240">
            <a:solidFill>
              <a:srgbClr val="93A5AA"/>
            </a:solidFill>
            <a:prstDash val="solid"/>
          </a:ln>
        </p:spPr>
      </p:sp>
      <p:sp>
        <p:nvSpPr>
          <p:cNvPr id="85" name="Shape 83"/>
          <p:cNvSpPr/>
          <p:nvPr/>
        </p:nvSpPr>
        <p:spPr>
          <a:xfrm>
            <a:off x="7040880" y="4015740"/>
            <a:ext cx="312420" cy="38100"/>
          </a:xfrm>
          <a:prstGeom prst="roundRect">
            <a:avLst/>
          </a:prstGeom>
          <a:solidFill>
            <a:srgbClr val="E8ECE8"/>
          </a:solidFill>
          <a:ln w="12700">
            <a:solidFill>
              <a:srgbClr val="E8ECE8">
                <a:alpha val="0"/>
              </a:srgbClr>
            </a:solidFill>
            <a:prstDash val="solid"/>
          </a:ln>
        </p:spPr>
      </p:sp>
      <p:sp>
        <p:nvSpPr>
          <p:cNvPr id="86" name="Shape 84"/>
          <p:cNvSpPr/>
          <p:nvPr/>
        </p:nvSpPr>
        <p:spPr>
          <a:xfrm>
            <a:off x="7040880" y="4015740"/>
            <a:ext cx="174955" cy="38100"/>
          </a:xfrm>
          <a:prstGeom prst="roundRect">
            <a:avLst/>
          </a:prstGeom>
          <a:solidFill>
            <a:srgbClr val="087F7B"/>
          </a:solidFill>
          <a:ln w="12700">
            <a:solidFill>
              <a:srgbClr val="087F7B">
                <a:alpha val="0"/>
              </a:srgbClr>
            </a:solidFill>
            <a:prstDash val="solid"/>
          </a:ln>
        </p:spPr>
      </p:sp>
      <p:sp>
        <p:nvSpPr>
          <p:cNvPr id="87" name="Shape 85"/>
          <p:cNvSpPr/>
          <p:nvPr/>
        </p:nvSpPr>
        <p:spPr>
          <a:xfrm>
            <a:off x="7040880" y="4145280"/>
            <a:ext cx="312420" cy="38100"/>
          </a:xfrm>
          <a:prstGeom prst="roundRect">
            <a:avLst/>
          </a:prstGeom>
          <a:solidFill>
            <a:srgbClr val="E8ECE8"/>
          </a:solidFill>
          <a:ln w="12700">
            <a:solidFill>
              <a:srgbClr val="E8ECE8">
                <a:alpha val="0"/>
              </a:srgbClr>
            </a:solidFill>
            <a:prstDash val="solid"/>
          </a:ln>
        </p:spPr>
      </p:sp>
      <p:sp>
        <p:nvSpPr>
          <p:cNvPr id="88" name="Shape 86"/>
          <p:cNvSpPr/>
          <p:nvPr/>
        </p:nvSpPr>
        <p:spPr>
          <a:xfrm>
            <a:off x="7040880" y="4145280"/>
            <a:ext cx="224942" cy="38100"/>
          </a:xfrm>
          <a:prstGeom prst="roundRect">
            <a:avLst/>
          </a:prstGeom>
          <a:solidFill>
            <a:srgbClr val="93A5AA"/>
          </a:solidFill>
          <a:ln w="12700">
            <a:solidFill>
              <a:srgbClr val="93A5AA">
                <a:alpha val="0"/>
              </a:srgbClr>
            </a:solidFill>
            <a:prstDash val="solid"/>
          </a:ln>
        </p:spPr>
      </p:sp>
      <p:sp>
        <p:nvSpPr>
          <p:cNvPr id="89" name="Shape 87"/>
          <p:cNvSpPr/>
          <p:nvPr/>
        </p:nvSpPr>
        <p:spPr>
          <a:xfrm>
            <a:off x="7040880" y="4274820"/>
            <a:ext cx="312420" cy="38100"/>
          </a:xfrm>
          <a:prstGeom prst="roundRect">
            <a:avLst/>
          </a:prstGeom>
          <a:solidFill>
            <a:srgbClr val="E8ECE8"/>
          </a:solidFill>
          <a:ln w="12700">
            <a:solidFill>
              <a:srgbClr val="E8ECE8">
                <a:alpha val="0"/>
              </a:srgbClr>
            </a:solidFill>
            <a:prstDash val="solid"/>
          </a:ln>
        </p:spPr>
      </p:sp>
      <p:sp>
        <p:nvSpPr>
          <p:cNvPr id="90" name="Shape 88"/>
          <p:cNvSpPr/>
          <p:nvPr/>
        </p:nvSpPr>
        <p:spPr>
          <a:xfrm>
            <a:off x="7040880" y="4274820"/>
            <a:ext cx="274930" cy="38100"/>
          </a:xfrm>
          <a:prstGeom prst="roundRect">
            <a:avLst/>
          </a:prstGeom>
          <a:solidFill>
            <a:srgbClr val="93A5AA"/>
          </a:solidFill>
          <a:ln w="12700">
            <a:solidFill>
              <a:srgbClr val="93A5AA">
                <a:alpha val="0"/>
              </a:srgbClr>
            </a:solidFill>
            <a:prstDash val="solid"/>
          </a:ln>
        </p:spPr>
      </p:sp>
      <p:sp>
        <p:nvSpPr>
          <p:cNvPr id="91" name="Text 89"/>
          <p:cNvSpPr/>
          <p:nvPr/>
        </p:nvSpPr>
        <p:spPr>
          <a:xfrm>
            <a:off x="6705600" y="4373880"/>
            <a:ext cx="632460" cy="175260"/>
          </a:xfrm>
          <a:prstGeom prst="rect">
            <a:avLst/>
          </a:prstGeom>
          <a:noFill/>
          <a:ln/>
        </p:spPr>
        <p:txBody>
          <a:bodyPr wrap="square" lIns="0" tIns="0" rIns="0" bIns="0" rtlCol="0" anchor="t"/>
          <a:lstStyle/>
          <a:p>
            <a:pPr algn="l" indent="0" marL="0">
              <a:lnSpc>
                <a:spcPct val="105000"/>
              </a:lnSpc>
              <a:buNone/>
            </a:pPr>
            <a:r>
              <a:rPr lang="en-US" altLang="en-US" sz="960" b="1" dirty="0">
                <a:solidFill>
                  <a:srgbClr val="62747A"/>
                </a:solidFill>
                <a:latin typeface="Arial" pitchFamily="34" charset="0"/>
                <a:ea typeface="Arial" pitchFamily="34" charset="-122"/>
                <a:cs typeface="Arial" pitchFamily="34" charset="-120"/>
              </a:rPr>
              <a:t>07</a:t>
            </a:r>
            <a:endParaRPr lang="en-US" sz="960" dirty="0"/>
          </a:p>
        </p:txBody>
      </p:sp>
      <p:sp>
        <p:nvSpPr>
          <p:cNvPr id="92" name="Text 90"/>
          <p:cNvSpPr/>
          <p:nvPr/>
        </p:nvSpPr>
        <p:spPr>
          <a:xfrm>
            <a:off x="4610100" y="5044440"/>
            <a:ext cx="2971800" cy="510540"/>
          </a:xfrm>
          <a:prstGeom prst="rect">
            <a:avLst/>
          </a:prstGeom>
          <a:noFill/>
          <a:ln/>
        </p:spPr>
        <p:txBody>
          <a:bodyPr wrap="square" lIns="0" tIns="0" rIns="0" bIns="0" rtlCol="0" anchor="t"/>
          <a:lstStyle/>
          <a:p>
            <a:pPr algn="l" indent="0" marL="0">
              <a:lnSpc>
                <a:spcPct val="105000"/>
              </a:lnSpc>
              <a:buNone/>
            </a:pPr>
            <a:r>
              <a:rPr lang="en-US" altLang="en-US" sz="1500" dirty="0">
                <a:solidFill>
                  <a:srgbClr val="62747A"/>
                </a:solidFill>
                <a:latin typeface="Arial" pitchFamily="34" charset="0"/>
                <a:ea typeface="Arial" pitchFamily="34" charset="-122"/>
                <a:cs typeface="Arial" pitchFamily="34" charset="-120"/>
              </a:rPr>
              <a:t>Sample varied combinations</a:t>
            </a:r>
            <a:endParaRPr lang="en-US" sz="1500" dirty="0"/>
          </a:p>
          <a:p>
            <a:pPr algn="l" indent="0" marL="0">
              <a:lnSpc>
                <a:spcPct val="105000"/>
              </a:lnSpc>
              <a:buNone/>
            </a:pPr>
            <a:r>
              <a:rPr lang="en-US" altLang="en-US" sz="1500" dirty="0">
                <a:solidFill>
                  <a:srgbClr val="62747A"/>
                </a:solidFill>
                <a:latin typeface="Arial" pitchFamily="34" charset="0"/>
                <a:ea typeface="Arial" pitchFamily="34" charset="-122"/>
                <a:cs typeface="Arial" pitchFamily="34" charset="-120"/>
              </a:rPr>
              <a:t>in the simulator.</a:t>
            </a:r>
            <a:endParaRPr lang="en-US" sz="1500" dirty="0"/>
          </a:p>
        </p:txBody>
      </p:sp>
      <p:sp>
        <p:nvSpPr>
          <p:cNvPr id="93" name="Shape 91"/>
          <p:cNvSpPr/>
          <p:nvPr/>
        </p:nvSpPr>
        <p:spPr>
          <a:xfrm>
            <a:off x="8343900" y="2369820"/>
            <a:ext cx="304800" cy="304800"/>
          </a:xfrm>
          <a:prstGeom prst="ellipse">
            <a:avLst/>
          </a:prstGeom>
          <a:solidFill>
            <a:srgbClr val="22434A"/>
          </a:solidFill>
          <a:ln w="12700">
            <a:solidFill>
              <a:srgbClr val="22434A">
                <a:alpha val="0"/>
              </a:srgbClr>
            </a:solidFill>
            <a:prstDash val="solid"/>
          </a:ln>
        </p:spPr>
      </p:sp>
      <p:sp>
        <p:nvSpPr>
          <p:cNvPr id="94" name="Text 92"/>
          <p:cNvSpPr/>
          <p:nvPr/>
        </p:nvSpPr>
        <p:spPr>
          <a:xfrm>
            <a:off x="8343900" y="2415540"/>
            <a:ext cx="304800" cy="220980"/>
          </a:xfrm>
          <a:prstGeom prst="rect">
            <a:avLst/>
          </a:prstGeom>
          <a:noFill/>
          <a:ln/>
        </p:spPr>
        <p:txBody>
          <a:bodyPr wrap="square" lIns="0" tIns="0" rIns="0" bIns="0" rtlCol="0" anchor="t"/>
          <a:lstStyle/>
          <a:p>
            <a:pPr algn="ctr" indent="0" marL="0">
              <a:lnSpc>
                <a:spcPct val="105000"/>
              </a:lnSpc>
              <a:buNone/>
            </a:pPr>
            <a:r>
              <a:rPr lang="en-US" altLang="en-US" sz="1380" b="1" dirty="0">
                <a:solidFill>
                  <a:srgbClr val="FFFFFF"/>
                </a:solidFill>
                <a:latin typeface="Arial" pitchFamily="34" charset="0"/>
                <a:ea typeface="Arial" pitchFamily="34" charset="-122"/>
                <a:cs typeface="Arial" pitchFamily="34" charset="-120"/>
              </a:rPr>
              <a:t>3</a:t>
            </a:r>
            <a:endParaRPr lang="en-US" sz="1380" dirty="0"/>
          </a:p>
        </p:txBody>
      </p:sp>
      <p:sp>
        <p:nvSpPr>
          <p:cNvPr id="95" name="Text 93"/>
          <p:cNvSpPr/>
          <p:nvPr/>
        </p:nvSpPr>
        <p:spPr>
          <a:xfrm>
            <a:off x="8785860" y="2400300"/>
            <a:ext cx="2606040" cy="266700"/>
          </a:xfrm>
          <a:prstGeom prst="rect">
            <a:avLst/>
          </a:prstGeom>
          <a:noFill/>
          <a:ln/>
        </p:spPr>
        <p:txBody>
          <a:bodyPr wrap="square" lIns="0" tIns="0" rIns="0" bIns="0" rtlCol="0" anchor="t"/>
          <a:lstStyle/>
          <a:p>
            <a:pPr algn="l" indent="0" marL="0">
              <a:lnSpc>
                <a:spcPct val="105000"/>
              </a:lnSpc>
              <a:buNone/>
            </a:pPr>
            <a:r>
              <a:rPr lang="en-US" altLang="en-US" sz="1560" b="1" dirty="0">
                <a:solidFill>
                  <a:srgbClr val="183139"/>
                </a:solidFill>
                <a:latin typeface="Arial" pitchFamily="34" charset="0"/>
                <a:ea typeface="Arial" pitchFamily="34" charset="-122"/>
                <a:cs typeface="Arial" pitchFamily="34" charset="-120"/>
              </a:rPr>
              <a:t>Train a conditioned policy</a:t>
            </a:r>
            <a:endParaRPr lang="en-US" sz="1560" dirty="0"/>
          </a:p>
        </p:txBody>
      </p:sp>
      <p:sp>
        <p:nvSpPr>
          <p:cNvPr id="96" name="Text 94"/>
          <p:cNvSpPr/>
          <p:nvPr/>
        </p:nvSpPr>
        <p:spPr>
          <a:xfrm>
            <a:off x="8351520" y="2964180"/>
            <a:ext cx="3017520" cy="243840"/>
          </a:xfrm>
          <a:prstGeom prst="rect">
            <a:avLst/>
          </a:prstGeom>
          <a:noFill/>
          <a:ln/>
        </p:spPr>
        <p:txBody>
          <a:bodyPr wrap="square" lIns="0" tIns="0" rIns="0" bIns="0" rtlCol="0" anchor="t"/>
          <a:lstStyle/>
          <a:p>
            <a:pPr algn="ctr" indent="0" marL="0">
              <a:lnSpc>
                <a:spcPct val="105000"/>
              </a:lnSpc>
              <a:buNone/>
            </a:pPr>
            <a:r>
              <a:rPr lang="en-US" altLang="en-US" sz="1440" dirty="0">
                <a:solidFill>
                  <a:srgbClr val="62747A"/>
                </a:solidFill>
                <a:latin typeface="Arial" pitchFamily="34" charset="0"/>
                <a:ea typeface="Arial" pitchFamily="34" charset="-122"/>
                <a:cs typeface="Arial" pitchFamily="34" charset="-120"/>
              </a:rPr>
              <a:t>State + known physical context</a:t>
            </a:r>
            <a:endParaRPr lang="en-US" sz="1440" dirty="0"/>
          </a:p>
        </p:txBody>
      </p:sp>
      <p:sp>
        <p:nvSpPr>
          <p:cNvPr id="97" name="Shape 95"/>
          <p:cNvSpPr/>
          <p:nvPr/>
        </p:nvSpPr>
        <p:spPr>
          <a:xfrm>
            <a:off x="9159240" y="3345180"/>
            <a:ext cx="302895" cy="403860"/>
          </a:xfrm>
          <a:prstGeom prst="roundRect">
            <a:avLst/>
          </a:prstGeom>
          <a:solidFill>
            <a:srgbClr val="E1EFEB"/>
          </a:solidFill>
          <a:ln w="12700">
            <a:solidFill>
              <a:srgbClr val="E1EFEB">
                <a:alpha val="0"/>
              </a:srgbClr>
            </a:solidFill>
            <a:prstDash val="solid"/>
          </a:ln>
        </p:spPr>
      </p:sp>
      <p:sp>
        <p:nvSpPr>
          <p:cNvPr id="98" name="Shape 96"/>
          <p:cNvSpPr/>
          <p:nvPr/>
        </p:nvSpPr>
        <p:spPr>
          <a:xfrm>
            <a:off x="9234964" y="3438068"/>
            <a:ext cx="151448" cy="222123"/>
          </a:xfrm>
          <a:prstGeom prst="roundRect">
            <a:avLst/>
          </a:prstGeom>
          <a:solidFill>
            <a:srgbClr val="087F7B"/>
          </a:solidFill>
          <a:ln w="12700">
            <a:solidFill>
              <a:srgbClr val="087F7B">
                <a:alpha val="0"/>
              </a:srgbClr>
            </a:solidFill>
            <a:prstDash val="solid"/>
          </a:ln>
        </p:spPr>
      </p:sp>
      <p:sp>
        <p:nvSpPr>
          <p:cNvPr id="99" name="Shape 97"/>
          <p:cNvSpPr/>
          <p:nvPr/>
        </p:nvSpPr>
        <p:spPr>
          <a:xfrm>
            <a:off x="9530715" y="3345180"/>
            <a:ext cx="302895" cy="403860"/>
          </a:xfrm>
          <a:prstGeom prst="roundRect">
            <a:avLst/>
          </a:prstGeom>
          <a:solidFill>
            <a:srgbClr val="E1EFEB"/>
          </a:solidFill>
          <a:ln w="12700">
            <a:solidFill>
              <a:srgbClr val="E1EFEB">
                <a:alpha val="0"/>
              </a:srgbClr>
            </a:solidFill>
            <a:prstDash val="solid"/>
          </a:ln>
        </p:spPr>
      </p:sp>
      <p:sp>
        <p:nvSpPr>
          <p:cNvPr id="100" name="Shape 98"/>
          <p:cNvSpPr/>
          <p:nvPr/>
        </p:nvSpPr>
        <p:spPr>
          <a:xfrm>
            <a:off x="9606439" y="3478454"/>
            <a:ext cx="151448" cy="181737"/>
          </a:xfrm>
          <a:prstGeom prst="roundRect">
            <a:avLst/>
          </a:prstGeom>
          <a:solidFill>
            <a:srgbClr val="087F7B"/>
          </a:solidFill>
          <a:ln w="12700">
            <a:solidFill>
              <a:srgbClr val="087F7B">
                <a:alpha val="0"/>
              </a:srgbClr>
            </a:solidFill>
            <a:prstDash val="solid"/>
          </a:ln>
        </p:spPr>
      </p:sp>
      <p:sp>
        <p:nvSpPr>
          <p:cNvPr id="101" name="Shape 99"/>
          <p:cNvSpPr/>
          <p:nvPr/>
        </p:nvSpPr>
        <p:spPr>
          <a:xfrm>
            <a:off x="9902190" y="3345180"/>
            <a:ext cx="302895" cy="403860"/>
          </a:xfrm>
          <a:prstGeom prst="roundRect">
            <a:avLst/>
          </a:prstGeom>
          <a:solidFill>
            <a:srgbClr val="E1EFEB"/>
          </a:solidFill>
          <a:ln w="12700">
            <a:solidFill>
              <a:srgbClr val="E1EFEB">
                <a:alpha val="0"/>
              </a:srgbClr>
            </a:solidFill>
            <a:prstDash val="solid"/>
          </a:ln>
        </p:spPr>
      </p:sp>
      <p:sp>
        <p:nvSpPr>
          <p:cNvPr id="102" name="Shape 100"/>
          <p:cNvSpPr/>
          <p:nvPr/>
        </p:nvSpPr>
        <p:spPr>
          <a:xfrm>
            <a:off x="9977914" y="3518840"/>
            <a:ext cx="151448" cy="141351"/>
          </a:xfrm>
          <a:prstGeom prst="roundRect">
            <a:avLst/>
          </a:prstGeom>
          <a:solidFill>
            <a:srgbClr val="087F7B"/>
          </a:solidFill>
          <a:ln w="12700">
            <a:solidFill>
              <a:srgbClr val="087F7B">
                <a:alpha val="0"/>
              </a:srgbClr>
            </a:solidFill>
            <a:prstDash val="solid"/>
          </a:ln>
        </p:spPr>
      </p:sp>
      <p:sp>
        <p:nvSpPr>
          <p:cNvPr id="103" name="Shape 101"/>
          <p:cNvSpPr/>
          <p:nvPr/>
        </p:nvSpPr>
        <p:spPr>
          <a:xfrm>
            <a:off x="10273665" y="3345180"/>
            <a:ext cx="302895" cy="403860"/>
          </a:xfrm>
          <a:prstGeom prst="roundRect">
            <a:avLst/>
          </a:prstGeom>
          <a:solidFill>
            <a:srgbClr val="E1EFEB"/>
          </a:solidFill>
          <a:ln w="12700">
            <a:solidFill>
              <a:srgbClr val="E1EFEB">
                <a:alpha val="0"/>
              </a:srgbClr>
            </a:solidFill>
            <a:prstDash val="solid"/>
          </a:ln>
        </p:spPr>
      </p:sp>
      <p:sp>
        <p:nvSpPr>
          <p:cNvPr id="104" name="Shape 102"/>
          <p:cNvSpPr/>
          <p:nvPr/>
        </p:nvSpPr>
        <p:spPr>
          <a:xfrm>
            <a:off x="10349389" y="3438068"/>
            <a:ext cx="151448" cy="222123"/>
          </a:xfrm>
          <a:prstGeom prst="roundRect">
            <a:avLst/>
          </a:prstGeom>
          <a:solidFill>
            <a:srgbClr val="087F7B"/>
          </a:solidFill>
          <a:ln w="12700">
            <a:solidFill>
              <a:srgbClr val="087F7B">
                <a:alpha val="0"/>
              </a:srgbClr>
            </a:solidFill>
            <a:prstDash val="solid"/>
          </a:ln>
        </p:spPr>
      </p:sp>
      <p:sp>
        <p:nvSpPr>
          <p:cNvPr id="105" name="Shape 103"/>
          <p:cNvSpPr/>
          <p:nvPr/>
        </p:nvSpPr>
        <p:spPr>
          <a:xfrm>
            <a:off x="9867900" y="3863340"/>
            <a:ext cx="0" cy="266700"/>
          </a:xfrm>
          <a:prstGeom prst="line">
            <a:avLst/>
          </a:prstGeom>
          <a:noFill/>
          <a:ln w="19050">
            <a:solidFill>
              <a:srgbClr val="087F7B"/>
            </a:solidFill>
            <a:prstDash val="solid"/>
            <a:tailEnd type="triangle"/>
          </a:ln>
        </p:spPr>
      </p:sp>
      <p:sp>
        <p:nvSpPr>
          <p:cNvPr id="106" name="Shape 104"/>
          <p:cNvSpPr/>
          <p:nvPr/>
        </p:nvSpPr>
        <p:spPr>
          <a:xfrm>
            <a:off x="8610600" y="4236720"/>
            <a:ext cx="2514600" cy="601980"/>
          </a:xfrm>
          <a:prstGeom prst="roundRect">
            <a:avLst/>
          </a:prstGeom>
          <a:solidFill>
            <a:srgbClr val="E8ECE8"/>
          </a:solidFill>
          <a:ln w="12700">
            <a:solidFill>
              <a:srgbClr val="E8ECE8">
                <a:alpha val="0"/>
              </a:srgbClr>
            </a:solidFill>
            <a:prstDash val="solid"/>
          </a:ln>
        </p:spPr>
      </p:sp>
      <p:sp>
        <p:nvSpPr>
          <p:cNvPr id="107" name="Text 105"/>
          <p:cNvSpPr/>
          <p:nvPr/>
        </p:nvSpPr>
        <p:spPr>
          <a:xfrm>
            <a:off x="8732520" y="4419600"/>
            <a:ext cx="2270760" cy="304800"/>
          </a:xfrm>
          <a:prstGeom prst="rect">
            <a:avLst/>
          </a:prstGeom>
          <a:noFill/>
          <a:ln/>
        </p:spPr>
        <p:txBody>
          <a:bodyPr wrap="square" lIns="0" tIns="0" rIns="0" bIns="0" rtlCol="0" anchor="t"/>
          <a:lstStyle/>
          <a:p>
            <a:pPr algn="ctr" indent="0" marL="0">
              <a:lnSpc>
                <a:spcPct val="105000"/>
              </a:lnSpc>
              <a:buNone/>
            </a:pPr>
            <a:r>
              <a:rPr lang="en-US" altLang="en-US" sz="1800" b="1" dirty="0">
                <a:solidFill>
                  <a:srgbClr val="183139"/>
                </a:solidFill>
                <a:latin typeface="Arial" pitchFamily="34" charset="0"/>
                <a:ea typeface="Arial" pitchFamily="34" charset="-122"/>
                <a:cs typeface="Arial" pitchFamily="34" charset="-120"/>
              </a:rPr>
              <a:t>Policy training</a:t>
            </a:r>
            <a:endParaRPr lang="en-US" sz="1800" dirty="0"/>
          </a:p>
        </p:txBody>
      </p:sp>
      <p:sp>
        <p:nvSpPr>
          <p:cNvPr id="108" name="Text 106"/>
          <p:cNvSpPr/>
          <p:nvPr/>
        </p:nvSpPr>
        <p:spPr>
          <a:xfrm>
            <a:off x="8382000" y="5044440"/>
            <a:ext cx="2971800" cy="510540"/>
          </a:xfrm>
          <a:prstGeom prst="rect">
            <a:avLst/>
          </a:prstGeom>
          <a:noFill/>
          <a:ln/>
        </p:spPr>
        <p:txBody>
          <a:bodyPr wrap="square" lIns="0" tIns="0" rIns="0" bIns="0" rtlCol="0" anchor="t"/>
          <a:lstStyle/>
          <a:p>
            <a:pPr algn="l" indent="0" marL="0">
              <a:lnSpc>
                <a:spcPct val="105000"/>
              </a:lnSpc>
              <a:buNone/>
            </a:pPr>
            <a:r>
              <a:rPr lang="en-US" altLang="en-US" sz="1500" dirty="0">
                <a:solidFill>
                  <a:srgbClr val="62747A"/>
                </a:solidFill>
                <a:latin typeface="Arial" pitchFamily="34" charset="0"/>
                <a:ea typeface="Arial" pitchFamily="34" charset="-122"/>
                <a:cs typeface="Arial" pitchFamily="34" charset="-120"/>
              </a:rPr>
              <a:t>Learn execution across</a:t>
            </a:r>
            <a:endParaRPr lang="en-US" sz="1500" dirty="0"/>
          </a:p>
          <a:p>
            <a:pPr algn="l" indent="0" marL="0">
              <a:lnSpc>
                <a:spcPct val="105000"/>
              </a:lnSpc>
              <a:buNone/>
            </a:pPr>
            <a:r>
              <a:rPr lang="en-US" altLang="en-US" sz="1500" dirty="0">
                <a:solidFill>
                  <a:srgbClr val="62747A"/>
                </a:solidFill>
                <a:latin typeface="Arial" pitchFamily="34" charset="0"/>
                <a:ea typeface="Arial" pitchFamily="34" charset="-122"/>
                <a:cs typeface="Arial" pitchFamily="34" charset="-120"/>
              </a:rPr>
              <a:t>the modeled conditions.</a:t>
            </a:r>
            <a:endParaRPr lang="en-US" sz="1500" dirty="0"/>
          </a:p>
        </p:txBody>
      </p:sp>
      <p:sp>
        <p:nvSpPr>
          <p:cNvPr id="109" name="Shape 107"/>
          <p:cNvSpPr/>
          <p:nvPr/>
        </p:nvSpPr>
        <p:spPr>
          <a:xfrm>
            <a:off x="4145280" y="3886200"/>
            <a:ext cx="121920" cy="0"/>
          </a:xfrm>
          <a:prstGeom prst="line">
            <a:avLst/>
          </a:prstGeom>
          <a:noFill/>
          <a:ln w="19050">
            <a:solidFill>
              <a:srgbClr val="93A5AA"/>
            </a:solidFill>
            <a:prstDash val="solid"/>
            <a:tailEnd type="triangle"/>
          </a:ln>
        </p:spPr>
      </p:sp>
      <p:sp>
        <p:nvSpPr>
          <p:cNvPr id="110" name="Shape 108"/>
          <p:cNvSpPr/>
          <p:nvPr/>
        </p:nvSpPr>
        <p:spPr>
          <a:xfrm>
            <a:off x="7917180" y="3886200"/>
            <a:ext cx="121920" cy="0"/>
          </a:xfrm>
          <a:prstGeom prst="line">
            <a:avLst/>
          </a:prstGeom>
          <a:noFill/>
          <a:ln w="19050">
            <a:solidFill>
              <a:srgbClr val="93A5AA"/>
            </a:solidFill>
            <a:prstDash val="solid"/>
            <a:tailEnd type="triangle"/>
          </a:ln>
        </p:spPr>
      </p:sp>
      <p:sp>
        <p:nvSpPr>
          <p:cNvPr id="111" name="Text 109"/>
          <p:cNvSpPr/>
          <p:nvPr/>
        </p:nvSpPr>
        <p:spPr>
          <a:xfrm>
            <a:off x="609600" y="5844540"/>
            <a:ext cx="10972800" cy="281940"/>
          </a:xfrm>
          <a:prstGeom prst="rect">
            <a:avLst/>
          </a:prstGeom>
          <a:noFill/>
          <a:ln/>
        </p:spPr>
        <p:txBody>
          <a:bodyPr wrap="square" lIns="0" tIns="0" rIns="0" bIns="0" rtlCol="0" anchor="t"/>
          <a:lstStyle/>
          <a:p>
            <a:pPr algn="l" indent="0" marL="0">
              <a:lnSpc>
                <a:spcPct val="105000"/>
              </a:lnSpc>
              <a:buNone/>
            </a:pPr>
            <a:r>
              <a:rPr lang="en-US" altLang="en-US" sz="1680" dirty="0">
                <a:solidFill>
                  <a:srgbClr val="183139"/>
                </a:solidFill>
                <a:latin typeface="Arial" pitchFamily="34" charset="0"/>
                <a:ea typeface="Arial" pitchFamily="34" charset="-122"/>
                <a:cs typeface="Arial" pitchFamily="34" charset="-120"/>
              </a:rPr>
              <a:t>Selected variables provide an approximation of the physical environment.</a:t>
            </a:r>
            <a:endParaRPr lang="en-US" sz="1680" dirty="0"/>
          </a:p>
        </p:txBody>
      </p:sp>
      <p:sp>
        <p:nvSpPr>
          <p:cNvPr id="112" name="Text 110"/>
          <p:cNvSpPr/>
          <p:nvPr/>
        </p:nvSpPr>
        <p:spPr>
          <a:xfrm>
            <a:off x="609600" y="6187440"/>
            <a:ext cx="109728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Method reference: CREST · Lee et al., ICRA 2021 · arxiv.org/abs/2103.16772</a:t>
            </a:r>
            <a:endParaRPr lang="en-US" sz="9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06 · CURRENT EXPERIMENT</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360" b="1" dirty="0">
                <a:solidFill>
                  <a:srgbClr val="183139"/>
                </a:solidFill>
                <a:latin typeface="Arial" pitchFamily="34" charset="0"/>
                <a:ea typeface="Arial" pitchFamily="34" charset="-122"/>
                <a:cs typeface="Arial" pitchFamily="34" charset="-120"/>
              </a:rPr>
              <a:t>Form the initial estimate at deployment</a:t>
            </a:r>
            <a:endParaRPr lang="en-US" sz="336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Study how initial observations become a useful approximation of physical conditions.</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INITIAL PHYSICAL UNDERSTANDING  /  MENTOR DISCUSSION</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06 / 07</a:t>
            </a:r>
            <a:endParaRPr lang="en-US" sz="1140" dirty="0"/>
          </a:p>
        </p:txBody>
      </p:sp>
      <p:sp>
        <p:nvSpPr>
          <p:cNvPr id="10" name="Shape 8"/>
          <p:cNvSpPr/>
          <p:nvPr/>
        </p:nvSpPr>
        <p:spPr>
          <a:xfrm>
            <a:off x="609600" y="2438400"/>
            <a:ext cx="2468880" cy="2118360"/>
          </a:xfrm>
          <a:prstGeom prst="roundRect">
            <a:avLst/>
          </a:prstGeom>
          <a:solidFill>
            <a:srgbClr val="FFFFFF"/>
          </a:solidFill>
          <a:ln w="12700">
            <a:solidFill>
              <a:srgbClr val="FFFFFF">
                <a:alpha val="0"/>
              </a:srgbClr>
            </a:solidFill>
            <a:prstDash val="solid"/>
          </a:ln>
        </p:spPr>
      </p:sp>
      <p:sp>
        <p:nvSpPr>
          <p:cNvPr id="11" name="Shape 9"/>
          <p:cNvSpPr/>
          <p:nvPr/>
        </p:nvSpPr>
        <p:spPr>
          <a:xfrm>
            <a:off x="3444240" y="2438400"/>
            <a:ext cx="2468880" cy="2118360"/>
          </a:xfrm>
          <a:prstGeom prst="roundRect">
            <a:avLst/>
          </a:prstGeom>
          <a:solidFill>
            <a:srgbClr val="E1EFEB"/>
          </a:solidFill>
          <a:ln w="15240">
            <a:solidFill>
              <a:srgbClr val="087F7B"/>
            </a:solidFill>
            <a:prstDash val="solid"/>
          </a:ln>
        </p:spPr>
      </p:sp>
      <p:sp>
        <p:nvSpPr>
          <p:cNvPr id="12" name="Shape 10"/>
          <p:cNvSpPr/>
          <p:nvPr/>
        </p:nvSpPr>
        <p:spPr>
          <a:xfrm>
            <a:off x="6278880" y="2438400"/>
            <a:ext cx="2468880" cy="2118360"/>
          </a:xfrm>
          <a:prstGeom prst="roundRect">
            <a:avLst/>
          </a:prstGeom>
          <a:solidFill>
            <a:srgbClr val="FFFFFF"/>
          </a:solidFill>
          <a:ln w="12700">
            <a:solidFill>
              <a:srgbClr val="FFFFFF">
                <a:alpha val="0"/>
              </a:srgbClr>
            </a:solidFill>
            <a:prstDash val="solid"/>
          </a:ln>
        </p:spPr>
      </p:sp>
      <p:sp>
        <p:nvSpPr>
          <p:cNvPr id="13" name="Shape 11"/>
          <p:cNvSpPr/>
          <p:nvPr/>
        </p:nvSpPr>
        <p:spPr>
          <a:xfrm>
            <a:off x="9113520" y="2438400"/>
            <a:ext cx="2468880" cy="2118360"/>
          </a:xfrm>
          <a:prstGeom prst="roundRect">
            <a:avLst/>
          </a:prstGeom>
          <a:solidFill>
            <a:srgbClr val="FFFFFF"/>
          </a:solidFill>
          <a:ln w="12700">
            <a:solidFill>
              <a:srgbClr val="FFFFFF">
                <a:alpha val="0"/>
              </a:srgbClr>
            </a:solidFill>
            <a:prstDash val="solid"/>
          </a:ln>
        </p:spPr>
      </p:sp>
      <p:sp>
        <p:nvSpPr>
          <p:cNvPr id="14" name="Text 12"/>
          <p:cNvSpPr/>
          <p:nvPr/>
        </p:nvSpPr>
        <p:spPr>
          <a:xfrm>
            <a:off x="800100" y="2621280"/>
            <a:ext cx="208788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Observe</a:t>
            </a:r>
            <a:endParaRPr lang="en-US" sz="1740" dirty="0"/>
          </a:p>
        </p:txBody>
      </p:sp>
      <p:sp>
        <p:nvSpPr>
          <p:cNvPr id="15" name="Shape 13"/>
          <p:cNvSpPr/>
          <p:nvPr/>
        </p:nvSpPr>
        <p:spPr>
          <a:xfrm>
            <a:off x="1432560" y="3268980"/>
            <a:ext cx="838200" cy="495300"/>
          </a:xfrm>
          <a:prstGeom prst="roundRect">
            <a:avLst/>
          </a:prstGeom>
          <a:solidFill>
            <a:srgbClr val="22434A"/>
          </a:solidFill>
          <a:ln w="12700">
            <a:solidFill>
              <a:srgbClr val="22434A">
                <a:alpha val="0"/>
              </a:srgbClr>
            </a:solidFill>
            <a:prstDash val="solid"/>
          </a:ln>
        </p:spPr>
      </p:sp>
      <p:sp>
        <p:nvSpPr>
          <p:cNvPr id="16" name="Shape 14"/>
          <p:cNvSpPr/>
          <p:nvPr/>
        </p:nvSpPr>
        <p:spPr>
          <a:xfrm>
            <a:off x="1554480" y="3169920"/>
            <a:ext cx="310134" cy="175260"/>
          </a:xfrm>
          <a:prstGeom prst="roundRect">
            <a:avLst/>
          </a:prstGeom>
          <a:solidFill>
            <a:srgbClr val="22434A"/>
          </a:solidFill>
          <a:ln w="12700">
            <a:solidFill>
              <a:srgbClr val="22434A">
                <a:alpha val="0"/>
              </a:srgbClr>
            </a:solidFill>
            <a:prstDash val="solid"/>
          </a:ln>
        </p:spPr>
      </p:sp>
      <p:sp>
        <p:nvSpPr>
          <p:cNvPr id="17" name="Shape 15"/>
          <p:cNvSpPr/>
          <p:nvPr/>
        </p:nvSpPr>
        <p:spPr>
          <a:xfrm>
            <a:off x="1818132" y="3345180"/>
            <a:ext cx="327660" cy="327660"/>
          </a:xfrm>
          <a:prstGeom prst="ellipse">
            <a:avLst/>
          </a:prstGeom>
          <a:solidFill>
            <a:srgbClr val="E1EFEB"/>
          </a:solidFill>
          <a:ln w="12700">
            <a:solidFill>
              <a:srgbClr val="E1EFEB">
                <a:alpha val="0"/>
              </a:srgbClr>
            </a:solidFill>
            <a:prstDash val="solid"/>
          </a:ln>
        </p:spPr>
      </p:sp>
      <p:sp>
        <p:nvSpPr>
          <p:cNvPr id="18" name="Shape 16"/>
          <p:cNvSpPr/>
          <p:nvPr/>
        </p:nvSpPr>
        <p:spPr>
          <a:xfrm>
            <a:off x="1894332" y="3421380"/>
            <a:ext cx="175260" cy="175260"/>
          </a:xfrm>
          <a:prstGeom prst="ellipse">
            <a:avLst/>
          </a:prstGeom>
          <a:solidFill>
            <a:srgbClr val="087F7B"/>
          </a:solidFill>
          <a:ln w="12700">
            <a:solidFill>
              <a:srgbClr val="087F7B">
                <a:alpha val="0"/>
              </a:srgbClr>
            </a:solidFill>
            <a:prstDash val="solid"/>
          </a:ln>
        </p:spPr>
      </p:sp>
      <p:sp>
        <p:nvSpPr>
          <p:cNvPr id="19" name="Shape 17"/>
          <p:cNvSpPr/>
          <p:nvPr/>
        </p:nvSpPr>
        <p:spPr>
          <a:xfrm>
            <a:off x="1524000" y="3368040"/>
            <a:ext cx="76200" cy="76200"/>
          </a:xfrm>
          <a:prstGeom prst="ellipse">
            <a:avLst/>
          </a:prstGeom>
          <a:solidFill>
            <a:srgbClr val="A5CBC0"/>
          </a:solidFill>
          <a:ln w="12700">
            <a:solidFill>
              <a:srgbClr val="A5CBC0">
                <a:alpha val="0"/>
              </a:srgbClr>
            </a:solidFill>
            <a:prstDash val="solid"/>
          </a:ln>
        </p:spPr>
      </p:sp>
      <p:sp>
        <p:nvSpPr>
          <p:cNvPr id="20" name="Text 18"/>
          <p:cNvSpPr/>
          <p:nvPr/>
        </p:nvSpPr>
        <p:spPr>
          <a:xfrm>
            <a:off x="784860" y="4175760"/>
            <a:ext cx="2118360" cy="243840"/>
          </a:xfrm>
          <a:prstGeom prst="rect">
            <a:avLst/>
          </a:prstGeom>
          <a:noFill/>
          <a:ln/>
        </p:spPr>
        <p:txBody>
          <a:bodyPr wrap="square" lIns="0" tIns="0" rIns="0" bIns="0" rtlCol="0" anchor="t"/>
          <a:lstStyle/>
          <a:p>
            <a:pPr algn="ctr" indent="0" marL="0">
              <a:lnSpc>
                <a:spcPct val="105000"/>
              </a:lnSpc>
              <a:buNone/>
            </a:pPr>
            <a:r>
              <a:rPr lang="en-US" altLang="en-US" sz="1440" dirty="0">
                <a:solidFill>
                  <a:srgbClr val="62747A"/>
                </a:solidFill>
                <a:latin typeface="Arial" pitchFamily="34" charset="0"/>
                <a:ea typeface="Arial" pitchFamily="34" charset="-122"/>
                <a:cs typeface="Arial" pitchFamily="34" charset="-120"/>
              </a:rPr>
              <a:t>Initial observations</a:t>
            </a:r>
            <a:endParaRPr lang="en-US" sz="1440" dirty="0"/>
          </a:p>
        </p:txBody>
      </p:sp>
      <p:sp>
        <p:nvSpPr>
          <p:cNvPr id="21" name="Text 19"/>
          <p:cNvSpPr/>
          <p:nvPr/>
        </p:nvSpPr>
        <p:spPr>
          <a:xfrm>
            <a:off x="3634740" y="2621280"/>
            <a:ext cx="208788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087F7B"/>
                </a:solidFill>
                <a:latin typeface="Arial" pitchFamily="34" charset="0"/>
                <a:ea typeface="Arial" pitchFamily="34" charset="-122"/>
                <a:cs typeface="Arial" pitchFamily="34" charset="-120"/>
              </a:rPr>
              <a:t>Estimate</a:t>
            </a:r>
            <a:endParaRPr lang="en-US" sz="1740" dirty="0"/>
          </a:p>
        </p:txBody>
      </p:sp>
      <p:sp>
        <p:nvSpPr>
          <p:cNvPr id="22" name="Shape 20"/>
          <p:cNvSpPr/>
          <p:nvPr/>
        </p:nvSpPr>
        <p:spPr>
          <a:xfrm>
            <a:off x="3916680" y="3268980"/>
            <a:ext cx="329565" cy="495300"/>
          </a:xfrm>
          <a:prstGeom prst="roundRect">
            <a:avLst/>
          </a:prstGeom>
          <a:solidFill>
            <a:srgbClr val="E1EFEB"/>
          </a:solidFill>
          <a:ln w="12700">
            <a:solidFill>
              <a:srgbClr val="E1EFEB">
                <a:alpha val="0"/>
              </a:srgbClr>
            </a:solidFill>
            <a:prstDash val="solid"/>
          </a:ln>
        </p:spPr>
      </p:sp>
      <p:sp>
        <p:nvSpPr>
          <p:cNvPr id="23" name="Shape 21"/>
          <p:cNvSpPr/>
          <p:nvPr/>
        </p:nvSpPr>
        <p:spPr>
          <a:xfrm>
            <a:off x="3999071" y="3382899"/>
            <a:ext cx="164783" cy="272415"/>
          </a:xfrm>
          <a:prstGeom prst="roundRect">
            <a:avLst/>
          </a:prstGeom>
          <a:solidFill>
            <a:srgbClr val="087F7B"/>
          </a:solidFill>
          <a:ln w="12700">
            <a:solidFill>
              <a:srgbClr val="087F7B">
                <a:alpha val="0"/>
              </a:srgbClr>
            </a:solidFill>
            <a:prstDash val="solid"/>
          </a:ln>
        </p:spPr>
      </p:sp>
      <p:sp>
        <p:nvSpPr>
          <p:cNvPr id="24" name="Shape 22"/>
          <p:cNvSpPr/>
          <p:nvPr/>
        </p:nvSpPr>
        <p:spPr>
          <a:xfrm>
            <a:off x="4314825" y="3268980"/>
            <a:ext cx="329565" cy="495300"/>
          </a:xfrm>
          <a:prstGeom prst="roundRect">
            <a:avLst/>
          </a:prstGeom>
          <a:solidFill>
            <a:srgbClr val="E1EFEB"/>
          </a:solidFill>
          <a:ln w="12700">
            <a:solidFill>
              <a:srgbClr val="E1EFEB">
                <a:alpha val="0"/>
              </a:srgbClr>
            </a:solidFill>
            <a:prstDash val="solid"/>
          </a:ln>
        </p:spPr>
      </p:sp>
      <p:sp>
        <p:nvSpPr>
          <p:cNvPr id="25" name="Shape 23"/>
          <p:cNvSpPr/>
          <p:nvPr/>
        </p:nvSpPr>
        <p:spPr>
          <a:xfrm>
            <a:off x="4397216" y="3432429"/>
            <a:ext cx="164783" cy="222885"/>
          </a:xfrm>
          <a:prstGeom prst="roundRect">
            <a:avLst/>
          </a:prstGeom>
          <a:solidFill>
            <a:srgbClr val="087F7B"/>
          </a:solidFill>
          <a:ln w="12700">
            <a:solidFill>
              <a:srgbClr val="087F7B">
                <a:alpha val="0"/>
              </a:srgbClr>
            </a:solidFill>
            <a:prstDash val="solid"/>
          </a:ln>
        </p:spPr>
      </p:sp>
      <p:sp>
        <p:nvSpPr>
          <p:cNvPr id="26" name="Shape 24"/>
          <p:cNvSpPr/>
          <p:nvPr/>
        </p:nvSpPr>
        <p:spPr>
          <a:xfrm>
            <a:off x="4712970" y="3268980"/>
            <a:ext cx="329565" cy="495300"/>
          </a:xfrm>
          <a:prstGeom prst="roundRect">
            <a:avLst/>
          </a:prstGeom>
          <a:solidFill>
            <a:srgbClr val="E1EFEB"/>
          </a:solidFill>
          <a:ln w="12700">
            <a:solidFill>
              <a:srgbClr val="E1EFEB">
                <a:alpha val="0"/>
              </a:srgbClr>
            </a:solidFill>
            <a:prstDash val="solid"/>
          </a:ln>
        </p:spPr>
      </p:sp>
      <p:sp>
        <p:nvSpPr>
          <p:cNvPr id="27" name="Shape 25"/>
          <p:cNvSpPr/>
          <p:nvPr/>
        </p:nvSpPr>
        <p:spPr>
          <a:xfrm>
            <a:off x="4795361" y="3481959"/>
            <a:ext cx="164783" cy="173355"/>
          </a:xfrm>
          <a:prstGeom prst="roundRect">
            <a:avLst/>
          </a:prstGeom>
          <a:solidFill>
            <a:srgbClr val="087F7B"/>
          </a:solidFill>
          <a:ln w="12700">
            <a:solidFill>
              <a:srgbClr val="087F7B">
                <a:alpha val="0"/>
              </a:srgbClr>
            </a:solidFill>
            <a:prstDash val="solid"/>
          </a:ln>
        </p:spPr>
      </p:sp>
      <p:sp>
        <p:nvSpPr>
          <p:cNvPr id="28" name="Shape 26"/>
          <p:cNvSpPr/>
          <p:nvPr/>
        </p:nvSpPr>
        <p:spPr>
          <a:xfrm>
            <a:off x="5111115" y="3268980"/>
            <a:ext cx="329565" cy="495300"/>
          </a:xfrm>
          <a:prstGeom prst="roundRect">
            <a:avLst/>
          </a:prstGeom>
          <a:solidFill>
            <a:srgbClr val="E1EFEB"/>
          </a:solidFill>
          <a:ln w="12700">
            <a:solidFill>
              <a:srgbClr val="E1EFEB">
                <a:alpha val="0"/>
              </a:srgbClr>
            </a:solidFill>
            <a:prstDash val="solid"/>
          </a:ln>
        </p:spPr>
      </p:sp>
      <p:sp>
        <p:nvSpPr>
          <p:cNvPr id="29" name="Shape 27"/>
          <p:cNvSpPr/>
          <p:nvPr/>
        </p:nvSpPr>
        <p:spPr>
          <a:xfrm>
            <a:off x="5193506" y="3382899"/>
            <a:ext cx="164783" cy="272415"/>
          </a:xfrm>
          <a:prstGeom prst="roundRect">
            <a:avLst/>
          </a:prstGeom>
          <a:solidFill>
            <a:srgbClr val="087F7B"/>
          </a:solidFill>
          <a:ln w="12700">
            <a:solidFill>
              <a:srgbClr val="087F7B">
                <a:alpha val="0"/>
              </a:srgbClr>
            </a:solidFill>
            <a:prstDash val="solid"/>
          </a:ln>
        </p:spPr>
      </p:sp>
      <p:sp>
        <p:nvSpPr>
          <p:cNvPr id="30" name="Text 28"/>
          <p:cNvSpPr/>
          <p:nvPr/>
        </p:nvSpPr>
        <p:spPr>
          <a:xfrm>
            <a:off x="3558540" y="4175760"/>
            <a:ext cx="2240280" cy="228600"/>
          </a:xfrm>
          <a:prstGeom prst="rect">
            <a:avLst/>
          </a:prstGeom>
          <a:noFill/>
          <a:ln/>
        </p:spPr>
        <p:txBody>
          <a:bodyPr wrap="square" lIns="0" tIns="0" rIns="0" bIns="0" rtlCol="0" anchor="t"/>
          <a:lstStyle/>
          <a:p>
            <a:pPr algn="ctr" indent="0" marL="0">
              <a:lnSpc>
                <a:spcPct val="105000"/>
              </a:lnSpc>
              <a:buNone/>
            </a:pPr>
            <a:r>
              <a:rPr lang="en-US" altLang="en-US" sz="1320" dirty="0">
                <a:solidFill>
                  <a:srgbClr val="087F7B"/>
                </a:solidFill>
                <a:latin typeface="Arial" pitchFamily="34" charset="0"/>
                <a:ea typeface="Arial" pitchFamily="34" charset="-122"/>
                <a:cs typeface="Arial" pitchFamily="34" charset="-120"/>
              </a:rPr>
              <a:t>Selected physical properties</a:t>
            </a:r>
            <a:endParaRPr lang="en-US" sz="1320" dirty="0"/>
          </a:p>
        </p:txBody>
      </p:sp>
      <p:sp>
        <p:nvSpPr>
          <p:cNvPr id="31" name="Text 29"/>
          <p:cNvSpPr/>
          <p:nvPr/>
        </p:nvSpPr>
        <p:spPr>
          <a:xfrm>
            <a:off x="6469380" y="2621280"/>
            <a:ext cx="208788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Condition</a:t>
            </a:r>
            <a:endParaRPr lang="en-US" sz="1740" dirty="0"/>
          </a:p>
        </p:txBody>
      </p:sp>
      <p:sp>
        <p:nvSpPr>
          <p:cNvPr id="32" name="Shape 30"/>
          <p:cNvSpPr/>
          <p:nvPr/>
        </p:nvSpPr>
        <p:spPr>
          <a:xfrm flipV="1">
            <a:off x="6918960" y="3227070"/>
            <a:ext cx="590550" cy="31750"/>
          </a:xfrm>
          <a:prstGeom prst="line">
            <a:avLst/>
          </a:prstGeom>
          <a:noFill/>
          <a:ln w="11430">
            <a:solidFill>
              <a:srgbClr val="A5CBC0"/>
            </a:solidFill>
            <a:prstDash val="solid"/>
          </a:ln>
        </p:spPr>
      </p:sp>
      <p:sp>
        <p:nvSpPr>
          <p:cNvPr id="33" name="Shape 31"/>
          <p:cNvSpPr/>
          <p:nvPr/>
        </p:nvSpPr>
        <p:spPr>
          <a:xfrm>
            <a:off x="6918960" y="3258820"/>
            <a:ext cx="590550" cy="158750"/>
          </a:xfrm>
          <a:prstGeom prst="line">
            <a:avLst/>
          </a:prstGeom>
          <a:noFill/>
          <a:ln w="11430">
            <a:solidFill>
              <a:srgbClr val="A5CBC0"/>
            </a:solidFill>
            <a:prstDash val="solid"/>
          </a:ln>
        </p:spPr>
      </p:sp>
      <p:sp>
        <p:nvSpPr>
          <p:cNvPr id="34" name="Shape 32"/>
          <p:cNvSpPr/>
          <p:nvPr/>
        </p:nvSpPr>
        <p:spPr>
          <a:xfrm>
            <a:off x="6918960" y="3258820"/>
            <a:ext cx="590550" cy="349250"/>
          </a:xfrm>
          <a:prstGeom prst="line">
            <a:avLst/>
          </a:prstGeom>
          <a:noFill/>
          <a:ln w="11430">
            <a:solidFill>
              <a:srgbClr val="A5CBC0"/>
            </a:solidFill>
            <a:prstDash val="solid"/>
          </a:ln>
        </p:spPr>
      </p:sp>
      <p:sp>
        <p:nvSpPr>
          <p:cNvPr id="35" name="Shape 33"/>
          <p:cNvSpPr/>
          <p:nvPr/>
        </p:nvSpPr>
        <p:spPr>
          <a:xfrm>
            <a:off x="6918960" y="3258820"/>
            <a:ext cx="590550" cy="539750"/>
          </a:xfrm>
          <a:prstGeom prst="line">
            <a:avLst/>
          </a:prstGeom>
          <a:noFill/>
          <a:ln w="11430">
            <a:solidFill>
              <a:srgbClr val="A5CBC0"/>
            </a:solidFill>
            <a:prstDash val="solid"/>
          </a:ln>
        </p:spPr>
      </p:sp>
      <p:sp>
        <p:nvSpPr>
          <p:cNvPr id="36" name="Shape 34"/>
          <p:cNvSpPr/>
          <p:nvPr/>
        </p:nvSpPr>
        <p:spPr>
          <a:xfrm flipV="1">
            <a:off x="6918960" y="3227070"/>
            <a:ext cx="590550" cy="285750"/>
          </a:xfrm>
          <a:prstGeom prst="line">
            <a:avLst/>
          </a:prstGeom>
          <a:noFill/>
          <a:ln w="11430">
            <a:solidFill>
              <a:srgbClr val="A5CBC0"/>
            </a:solidFill>
            <a:prstDash val="solid"/>
          </a:ln>
        </p:spPr>
      </p:sp>
      <p:sp>
        <p:nvSpPr>
          <p:cNvPr id="37" name="Shape 35"/>
          <p:cNvSpPr/>
          <p:nvPr/>
        </p:nvSpPr>
        <p:spPr>
          <a:xfrm flipV="1">
            <a:off x="6918960" y="3417570"/>
            <a:ext cx="590550" cy="95250"/>
          </a:xfrm>
          <a:prstGeom prst="line">
            <a:avLst/>
          </a:prstGeom>
          <a:noFill/>
          <a:ln w="11430">
            <a:solidFill>
              <a:srgbClr val="A5CBC0"/>
            </a:solidFill>
            <a:prstDash val="solid"/>
          </a:ln>
        </p:spPr>
      </p:sp>
      <p:sp>
        <p:nvSpPr>
          <p:cNvPr id="38" name="Shape 36"/>
          <p:cNvSpPr/>
          <p:nvPr/>
        </p:nvSpPr>
        <p:spPr>
          <a:xfrm>
            <a:off x="6918960" y="3512820"/>
            <a:ext cx="590550" cy="95250"/>
          </a:xfrm>
          <a:prstGeom prst="line">
            <a:avLst/>
          </a:prstGeom>
          <a:noFill/>
          <a:ln w="11430">
            <a:solidFill>
              <a:srgbClr val="A5CBC0"/>
            </a:solidFill>
            <a:prstDash val="solid"/>
          </a:ln>
        </p:spPr>
      </p:sp>
      <p:sp>
        <p:nvSpPr>
          <p:cNvPr id="39" name="Shape 37"/>
          <p:cNvSpPr/>
          <p:nvPr/>
        </p:nvSpPr>
        <p:spPr>
          <a:xfrm>
            <a:off x="6918960" y="3512820"/>
            <a:ext cx="590550" cy="285750"/>
          </a:xfrm>
          <a:prstGeom prst="line">
            <a:avLst/>
          </a:prstGeom>
          <a:noFill/>
          <a:ln w="11430">
            <a:solidFill>
              <a:srgbClr val="A5CBC0"/>
            </a:solidFill>
            <a:prstDash val="solid"/>
          </a:ln>
        </p:spPr>
      </p:sp>
      <p:sp>
        <p:nvSpPr>
          <p:cNvPr id="40" name="Shape 38"/>
          <p:cNvSpPr/>
          <p:nvPr/>
        </p:nvSpPr>
        <p:spPr>
          <a:xfrm flipV="1">
            <a:off x="6918960" y="3227070"/>
            <a:ext cx="590550" cy="539750"/>
          </a:xfrm>
          <a:prstGeom prst="line">
            <a:avLst/>
          </a:prstGeom>
          <a:noFill/>
          <a:ln w="11430">
            <a:solidFill>
              <a:srgbClr val="A5CBC0"/>
            </a:solidFill>
            <a:prstDash val="solid"/>
          </a:ln>
        </p:spPr>
      </p:sp>
      <p:sp>
        <p:nvSpPr>
          <p:cNvPr id="41" name="Shape 39"/>
          <p:cNvSpPr/>
          <p:nvPr/>
        </p:nvSpPr>
        <p:spPr>
          <a:xfrm flipV="1">
            <a:off x="6918960" y="3417570"/>
            <a:ext cx="590550" cy="349250"/>
          </a:xfrm>
          <a:prstGeom prst="line">
            <a:avLst/>
          </a:prstGeom>
          <a:noFill/>
          <a:ln w="11430">
            <a:solidFill>
              <a:srgbClr val="A5CBC0"/>
            </a:solidFill>
            <a:prstDash val="solid"/>
          </a:ln>
        </p:spPr>
      </p:sp>
      <p:sp>
        <p:nvSpPr>
          <p:cNvPr id="42" name="Shape 40"/>
          <p:cNvSpPr/>
          <p:nvPr/>
        </p:nvSpPr>
        <p:spPr>
          <a:xfrm flipV="1">
            <a:off x="6918960" y="3608070"/>
            <a:ext cx="590550" cy="158750"/>
          </a:xfrm>
          <a:prstGeom prst="line">
            <a:avLst/>
          </a:prstGeom>
          <a:noFill/>
          <a:ln w="11430">
            <a:solidFill>
              <a:srgbClr val="A5CBC0"/>
            </a:solidFill>
            <a:prstDash val="solid"/>
          </a:ln>
        </p:spPr>
      </p:sp>
      <p:sp>
        <p:nvSpPr>
          <p:cNvPr id="43" name="Shape 41"/>
          <p:cNvSpPr/>
          <p:nvPr/>
        </p:nvSpPr>
        <p:spPr>
          <a:xfrm>
            <a:off x="6918960" y="3766820"/>
            <a:ext cx="590550" cy="31750"/>
          </a:xfrm>
          <a:prstGeom prst="line">
            <a:avLst/>
          </a:prstGeom>
          <a:noFill/>
          <a:ln w="11430">
            <a:solidFill>
              <a:srgbClr val="A5CBC0"/>
            </a:solidFill>
            <a:prstDash val="solid"/>
          </a:ln>
        </p:spPr>
      </p:sp>
      <p:sp>
        <p:nvSpPr>
          <p:cNvPr id="44" name="Shape 42"/>
          <p:cNvSpPr/>
          <p:nvPr/>
        </p:nvSpPr>
        <p:spPr>
          <a:xfrm>
            <a:off x="7509510" y="3227070"/>
            <a:ext cx="590550" cy="31750"/>
          </a:xfrm>
          <a:prstGeom prst="line">
            <a:avLst/>
          </a:prstGeom>
          <a:noFill/>
          <a:ln w="11430">
            <a:solidFill>
              <a:srgbClr val="A5CBC0"/>
            </a:solidFill>
            <a:prstDash val="solid"/>
          </a:ln>
        </p:spPr>
      </p:sp>
      <p:sp>
        <p:nvSpPr>
          <p:cNvPr id="45" name="Shape 43"/>
          <p:cNvSpPr/>
          <p:nvPr/>
        </p:nvSpPr>
        <p:spPr>
          <a:xfrm>
            <a:off x="7509510" y="3227070"/>
            <a:ext cx="590550" cy="285750"/>
          </a:xfrm>
          <a:prstGeom prst="line">
            <a:avLst/>
          </a:prstGeom>
          <a:noFill/>
          <a:ln w="11430">
            <a:solidFill>
              <a:srgbClr val="A5CBC0"/>
            </a:solidFill>
            <a:prstDash val="solid"/>
          </a:ln>
        </p:spPr>
      </p:sp>
      <p:sp>
        <p:nvSpPr>
          <p:cNvPr id="46" name="Shape 44"/>
          <p:cNvSpPr/>
          <p:nvPr/>
        </p:nvSpPr>
        <p:spPr>
          <a:xfrm>
            <a:off x="7509510" y="3227070"/>
            <a:ext cx="590550" cy="539750"/>
          </a:xfrm>
          <a:prstGeom prst="line">
            <a:avLst/>
          </a:prstGeom>
          <a:noFill/>
          <a:ln w="11430">
            <a:solidFill>
              <a:srgbClr val="A5CBC0"/>
            </a:solidFill>
            <a:prstDash val="solid"/>
          </a:ln>
        </p:spPr>
      </p:sp>
      <p:sp>
        <p:nvSpPr>
          <p:cNvPr id="47" name="Shape 45"/>
          <p:cNvSpPr/>
          <p:nvPr/>
        </p:nvSpPr>
        <p:spPr>
          <a:xfrm flipV="1">
            <a:off x="7509510" y="3258820"/>
            <a:ext cx="590550" cy="158750"/>
          </a:xfrm>
          <a:prstGeom prst="line">
            <a:avLst/>
          </a:prstGeom>
          <a:noFill/>
          <a:ln w="11430">
            <a:solidFill>
              <a:srgbClr val="A5CBC0"/>
            </a:solidFill>
            <a:prstDash val="solid"/>
          </a:ln>
        </p:spPr>
      </p:sp>
      <p:sp>
        <p:nvSpPr>
          <p:cNvPr id="48" name="Shape 46"/>
          <p:cNvSpPr/>
          <p:nvPr/>
        </p:nvSpPr>
        <p:spPr>
          <a:xfrm>
            <a:off x="7509510" y="3417570"/>
            <a:ext cx="590550" cy="95250"/>
          </a:xfrm>
          <a:prstGeom prst="line">
            <a:avLst/>
          </a:prstGeom>
          <a:noFill/>
          <a:ln w="11430">
            <a:solidFill>
              <a:srgbClr val="A5CBC0"/>
            </a:solidFill>
            <a:prstDash val="solid"/>
          </a:ln>
        </p:spPr>
      </p:sp>
      <p:sp>
        <p:nvSpPr>
          <p:cNvPr id="49" name="Shape 47"/>
          <p:cNvSpPr/>
          <p:nvPr/>
        </p:nvSpPr>
        <p:spPr>
          <a:xfrm>
            <a:off x="7509510" y="3417570"/>
            <a:ext cx="590550" cy="349250"/>
          </a:xfrm>
          <a:prstGeom prst="line">
            <a:avLst/>
          </a:prstGeom>
          <a:noFill/>
          <a:ln w="11430">
            <a:solidFill>
              <a:srgbClr val="A5CBC0"/>
            </a:solidFill>
            <a:prstDash val="solid"/>
          </a:ln>
        </p:spPr>
      </p:sp>
      <p:sp>
        <p:nvSpPr>
          <p:cNvPr id="50" name="Shape 48"/>
          <p:cNvSpPr/>
          <p:nvPr/>
        </p:nvSpPr>
        <p:spPr>
          <a:xfrm flipV="1">
            <a:off x="7509510" y="3258820"/>
            <a:ext cx="590550" cy="349250"/>
          </a:xfrm>
          <a:prstGeom prst="line">
            <a:avLst/>
          </a:prstGeom>
          <a:noFill/>
          <a:ln w="11430">
            <a:solidFill>
              <a:srgbClr val="A5CBC0"/>
            </a:solidFill>
            <a:prstDash val="solid"/>
          </a:ln>
        </p:spPr>
      </p:sp>
      <p:sp>
        <p:nvSpPr>
          <p:cNvPr id="51" name="Shape 49"/>
          <p:cNvSpPr/>
          <p:nvPr/>
        </p:nvSpPr>
        <p:spPr>
          <a:xfrm flipV="1">
            <a:off x="7509510" y="3512820"/>
            <a:ext cx="590550" cy="95250"/>
          </a:xfrm>
          <a:prstGeom prst="line">
            <a:avLst/>
          </a:prstGeom>
          <a:noFill/>
          <a:ln w="11430">
            <a:solidFill>
              <a:srgbClr val="A5CBC0"/>
            </a:solidFill>
            <a:prstDash val="solid"/>
          </a:ln>
        </p:spPr>
      </p:sp>
      <p:sp>
        <p:nvSpPr>
          <p:cNvPr id="52" name="Shape 50"/>
          <p:cNvSpPr/>
          <p:nvPr/>
        </p:nvSpPr>
        <p:spPr>
          <a:xfrm>
            <a:off x="7509510" y="3608070"/>
            <a:ext cx="590550" cy="158750"/>
          </a:xfrm>
          <a:prstGeom prst="line">
            <a:avLst/>
          </a:prstGeom>
          <a:noFill/>
          <a:ln w="11430">
            <a:solidFill>
              <a:srgbClr val="A5CBC0"/>
            </a:solidFill>
            <a:prstDash val="solid"/>
          </a:ln>
        </p:spPr>
      </p:sp>
      <p:sp>
        <p:nvSpPr>
          <p:cNvPr id="53" name="Shape 51"/>
          <p:cNvSpPr/>
          <p:nvPr/>
        </p:nvSpPr>
        <p:spPr>
          <a:xfrm flipV="1">
            <a:off x="7509510" y="3258820"/>
            <a:ext cx="590550" cy="539750"/>
          </a:xfrm>
          <a:prstGeom prst="line">
            <a:avLst/>
          </a:prstGeom>
          <a:noFill/>
          <a:ln w="11430">
            <a:solidFill>
              <a:srgbClr val="A5CBC0"/>
            </a:solidFill>
            <a:prstDash val="solid"/>
          </a:ln>
        </p:spPr>
      </p:sp>
      <p:sp>
        <p:nvSpPr>
          <p:cNvPr id="54" name="Shape 52"/>
          <p:cNvSpPr/>
          <p:nvPr/>
        </p:nvSpPr>
        <p:spPr>
          <a:xfrm flipV="1">
            <a:off x="7509510" y="3512820"/>
            <a:ext cx="590550" cy="285750"/>
          </a:xfrm>
          <a:prstGeom prst="line">
            <a:avLst/>
          </a:prstGeom>
          <a:noFill/>
          <a:ln w="11430">
            <a:solidFill>
              <a:srgbClr val="A5CBC0"/>
            </a:solidFill>
            <a:prstDash val="solid"/>
          </a:ln>
        </p:spPr>
      </p:sp>
      <p:sp>
        <p:nvSpPr>
          <p:cNvPr id="55" name="Shape 53"/>
          <p:cNvSpPr/>
          <p:nvPr/>
        </p:nvSpPr>
        <p:spPr>
          <a:xfrm flipV="1">
            <a:off x="7509510" y="3766820"/>
            <a:ext cx="590550" cy="31750"/>
          </a:xfrm>
          <a:prstGeom prst="line">
            <a:avLst/>
          </a:prstGeom>
          <a:noFill/>
          <a:ln w="11430">
            <a:solidFill>
              <a:srgbClr val="A5CBC0"/>
            </a:solidFill>
            <a:prstDash val="solid"/>
          </a:ln>
        </p:spPr>
      </p:sp>
      <p:sp>
        <p:nvSpPr>
          <p:cNvPr id="56" name="Shape 54"/>
          <p:cNvSpPr/>
          <p:nvPr/>
        </p:nvSpPr>
        <p:spPr>
          <a:xfrm>
            <a:off x="6850380" y="3190240"/>
            <a:ext cx="137160" cy="137160"/>
          </a:xfrm>
          <a:prstGeom prst="ellipse">
            <a:avLst/>
          </a:prstGeom>
          <a:solidFill>
            <a:srgbClr val="22434A"/>
          </a:solidFill>
          <a:ln w="12700">
            <a:solidFill>
              <a:srgbClr val="22434A">
                <a:alpha val="0"/>
              </a:srgbClr>
            </a:solidFill>
            <a:prstDash val="solid"/>
          </a:ln>
        </p:spPr>
      </p:sp>
      <p:sp>
        <p:nvSpPr>
          <p:cNvPr id="57" name="Shape 55"/>
          <p:cNvSpPr/>
          <p:nvPr/>
        </p:nvSpPr>
        <p:spPr>
          <a:xfrm>
            <a:off x="6850380" y="3444240"/>
            <a:ext cx="137160" cy="137160"/>
          </a:xfrm>
          <a:prstGeom prst="ellipse">
            <a:avLst/>
          </a:prstGeom>
          <a:solidFill>
            <a:srgbClr val="22434A"/>
          </a:solidFill>
          <a:ln w="12700">
            <a:solidFill>
              <a:srgbClr val="22434A">
                <a:alpha val="0"/>
              </a:srgbClr>
            </a:solidFill>
            <a:prstDash val="solid"/>
          </a:ln>
        </p:spPr>
      </p:sp>
      <p:sp>
        <p:nvSpPr>
          <p:cNvPr id="58" name="Shape 56"/>
          <p:cNvSpPr/>
          <p:nvPr/>
        </p:nvSpPr>
        <p:spPr>
          <a:xfrm>
            <a:off x="6850380" y="3698240"/>
            <a:ext cx="137160" cy="137160"/>
          </a:xfrm>
          <a:prstGeom prst="ellipse">
            <a:avLst/>
          </a:prstGeom>
          <a:solidFill>
            <a:srgbClr val="22434A"/>
          </a:solidFill>
          <a:ln w="12700">
            <a:solidFill>
              <a:srgbClr val="22434A">
                <a:alpha val="0"/>
              </a:srgbClr>
            </a:solidFill>
            <a:prstDash val="solid"/>
          </a:ln>
        </p:spPr>
      </p:sp>
      <p:sp>
        <p:nvSpPr>
          <p:cNvPr id="59" name="Shape 57"/>
          <p:cNvSpPr/>
          <p:nvPr/>
        </p:nvSpPr>
        <p:spPr>
          <a:xfrm>
            <a:off x="7440930" y="3158490"/>
            <a:ext cx="137160" cy="137160"/>
          </a:xfrm>
          <a:prstGeom prst="ellipse">
            <a:avLst/>
          </a:prstGeom>
          <a:solidFill>
            <a:srgbClr val="22434A"/>
          </a:solidFill>
          <a:ln w="12700">
            <a:solidFill>
              <a:srgbClr val="22434A">
                <a:alpha val="0"/>
              </a:srgbClr>
            </a:solidFill>
            <a:prstDash val="solid"/>
          </a:ln>
        </p:spPr>
      </p:sp>
      <p:sp>
        <p:nvSpPr>
          <p:cNvPr id="60" name="Shape 58"/>
          <p:cNvSpPr/>
          <p:nvPr/>
        </p:nvSpPr>
        <p:spPr>
          <a:xfrm>
            <a:off x="7440930" y="3348990"/>
            <a:ext cx="137160" cy="137160"/>
          </a:xfrm>
          <a:prstGeom prst="ellipse">
            <a:avLst/>
          </a:prstGeom>
          <a:solidFill>
            <a:srgbClr val="22434A"/>
          </a:solidFill>
          <a:ln w="12700">
            <a:solidFill>
              <a:srgbClr val="22434A">
                <a:alpha val="0"/>
              </a:srgbClr>
            </a:solidFill>
            <a:prstDash val="solid"/>
          </a:ln>
        </p:spPr>
      </p:sp>
      <p:sp>
        <p:nvSpPr>
          <p:cNvPr id="61" name="Shape 59"/>
          <p:cNvSpPr/>
          <p:nvPr/>
        </p:nvSpPr>
        <p:spPr>
          <a:xfrm>
            <a:off x="7440930" y="3539490"/>
            <a:ext cx="137160" cy="137160"/>
          </a:xfrm>
          <a:prstGeom prst="ellipse">
            <a:avLst/>
          </a:prstGeom>
          <a:solidFill>
            <a:srgbClr val="22434A"/>
          </a:solidFill>
          <a:ln w="12700">
            <a:solidFill>
              <a:srgbClr val="22434A">
                <a:alpha val="0"/>
              </a:srgbClr>
            </a:solidFill>
            <a:prstDash val="solid"/>
          </a:ln>
        </p:spPr>
      </p:sp>
      <p:sp>
        <p:nvSpPr>
          <p:cNvPr id="62" name="Shape 60"/>
          <p:cNvSpPr/>
          <p:nvPr/>
        </p:nvSpPr>
        <p:spPr>
          <a:xfrm>
            <a:off x="7440930" y="3729990"/>
            <a:ext cx="137160" cy="137160"/>
          </a:xfrm>
          <a:prstGeom prst="ellipse">
            <a:avLst/>
          </a:prstGeom>
          <a:solidFill>
            <a:srgbClr val="22434A"/>
          </a:solidFill>
          <a:ln w="12700">
            <a:solidFill>
              <a:srgbClr val="22434A">
                <a:alpha val="0"/>
              </a:srgbClr>
            </a:solidFill>
            <a:prstDash val="solid"/>
          </a:ln>
        </p:spPr>
      </p:sp>
      <p:sp>
        <p:nvSpPr>
          <p:cNvPr id="63" name="Shape 61"/>
          <p:cNvSpPr/>
          <p:nvPr/>
        </p:nvSpPr>
        <p:spPr>
          <a:xfrm>
            <a:off x="8031480" y="3190240"/>
            <a:ext cx="137160" cy="137160"/>
          </a:xfrm>
          <a:prstGeom prst="ellipse">
            <a:avLst/>
          </a:prstGeom>
          <a:solidFill>
            <a:srgbClr val="22434A"/>
          </a:solidFill>
          <a:ln w="12700">
            <a:solidFill>
              <a:srgbClr val="22434A">
                <a:alpha val="0"/>
              </a:srgbClr>
            </a:solidFill>
            <a:prstDash val="solid"/>
          </a:ln>
        </p:spPr>
      </p:sp>
      <p:sp>
        <p:nvSpPr>
          <p:cNvPr id="64" name="Shape 62"/>
          <p:cNvSpPr/>
          <p:nvPr/>
        </p:nvSpPr>
        <p:spPr>
          <a:xfrm>
            <a:off x="8031480" y="3444240"/>
            <a:ext cx="137160" cy="137160"/>
          </a:xfrm>
          <a:prstGeom prst="ellipse">
            <a:avLst/>
          </a:prstGeom>
          <a:solidFill>
            <a:srgbClr val="22434A"/>
          </a:solidFill>
          <a:ln w="12700">
            <a:solidFill>
              <a:srgbClr val="22434A">
                <a:alpha val="0"/>
              </a:srgbClr>
            </a:solidFill>
            <a:prstDash val="solid"/>
          </a:ln>
        </p:spPr>
      </p:sp>
      <p:sp>
        <p:nvSpPr>
          <p:cNvPr id="65" name="Shape 63"/>
          <p:cNvSpPr/>
          <p:nvPr/>
        </p:nvSpPr>
        <p:spPr>
          <a:xfrm>
            <a:off x="8031480" y="3698240"/>
            <a:ext cx="137160" cy="137160"/>
          </a:xfrm>
          <a:prstGeom prst="ellipse">
            <a:avLst/>
          </a:prstGeom>
          <a:solidFill>
            <a:srgbClr val="22434A"/>
          </a:solidFill>
          <a:ln w="12700">
            <a:solidFill>
              <a:srgbClr val="22434A">
                <a:alpha val="0"/>
              </a:srgbClr>
            </a:solidFill>
            <a:prstDash val="solid"/>
          </a:ln>
        </p:spPr>
      </p:sp>
      <p:sp>
        <p:nvSpPr>
          <p:cNvPr id="66" name="Text 64"/>
          <p:cNvSpPr/>
          <p:nvPr/>
        </p:nvSpPr>
        <p:spPr>
          <a:xfrm>
            <a:off x="6385560" y="4175760"/>
            <a:ext cx="2255520" cy="228600"/>
          </a:xfrm>
          <a:prstGeom prst="rect">
            <a:avLst/>
          </a:prstGeom>
          <a:noFill/>
          <a:ln/>
        </p:spPr>
        <p:txBody>
          <a:bodyPr wrap="square" lIns="0" tIns="0" rIns="0" bIns="0" rtlCol="0" anchor="t"/>
          <a:lstStyle/>
          <a:p>
            <a:pPr algn="ctr" indent="0" marL="0">
              <a:lnSpc>
                <a:spcPct val="105000"/>
              </a:lnSpc>
              <a:buNone/>
            </a:pPr>
            <a:r>
              <a:rPr lang="en-US" altLang="en-US" sz="1320" dirty="0">
                <a:solidFill>
                  <a:srgbClr val="62747A"/>
                </a:solidFill>
                <a:latin typeface="Arial" pitchFamily="34" charset="0"/>
                <a:ea typeface="Arial" pitchFamily="34" charset="-122"/>
                <a:cs typeface="Arial" pitchFamily="34" charset="-120"/>
              </a:rPr>
              <a:t>Policy trained in simulation</a:t>
            </a:r>
            <a:endParaRPr lang="en-US" sz="1320" dirty="0"/>
          </a:p>
        </p:txBody>
      </p:sp>
      <p:sp>
        <p:nvSpPr>
          <p:cNvPr id="67" name="Text 65"/>
          <p:cNvSpPr/>
          <p:nvPr/>
        </p:nvSpPr>
        <p:spPr>
          <a:xfrm>
            <a:off x="9304020" y="2621280"/>
            <a:ext cx="2087880" cy="289560"/>
          </a:xfrm>
          <a:prstGeom prst="rect">
            <a:avLst/>
          </a:prstGeom>
          <a:noFill/>
          <a:ln/>
        </p:spPr>
        <p:txBody>
          <a:bodyPr wrap="square" lIns="0" tIns="0" rIns="0" bIns="0" rtlCol="0" anchor="t"/>
          <a:lstStyle/>
          <a:p>
            <a:pPr algn="ctr" indent="0" marL="0">
              <a:lnSpc>
                <a:spcPct val="105000"/>
              </a:lnSpc>
              <a:buNone/>
            </a:pPr>
            <a:r>
              <a:rPr lang="en-US" altLang="en-US" sz="1740" b="1" dirty="0">
                <a:solidFill>
                  <a:srgbClr val="183139"/>
                </a:solidFill>
                <a:latin typeface="Arial" pitchFamily="34" charset="0"/>
                <a:ea typeface="Arial" pitchFamily="34" charset="-122"/>
                <a:cs typeface="Arial" pitchFamily="34" charset="-120"/>
              </a:rPr>
              <a:t>Execute</a:t>
            </a:r>
            <a:endParaRPr lang="en-US" sz="1740" dirty="0"/>
          </a:p>
        </p:txBody>
      </p:sp>
      <p:sp>
        <p:nvSpPr>
          <p:cNvPr id="68" name="Shape 66"/>
          <p:cNvSpPr/>
          <p:nvPr/>
        </p:nvSpPr>
        <p:spPr>
          <a:xfrm>
            <a:off x="10322742" y="4001823"/>
            <a:ext cx="853498" cy="0"/>
          </a:xfrm>
          <a:prstGeom prst="line">
            <a:avLst/>
          </a:prstGeom>
          <a:noFill/>
          <a:ln w="17598">
            <a:solidFill>
              <a:srgbClr val="93A5AA"/>
            </a:solidFill>
            <a:prstDash val="solid"/>
          </a:ln>
        </p:spPr>
      </p:sp>
      <p:sp>
        <p:nvSpPr>
          <p:cNvPr id="69" name="Shape 67"/>
          <p:cNvSpPr/>
          <p:nvPr/>
        </p:nvSpPr>
        <p:spPr>
          <a:xfrm>
            <a:off x="10406332" y="4010622"/>
            <a:ext cx="0" cy="136384"/>
          </a:xfrm>
          <a:prstGeom prst="line">
            <a:avLst/>
          </a:prstGeom>
          <a:noFill/>
          <a:ln w="21997">
            <a:solidFill>
              <a:srgbClr val="D8DFD9"/>
            </a:solidFill>
            <a:prstDash val="solid"/>
          </a:ln>
        </p:spPr>
      </p:sp>
      <p:sp>
        <p:nvSpPr>
          <p:cNvPr id="70" name="Shape 68"/>
          <p:cNvSpPr/>
          <p:nvPr/>
        </p:nvSpPr>
        <p:spPr>
          <a:xfrm>
            <a:off x="11105848" y="4010622"/>
            <a:ext cx="0" cy="136384"/>
          </a:xfrm>
          <a:prstGeom prst="line">
            <a:avLst/>
          </a:prstGeom>
          <a:noFill/>
          <a:ln w="21997">
            <a:solidFill>
              <a:srgbClr val="D8DFD9"/>
            </a:solidFill>
            <a:prstDash val="solid"/>
          </a:ln>
        </p:spPr>
      </p:sp>
      <p:sp>
        <p:nvSpPr>
          <p:cNvPr id="71" name="Shape 69"/>
          <p:cNvSpPr/>
          <p:nvPr/>
        </p:nvSpPr>
        <p:spPr>
          <a:xfrm>
            <a:off x="9526438" y="4010622"/>
            <a:ext cx="351958" cy="79190"/>
          </a:xfrm>
          <a:prstGeom prst="roundRect">
            <a:avLst/>
          </a:prstGeom>
          <a:solidFill>
            <a:srgbClr val="22434A"/>
          </a:solidFill>
          <a:ln w="12700">
            <a:solidFill>
              <a:srgbClr val="22434A">
                <a:alpha val="0"/>
              </a:srgbClr>
            </a:solidFill>
            <a:prstDash val="solid"/>
          </a:ln>
        </p:spPr>
      </p:sp>
      <p:sp>
        <p:nvSpPr>
          <p:cNvPr id="72" name="Shape 70"/>
          <p:cNvSpPr/>
          <p:nvPr/>
        </p:nvSpPr>
        <p:spPr>
          <a:xfrm>
            <a:off x="9636425" y="3878638"/>
            <a:ext cx="136384" cy="131984"/>
          </a:xfrm>
          <a:prstGeom prst="roundRect">
            <a:avLst/>
          </a:prstGeom>
          <a:solidFill>
            <a:srgbClr val="93A5AA"/>
          </a:solidFill>
          <a:ln w="12700">
            <a:solidFill>
              <a:srgbClr val="93A5AA">
                <a:alpha val="0"/>
              </a:srgbClr>
            </a:solidFill>
            <a:prstDash val="solid"/>
          </a:ln>
        </p:spPr>
      </p:sp>
      <p:sp>
        <p:nvSpPr>
          <p:cNvPr id="73" name="Shape 71"/>
          <p:cNvSpPr/>
          <p:nvPr/>
        </p:nvSpPr>
        <p:spPr>
          <a:xfrm flipV="1">
            <a:off x="9702417" y="3372698"/>
            <a:ext cx="224373" cy="514738"/>
          </a:xfrm>
          <a:prstGeom prst="line">
            <a:avLst/>
          </a:prstGeom>
          <a:noFill/>
          <a:ln w="87989">
            <a:solidFill>
              <a:srgbClr val="93A5AA"/>
            </a:solidFill>
            <a:prstDash val="solid"/>
          </a:ln>
        </p:spPr>
      </p:sp>
      <p:sp>
        <p:nvSpPr>
          <p:cNvPr id="74" name="Shape 72"/>
          <p:cNvSpPr/>
          <p:nvPr/>
        </p:nvSpPr>
        <p:spPr>
          <a:xfrm flipV="1">
            <a:off x="9926790" y="3284709"/>
            <a:ext cx="453146" cy="87989"/>
          </a:xfrm>
          <a:prstGeom prst="line">
            <a:avLst/>
          </a:prstGeom>
          <a:noFill/>
          <a:ln w="87989">
            <a:solidFill>
              <a:srgbClr val="93A5AA"/>
            </a:solidFill>
            <a:prstDash val="solid"/>
          </a:ln>
        </p:spPr>
      </p:sp>
      <p:sp>
        <p:nvSpPr>
          <p:cNvPr id="75" name="Shape 73"/>
          <p:cNvSpPr/>
          <p:nvPr/>
        </p:nvSpPr>
        <p:spPr>
          <a:xfrm flipV="1">
            <a:off x="10379935" y="3201119"/>
            <a:ext cx="369556" cy="83590"/>
          </a:xfrm>
          <a:prstGeom prst="line">
            <a:avLst/>
          </a:prstGeom>
          <a:noFill/>
          <a:ln w="70392">
            <a:solidFill>
              <a:srgbClr val="93A5AA"/>
            </a:solidFill>
            <a:prstDash val="solid"/>
          </a:ln>
        </p:spPr>
      </p:sp>
      <p:sp>
        <p:nvSpPr>
          <p:cNvPr id="76" name="Shape 74"/>
          <p:cNvSpPr/>
          <p:nvPr/>
        </p:nvSpPr>
        <p:spPr>
          <a:xfrm>
            <a:off x="9632025" y="3817045"/>
            <a:ext cx="140783" cy="140783"/>
          </a:xfrm>
          <a:prstGeom prst="ellipse">
            <a:avLst/>
          </a:prstGeom>
          <a:solidFill>
            <a:srgbClr val="22434A"/>
          </a:solidFill>
          <a:ln w="12700">
            <a:solidFill>
              <a:srgbClr val="22434A">
                <a:alpha val="0"/>
              </a:srgbClr>
            </a:solidFill>
            <a:prstDash val="solid"/>
          </a:ln>
        </p:spPr>
      </p:sp>
      <p:sp>
        <p:nvSpPr>
          <p:cNvPr id="77" name="Shape 75"/>
          <p:cNvSpPr/>
          <p:nvPr/>
        </p:nvSpPr>
        <p:spPr>
          <a:xfrm>
            <a:off x="9856398" y="3302307"/>
            <a:ext cx="140783" cy="140783"/>
          </a:xfrm>
          <a:prstGeom prst="ellipse">
            <a:avLst/>
          </a:prstGeom>
          <a:solidFill>
            <a:srgbClr val="22434A"/>
          </a:solidFill>
          <a:ln w="12700">
            <a:solidFill>
              <a:srgbClr val="22434A">
                <a:alpha val="0"/>
              </a:srgbClr>
            </a:solidFill>
            <a:prstDash val="solid"/>
          </a:ln>
        </p:spPr>
      </p:sp>
      <p:sp>
        <p:nvSpPr>
          <p:cNvPr id="78" name="Shape 76"/>
          <p:cNvSpPr/>
          <p:nvPr/>
        </p:nvSpPr>
        <p:spPr>
          <a:xfrm>
            <a:off x="10322742" y="3227516"/>
            <a:ext cx="114386" cy="114386"/>
          </a:xfrm>
          <a:prstGeom prst="ellipse">
            <a:avLst/>
          </a:prstGeom>
          <a:solidFill>
            <a:srgbClr val="22434A"/>
          </a:solidFill>
          <a:ln w="12700">
            <a:solidFill>
              <a:srgbClr val="22434A">
                <a:alpha val="0"/>
              </a:srgbClr>
            </a:solidFill>
            <a:prstDash val="solid"/>
          </a:ln>
        </p:spPr>
      </p:sp>
      <p:sp>
        <p:nvSpPr>
          <p:cNvPr id="79" name="Shape 77"/>
          <p:cNvSpPr/>
          <p:nvPr/>
        </p:nvSpPr>
        <p:spPr>
          <a:xfrm>
            <a:off x="9667221" y="3852241"/>
            <a:ext cx="70392" cy="70392"/>
          </a:xfrm>
          <a:prstGeom prst="ellipse">
            <a:avLst/>
          </a:prstGeom>
          <a:solidFill>
            <a:srgbClr val="F6F4EF"/>
          </a:solidFill>
          <a:ln w="12700">
            <a:solidFill>
              <a:srgbClr val="F6F4EF">
                <a:alpha val="0"/>
              </a:srgbClr>
            </a:solidFill>
            <a:prstDash val="solid"/>
          </a:ln>
        </p:spPr>
      </p:sp>
      <p:sp>
        <p:nvSpPr>
          <p:cNvPr id="80" name="Shape 78"/>
          <p:cNvSpPr/>
          <p:nvPr/>
        </p:nvSpPr>
        <p:spPr>
          <a:xfrm>
            <a:off x="9895993" y="3341902"/>
            <a:ext cx="61593" cy="61593"/>
          </a:xfrm>
          <a:prstGeom prst="ellipse">
            <a:avLst/>
          </a:prstGeom>
          <a:solidFill>
            <a:srgbClr val="F6F4EF"/>
          </a:solidFill>
          <a:ln w="12700">
            <a:solidFill>
              <a:srgbClr val="F6F4EF">
                <a:alpha val="0"/>
              </a:srgbClr>
            </a:solidFill>
            <a:prstDash val="solid"/>
          </a:ln>
        </p:spPr>
      </p:sp>
      <p:sp>
        <p:nvSpPr>
          <p:cNvPr id="81" name="Shape 79"/>
          <p:cNvSpPr/>
          <p:nvPr/>
        </p:nvSpPr>
        <p:spPr>
          <a:xfrm>
            <a:off x="10353538" y="3258312"/>
            <a:ext cx="52794" cy="52794"/>
          </a:xfrm>
          <a:prstGeom prst="ellipse">
            <a:avLst/>
          </a:prstGeom>
          <a:solidFill>
            <a:srgbClr val="F6F4EF"/>
          </a:solidFill>
          <a:ln w="12700">
            <a:solidFill>
              <a:srgbClr val="F6F4EF">
                <a:alpha val="0"/>
              </a:srgbClr>
            </a:solidFill>
            <a:prstDash val="solid"/>
          </a:ln>
        </p:spPr>
      </p:sp>
      <p:sp>
        <p:nvSpPr>
          <p:cNvPr id="82" name="Shape 80"/>
          <p:cNvSpPr/>
          <p:nvPr/>
        </p:nvSpPr>
        <p:spPr>
          <a:xfrm>
            <a:off x="10749491" y="3201119"/>
            <a:ext cx="0" cy="109987"/>
          </a:xfrm>
          <a:prstGeom prst="line">
            <a:avLst/>
          </a:prstGeom>
          <a:noFill/>
          <a:ln w="52794">
            <a:solidFill>
              <a:srgbClr val="22434A"/>
            </a:solidFill>
            <a:prstDash val="solid"/>
          </a:ln>
        </p:spPr>
      </p:sp>
      <p:sp>
        <p:nvSpPr>
          <p:cNvPr id="83" name="Shape 81"/>
          <p:cNvSpPr/>
          <p:nvPr/>
        </p:nvSpPr>
        <p:spPr>
          <a:xfrm>
            <a:off x="10591110" y="3311106"/>
            <a:ext cx="316762" cy="74791"/>
          </a:xfrm>
          <a:prstGeom prst="roundRect">
            <a:avLst/>
          </a:prstGeom>
          <a:solidFill>
            <a:srgbClr val="22434A"/>
          </a:solidFill>
          <a:ln w="12700">
            <a:solidFill>
              <a:srgbClr val="22434A">
                <a:alpha val="0"/>
              </a:srgbClr>
            </a:solidFill>
            <a:prstDash val="solid"/>
          </a:ln>
        </p:spPr>
      </p:sp>
      <p:sp>
        <p:nvSpPr>
          <p:cNvPr id="84" name="Shape 82"/>
          <p:cNvSpPr/>
          <p:nvPr/>
        </p:nvSpPr>
        <p:spPr>
          <a:xfrm>
            <a:off x="10582311" y="3368299"/>
            <a:ext cx="52794" cy="285966"/>
          </a:xfrm>
          <a:prstGeom prst="roundRect">
            <a:avLst/>
          </a:prstGeom>
          <a:solidFill>
            <a:srgbClr val="93A5AA"/>
          </a:solidFill>
          <a:ln w="12700">
            <a:solidFill>
              <a:srgbClr val="93A5AA">
                <a:alpha val="0"/>
              </a:srgbClr>
            </a:solidFill>
            <a:prstDash val="solid"/>
          </a:ln>
        </p:spPr>
      </p:sp>
      <p:sp>
        <p:nvSpPr>
          <p:cNvPr id="85" name="Shape 83"/>
          <p:cNvSpPr/>
          <p:nvPr/>
        </p:nvSpPr>
        <p:spPr>
          <a:xfrm>
            <a:off x="10863877" y="3368299"/>
            <a:ext cx="52794" cy="285966"/>
          </a:xfrm>
          <a:prstGeom prst="roundRect">
            <a:avLst/>
          </a:prstGeom>
          <a:solidFill>
            <a:srgbClr val="93A5AA"/>
          </a:solidFill>
          <a:ln w="12700">
            <a:solidFill>
              <a:srgbClr val="93A5AA">
                <a:alpha val="0"/>
              </a:srgbClr>
            </a:solidFill>
            <a:prstDash val="solid"/>
          </a:ln>
        </p:spPr>
      </p:sp>
      <p:sp>
        <p:nvSpPr>
          <p:cNvPr id="86" name="Shape 84"/>
          <p:cNvSpPr/>
          <p:nvPr/>
        </p:nvSpPr>
        <p:spPr>
          <a:xfrm>
            <a:off x="10582311" y="3605870"/>
            <a:ext cx="87989" cy="48394"/>
          </a:xfrm>
          <a:prstGeom prst="roundRect">
            <a:avLst/>
          </a:prstGeom>
          <a:solidFill>
            <a:srgbClr val="22434A"/>
          </a:solidFill>
          <a:ln w="12700">
            <a:solidFill>
              <a:srgbClr val="22434A">
                <a:alpha val="0"/>
              </a:srgbClr>
            </a:solidFill>
            <a:prstDash val="solid"/>
          </a:ln>
        </p:spPr>
      </p:sp>
      <p:sp>
        <p:nvSpPr>
          <p:cNvPr id="87" name="Shape 85"/>
          <p:cNvSpPr/>
          <p:nvPr/>
        </p:nvSpPr>
        <p:spPr>
          <a:xfrm>
            <a:off x="10828681" y="3605870"/>
            <a:ext cx="87989" cy="48394"/>
          </a:xfrm>
          <a:prstGeom prst="roundRect">
            <a:avLst/>
          </a:prstGeom>
          <a:solidFill>
            <a:srgbClr val="22434A"/>
          </a:solidFill>
          <a:ln w="12700">
            <a:solidFill>
              <a:srgbClr val="22434A">
                <a:alpha val="0"/>
              </a:srgbClr>
            </a:solidFill>
            <a:prstDash val="solid"/>
          </a:ln>
        </p:spPr>
      </p:sp>
      <p:sp>
        <p:nvSpPr>
          <p:cNvPr id="88" name="Shape 86"/>
          <p:cNvSpPr/>
          <p:nvPr/>
        </p:nvSpPr>
        <p:spPr>
          <a:xfrm>
            <a:off x="10661501" y="3473886"/>
            <a:ext cx="175979" cy="175979"/>
          </a:xfrm>
          <a:prstGeom prst="roundRect">
            <a:avLst/>
          </a:prstGeom>
          <a:solidFill>
            <a:srgbClr val="DFC28E"/>
          </a:solidFill>
          <a:ln w="12700">
            <a:solidFill>
              <a:srgbClr val="DFC28E">
                <a:alpha val="0"/>
              </a:srgbClr>
            </a:solidFill>
            <a:prstDash val="solid"/>
          </a:ln>
        </p:spPr>
      </p:sp>
      <p:sp>
        <p:nvSpPr>
          <p:cNvPr id="89" name="Shape 87"/>
          <p:cNvSpPr/>
          <p:nvPr/>
        </p:nvSpPr>
        <p:spPr>
          <a:xfrm>
            <a:off x="10793486" y="3473886"/>
            <a:ext cx="43995" cy="175979"/>
          </a:xfrm>
          <a:prstGeom prst="roundRect">
            <a:avLst/>
          </a:prstGeom>
          <a:solidFill>
            <a:srgbClr val="BA9A61"/>
          </a:solidFill>
          <a:ln w="12700">
            <a:solidFill>
              <a:srgbClr val="BA9A61">
                <a:alpha val="0"/>
              </a:srgbClr>
            </a:solidFill>
            <a:prstDash val="solid"/>
          </a:ln>
        </p:spPr>
      </p:sp>
      <p:sp>
        <p:nvSpPr>
          <p:cNvPr id="90" name="Shape 88"/>
          <p:cNvSpPr/>
          <p:nvPr/>
        </p:nvSpPr>
        <p:spPr>
          <a:xfrm>
            <a:off x="10661501" y="3526680"/>
            <a:ext cx="175979" cy="0"/>
          </a:xfrm>
          <a:prstGeom prst="line">
            <a:avLst/>
          </a:prstGeom>
          <a:noFill/>
          <a:ln w="6159">
            <a:solidFill>
              <a:srgbClr val="F4E8CE"/>
            </a:solidFill>
            <a:prstDash val="solid"/>
          </a:ln>
        </p:spPr>
      </p:sp>
      <p:sp>
        <p:nvSpPr>
          <p:cNvPr id="91" name="Shape 89"/>
          <p:cNvSpPr/>
          <p:nvPr/>
        </p:nvSpPr>
        <p:spPr>
          <a:xfrm flipV="1">
            <a:off x="11035457" y="3526680"/>
            <a:ext cx="0" cy="277167"/>
          </a:xfrm>
          <a:prstGeom prst="line">
            <a:avLst/>
          </a:prstGeom>
          <a:noFill/>
          <a:ln w="17598">
            <a:solidFill>
              <a:srgbClr val="087F7B"/>
            </a:solidFill>
            <a:prstDash val="solid"/>
            <a:tailEnd type="triangle"/>
          </a:ln>
        </p:spPr>
      </p:sp>
      <p:sp>
        <p:nvSpPr>
          <p:cNvPr id="92" name="Text 90"/>
          <p:cNvSpPr/>
          <p:nvPr/>
        </p:nvSpPr>
        <p:spPr>
          <a:xfrm>
            <a:off x="9296400" y="4175760"/>
            <a:ext cx="2103120" cy="243840"/>
          </a:xfrm>
          <a:prstGeom prst="rect">
            <a:avLst/>
          </a:prstGeom>
          <a:noFill/>
          <a:ln/>
        </p:spPr>
        <p:txBody>
          <a:bodyPr wrap="square" lIns="0" tIns="0" rIns="0" bIns="0" rtlCol="0" anchor="t"/>
          <a:lstStyle/>
          <a:p>
            <a:pPr algn="ctr" indent="0" marL="0">
              <a:lnSpc>
                <a:spcPct val="105000"/>
              </a:lnSpc>
              <a:buNone/>
            </a:pPr>
            <a:r>
              <a:rPr lang="en-US" altLang="en-US" sz="1440" dirty="0">
                <a:solidFill>
                  <a:srgbClr val="62747A"/>
                </a:solidFill>
                <a:latin typeface="Arial" pitchFamily="34" charset="0"/>
                <a:ea typeface="Arial" pitchFamily="34" charset="-122"/>
                <a:cs typeface="Arial" pitchFamily="34" charset="-120"/>
              </a:rPr>
              <a:t>Fixed pick and lift</a:t>
            </a:r>
            <a:endParaRPr lang="en-US" sz="1440" dirty="0"/>
          </a:p>
        </p:txBody>
      </p:sp>
      <p:sp>
        <p:nvSpPr>
          <p:cNvPr id="93" name="Shape 91"/>
          <p:cNvSpPr/>
          <p:nvPr/>
        </p:nvSpPr>
        <p:spPr>
          <a:xfrm>
            <a:off x="3169920" y="3482340"/>
            <a:ext cx="160020" cy="0"/>
          </a:xfrm>
          <a:prstGeom prst="line">
            <a:avLst/>
          </a:prstGeom>
          <a:noFill/>
          <a:ln w="19050">
            <a:solidFill>
              <a:srgbClr val="93A5AA"/>
            </a:solidFill>
            <a:prstDash val="solid"/>
            <a:tailEnd type="triangle"/>
          </a:ln>
        </p:spPr>
      </p:sp>
      <p:sp>
        <p:nvSpPr>
          <p:cNvPr id="94" name="Shape 92"/>
          <p:cNvSpPr/>
          <p:nvPr/>
        </p:nvSpPr>
        <p:spPr>
          <a:xfrm>
            <a:off x="6004560" y="3482340"/>
            <a:ext cx="160020" cy="0"/>
          </a:xfrm>
          <a:prstGeom prst="line">
            <a:avLst/>
          </a:prstGeom>
          <a:noFill/>
          <a:ln w="19050">
            <a:solidFill>
              <a:srgbClr val="93A5AA"/>
            </a:solidFill>
            <a:prstDash val="solid"/>
            <a:tailEnd type="triangle"/>
          </a:ln>
        </p:spPr>
      </p:sp>
      <p:sp>
        <p:nvSpPr>
          <p:cNvPr id="95" name="Shape 93"/>
          <p:cNvSpPr/>
          <p:nvPr/>
        </p:nvSpPr>
        <p:spPr>
          <a:xfrm>
            <a:off x="8839200" y="3482340"/>
            <a:ext cx="160020" cy="0"/>
          </a:xfrm>
          <a:prstGeom prst="line">
            <a:avLst/>
          </a:prstGeom>
          <a:noFill/>
          <a:ln w="19050">
            <a:solidFill>
              <a:srgbClr val="93A5AA"/>
            </a:solidFill>
            <a:prstDash val="solid"/>
            <a:tailEnd type="triangle"/>
          </a:ln>
        </p:spPr>
      </p:sp>
      <p:sp>
        <p:nvSpPr>
          <p:cNvPr id="96" name="Shape 94"/>
          <p:cNvSpPr/>
          <p:nvPr/>
        </p:nvSpPr>
        <p:spPr>
          <a:xfrm>
            <a:off x="4678680" y="4686300"/>
            <a:ext cx="0" cy="266700"/>
          </a:xfrm>
          <a:prstGeom prst="line">
            <a:avLst/>
          </a:prstGeom>
          <a:noFill/>
          <a:ln w="22860">
            <a:solidFill>
              <a:srgbClr val="087F7B"/>
            </a:solidFill>
            <a:prstDash val="solid"/>
          </a:ln>
        </p:spPr>
      </p:sp>
      <p:sp>
        <p:nvSpPr>
          <p:cNvPr id="97" name="Shape 95"/>
          <p:cNvSpPr/>
          <p:nvPr/>
        </p:nvSpPr>
        <p:spPr>
          <a:xfrm>
            <a:off x="3581400" y="5059680"/>
            <a:ext cx="2194560" cy="289560"/>
          </a:xfrm>
          <a:prstGeom prst="roundRect">
            <a:avLst/>
          </a:prstGeom>
          <a:solidFill>
            <a:srgbClr val="087F7B"/>
          </a:solidFill>
          <a:ln w="12700">
            <a:solidFill>
              <a:srgbClr val="087F7B">
                <a:alpha val="0"/>
              </a:srgbClr>
            </a:solidFill>
            <a:prstDash val="solid"/>
          </a:ln>
        </p:spPr>
      </p:sp>
      <p:sp>
        <p:nvSpPr>
          <p:cNvPr id="98" name="Text 96"/>
          <p:cNvSpPr/>
          <p:nvPr/>
        </p:nvSpPr>
        <p:spPr>
          <a:xfrm>
            <a:off x="3581400" y="5105400"/>
            <a:ext cx="2194560" cy="205740"/>
          </a:xfrm>
          <a:prstGeom prst="rect">
            <a:avLst/>
          </a:prstGeom>
          <a:noFill/>
          <a:ln/>
        </p:spPr>
        <p:txBody>
          <a:bodyPr wrap="square" lIns="0" tIns="0" rIns="0" bIns="0" rtlCol="0" anchor="t"/>
          <a:lstStyle/>
          <a:p>
            <a:pPr algn="ctr" indent="0" marL="0">
              <a:lnSpc>
                <a:spcPct val="105000"/>
              </a:lnSpc>
              <a:buNone/>
            </a:pPr>
            <a:r>
              <a:rPr lang="en-US" altLang="en-US" sz="1200" b="1" dirty="0">
                <a:solidFill>
                  <a:srgbClr val="FFFFFF"/>
                </a:solidFill>
                <a:latin typeface="Arial" pitchFamily="34" charset="0"/>
                <a:ea typeface="Arial" pitchFamily="34" charset="-122"/>
                <a:cs typeface="Arial" pitchFamily="34" charset="-120"/>
              </a:rPr>
              <a:t>CURRENT FOCUS</a:t>
            </a:r>
            <a:endParaRPr lang="en-US" sz="1200" dirty="0"/>
          </a:p>
        </p:txBody>
      </p:sp>
      <p:sp>
        <p:nvSpPr>
          <p:cNvPr id="99" name="Text 97"/>
          <p:cNvSpPr/>
          <p:nvPr/>
        </p:nvSpPr>
        <p:spPr>
          <a:xfrm>
            <a:off x="609600" y="5577840"/>
            <a:ext cx="10972800" cy="365760"/>
          </a:xfrm>
          <a:prstGeom prst="rect">
            <a:avLst/>
          </a:prstGeom>
          <a:noFill/>
          <a:ln/>
        </p:spPr>
        <p:txBody>
          <a:bodyPr wrap="square" lIns="0" tIns="0" rIns="0" bIns="0" rtlCol="0" anchor="t"/>
          <a:lstStyle/>
          <a:p>
            <a:pPr algn="ctr" indent="0" marL="0">
              <a:lnSpc>
                <a:spcPct val="105000"/>
              </a:lnSpc>
              <a:buNone/>
            </a:pPr>
            <a:r>
              <a:rPr lang="en-US" altLang="en-US" sz="2220" b="1" dirty="0">
                <a:solidFill>
                  <a:srgbClr val="183139"/>
                </a:solidFill>
                <a:latin typeface="Arial" pitchFamily="34" charset="0"/>
                <a:ea typeface="Arial" pitchFamily="34" charset="-122"/>
                <a:cs typeface="Arial" pitchFamily="34" charset="-120"/>
              </a:rPr>
              <a:t>How is the initial estimate formed?</a:t>
            </a:r>
            <a:endParaRPr lang="en-US" sz="2220" dirty="0"/>
          </a:p>
        </p:txBody>
      </p:sp>
      <p:sp>
        <p:nvSpPr>
          <p:cNvPr id="100" name="Text 98"/>
          <p:cNvSpPr/>
          <p:nvPr/>
        </p:nvSpPr>
        <p:spPr>
          <a:xfrm>
            <a:off x="609600" y="6012180"/>
            <a:ext cx="10972800" cy="274320"/>
          </a:xfrm>
          <a:prstGeom prst="rect">
            <a:avLst/>
          </a:prstGeom>
          <a:noFill/>
          <a:ln/>
        </p:spPr>
        <p:txBody>
          <a:bodyPr wrap="square" lIns="0" tIns="0" rIns="0" bIns="0" rtlCol="0" anchor="t"/>
          <a:lstStyle/>
          <a:p>
            <a:pPr algn="ctr" indent="0" marL="0">
              <a:lnSpc>
                <a:spcPct val="105000"/>
              </a:lnSpc>
              <a:buNone/>
            </a:pPr>
            <a:r>
              <a:rPr lang="en-US" altLang="en-US" sz="1620" dirty="0">
                <a:solidFill>
                  <a:srgbClr val="62747A"/>
                </a:solidFill>
                <a:latin typeface="Arial" pitchFamily="34" charset="0"/>
                <a:ea typeface="Arial" pitchFamily="34" charset="-122"/>
                <a:cs typeface="Arial" pitchFamily="34" charset="-120"/>
              </a:rPr>
              <a:t>Test whether sufficiently accurate estimates support successful execution in simulation.</a:t>
            </a:r>
            <a:endParaRPr lang="en-US" sz="16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EF"/>
          </a:solidFill>
          <a:ln w="12700">
            <a:solidFill>
              <a:srgbClr val="F6F4EF">
                <a:alpha val="0"/>
              </a:srgbClr>
            </a:solidFill>
            <a:prstDash val="solid"/>
          </a:ln>
        </p:spPr>
      </p:sp>
      <p:sp>
        <p:nvSpPr>
          <p:cNvPr id="3" name="Shape 1"/>
          <p:cNvSpPr/>
          <p:nvPr/>
        </p:nvSpPr>
        <p:spPr>
          <a:xfrm>
            <a:off x="579120" y="342900"/>
            <a:ext cx="243840" cy="38100"/>
          </a:xfrm>
          <a:prstGeom prst="roundRect">
            <a:avLst/>
          </a:prstGeom>
          <a:solidFill>
            <a:srgbClr val="087F7B"/>
          </a:solidFill>
          <a:ln w="12700">
            <a:solidFill>
              <a:srgbClr val="087F7B">
                <a:alpha val="0"/>
              </a:srgbClr>
            </a:solidFill>
            <a:prstDash val="solid"/>
          </a:ln>
        </p:spPr>
      </p:sp>
      <p:sp>
        <p:nvSpPr>
          <p:cNvPr id="4" name="Text 2"/>
          <p:cNvSpPr/>
          <p:nvPr/>
        </p:nvSpPr>
        <p:spPr>
          <a:xfrm>
            <a:off x="944880" y="259080"/>
            <a:ext cx="10058400" cy="213360"/>
          </a:xfrm>
          <a:prstGeom prst="rect">
            <a:avLst/>
          </a:prstGeom>
          <a:noFill/>
          <a:ln/>
        </p:spPr>
        <p:txBody>
          <a:bodyPr wrap="square" lIns="0" tIns="0" rIns="0" bIns="0" rtlCol="0" anchor="t"/>
          <a:lstStyle/>
          <a:p>
            <a:pPr algn="l" indent="0" marL="0">
              <a:lnSpc>
                <a:spcPct val="105000"/>
              </a:lnSpc>
              <a:buNone/>
            </a:pPr>
            <a:r>
              <a:rPr lang="en-US" altLang="en-US" sz="1140" b="1" dirty="0">
                <a:solidFill>
                  <a:srgbClr val="087F7B"/>
                </a:solidFill>
                <a:latin typeface="Arial" pitchFamily="34" charset="0"/>
                <a:ea typeface="Arial" pitchFamily="34" charset="-122"/>
                <a:cs typeface="Arial" pitchFamily="34" charset="-120"/>
              </a:rPr>
              <a:t>07 · RESEARCH DIRECTION</a:t>
            </a:r>
            <a:endParaRPr lang="en-US" sz="1140" dirty="0"/>
          </a:p>
        </p:txBody>
      </p:sp>
      <p:sp>
        <p:nvSpPr>
          <p:cNvPr id="5" name="Text 3"/>
          <p:cNvSpPr/>
          <p:nvPr/>
        </p:nvSpPr>
        <p:spPr>
          <a:xfrm>
            <a:off x="579120" y="731520"/>
            <a:ext cx="11049000" cy="533400"/>
          </a:xfrm>
          <a:prstGeom prst="rect">
            <a:avLst/>
          </a:prstGeom>
          <a:noFill/>
          <a:ln/>
        </p:spPr>
        <p:txBody>
          <a:bodyPr wrap="square" lIns="0" tIns="0" rIns="0" bIns="0" rtlCol="0" anchor="t"/>
          <a:lstStyle/>
          <a:p>
            <a:pPr algn="l" indent="0" marL="0">
              <a:lnSpc>
                <a:spcPct val="105000"/>
              </a:lnSpc>
              <a:buNone/>
            </a:pPr>
            <a:r>
              <a:rPr lang="en-US" altLang="en-US" sz="3540" b="1" dirty="0">
                <a:solidFill>
                  <a:srgbClr val="183139"/>
                </a:solidFill>
                <a:latin typeface="Arial" pitchFamily="34" charset="0"/>
                <a:ea typeface="Arial" pitchFamily="34" charset="-122"/>
                <a:cs typeface="Arial" pitchFamily="34" charset="-120"/>
              </a:rPr>
              <a:t>Initial understanding comes first</a:t>
            </a:r>
            <a:endParaRPr lang="en-US" sz="3540" dirty="0"/>
          </a:p>
        </p:txBody>
      </p:sp>
      <p:sp>
        <p:nvSpPr>
          <p:cNvPr id="6" name="Text 4"/>
          <p:cNvSpPr/>
          <p:nvPr/>
        </p:nvSpPr>
        <p:spPr>
          <a:xfrm>
            <a:off x="609600" y="1432560"/>
            <a:ext cx="10896600" cy="320040"/>
          </a:xfrm>
          <a:prstGeom prst="rect">
            <a:avLst/>
          </a:prstGeom>
          <a:noFill/>
          <a:ln/>
        </p:spPr>
        <p:txBody>
          <a:bodyPr wrap="square" lIns="0" tIns="0" rIns="0" bIns="0" rtlCol="0" anchor="t"/>
          <a:lstStyle/>
          <a:p>
            <a:pPr algn="l" indent="0" marL="0">
              <a:lnSpc>
                <a:spcPct val="105000"/>
              </a:lnSpc>
              <a:buNone/>
            </a:pPr>
            <a:r>
              <a:rPr lang="en-US" altLang="en-US" sz="1800" dirty="0">
                <a:solidFill>
                  <a:srgbClr val="62747A"/>
                </a:solidFill>
                <a:latin typeface="Arial" pitchFamily="34" charset="0"/>
                <a:ea typeface="Arial" pitchFamily="34" charset="-122"/>
                <a:cs typeface="Arial" pitchFamily="34" charset="-120"/>
              </a:rPr>
              <a:t>Start with the initial estimate; investigate revision through interaction in a later stage.</a:t>
            </a:r>
            <a:endParaRPr lang="en-US" sz="1800" dirty="0"/>
          </a:p>
        </p:txBody>
      </p:sp>
      <p:sp>
        <p:nvSpPr>
          <p:cNvPr id="7" name="Shape 5"/>
          <p:cNvSpPr/>
          <p:nvPr/>
        </p:nvSpPr>
        <p:spPr>
          <a:xfrm>
            <a:off x="609600" y="6431280"/>
            <a:ext cx="10972800" cy="0"/>
          </a:xfrm>
          <a:prstGeom prst="line">
            <a:avLst/>
          </a:prstGeom>
          <a:noFill/>
          <a:ln w="11430">
            <a:solidFill>
              <a:srgbClr val="D8DFD9"/>
            </a:solidFill>
            <a:prstDash val="solid"/>
          </a:ln>
        </p:spPr>
      </p:sp>
      <p:sp>
        <p:nvSpPr>
          <p:cNvPr id="8" name="Text 6"/>
          <p:cNvSpPr/>
          <p:nvPr/>
        </p:nvSpPr>
        <p:spPr>
          <a:xfrm>
            <a:off x="609600" y="6568440"/>
            <a:ext cx="9372600" cy="175260"/>
          </a:xfrm>
          <a:prstGeom prst="rect">
            <a:avLst/>
          </a:prstGeom>
          <a:noFill/>
          <a:ln/>
        </p:spPr>
        <p:txBody>
          <a:bodyPr wrap="square" lIns="0" tIns="0" rIns="0" bIns="0" rtlCol="0" anchor="t"/>
          <a:lstStyle/>
          <a:p>
            <a:pPr algn="l" indent="0" marL="0">
              <a:lnSpc>
                <a:spcPct val="105000"/>
              </a:lnSpc>
              <a:buNone/>
            </a:pPr>
            <a:r>
              <a:rPr lang="en-US" altLang="en-US" sz="960" dirty="0">
                <a:solidFill>
                  <a:srgbClr val="62747A"/>
                </a:solidFill>
                <a:latin typeface="Arial" pitchFamily="34" charset="0"/>
                <a:ea typeface="Arial" pitchFamily="34" charset="-122"/>
                <a:cs typeface="Arial" pitchFamily="34" charset="-120"/>
              </a:rPr>
              <a:t>INITIAL PHYSICAL UNDERSTANDING  /  MENTOR DISCUSSION</a:t>
            </a:r>
            <a:endParaRPr lang="en-US" sz="960" dirty="0"/>
          </a:p>
        </p:txBody>
      </p:sp>
      <p:sp>
        <p:nvSpPr>
          <p:cNvPr id="9" name="Text 7"/>
          <p:cNvSpPr/>
          <p:nvPr/>
        </p:nvSpPr>
        <p:spPr>
          <a:xfrm>
            <a:off x="10591800" y="6545580"/>
            <a:ext cx="990600" cy="213360"/>
          </a:xfrm>
          <a:prstGeom prst="rect">
            <a:avLst/>
          </a:prstGeom>
          <a:noFill/>
          <a:ln/>
        </p:spPr>
        <p:txBody>
          <a:bodyPr wrap="square" lIns="0" tIns="0" rIns="0" bIns="0" rtlCol="0" anchor="t"/>
          <a:lstStyle/>
          <a:p>
            <a:pPr algn="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07 / 07</a:t>
            </a:r>
            <a:endParaRPr lang="en-US" sz="1140" dirty="0"/>
          </a:p>
        </p:txBody>
      </p:sp>
      <p:sp>
        <p:nvSpPr>
          <p:cNvPr id="10" name="Shape 8"/>
          <p:cNvSpPr/>
          <p:nvPr/>
        </p:nvSpPr>
        <p:spPr>
          <a:xfrm>
            <a:off x="609600" y="2171700"/>
            <a:ext cx="5257800" cy="2979420"/>
          </a:xfrm>
          <a:prstGeom prst="roundRect">
            <a:avLst/>
          </a:prstGeom>
          <a:solidFill>
            <a:srgbClr val="E1EFEB"/>
          </a:solidFill>
          <a:ln w="12700">
            <a:solidFill>
              <a:srgbClr val="E1EFEB">
                <a:alpha val="0"/>
              </a:srgbClr>
            </a:solidFill>
            <a:prstDash val="solid"/>
          </a:ln>
        </p:spPr>
      </p:sp>
      <p:sp>
        <p:nvSpPr>
          <p:cNvPr id="11" name="Shape 9"/>
          <p:cNvSpPr/>
          <p:nvPr/>
        </p:nvSpPr>
        <p:spPr>
          <a:xfrm>
            <a:off x="6324600" y="2171700"/>
            <a:ext cx="5257800" cy="2979420"/>
          </a:xfrm>
          <a:prstGeom prst="roundRect">
            <a:avLst/>
          </a:prstGeom>
          <a:solidFill>
            <a:srgbClr val="F6F4EF">
              <a:alpha val="0"/>
            </a:srgbClr>
          </a:solidFill>
          <a:ln w="15240">
            <a:solidFill>
              <a:srgbClr val="93A5AA"/>
            </a:solidFill>
            <a:prstDash val="dash"/>
          </a:ln>
        </p:spPr>
      </p:sp>
      <p:sp>
        <p:nvSpPr>
          <p:cNvPr id="12" name="Shape 10"/>
          <p:cNvSpPr/>
          <p:nvPr/>
        </p:nvSpPr>
        <p:spPr>
          <a:xfrm>
            <a:off x="838200" y="2369820"/>
            <a:ext cx="2430780" cy="289560"/>
          </a:xfrm>
          <a:prstGeom prst="roundRect">
            <a:avLst/>
          </a:prstGeom>
          <a:solidFill>
            <a:srgbClr val="087F7B"/>
          </a:solidFill>
          <a:ln w="12700">
            <a:solidFill>
              <a:srgbClr val="087F7B">
                <a:alpha val="0"/>
              </a:srgbClr>
            </a:solidFill>
            <a:prstDash val="solid"/>
          </a:ln>
        </p:spPr>
      </p:sp>
      <p:sp>
        <p:nvSpPr>
          <p:cNvPr id="13" name="Text 11"/>
          <p:cNvSpPr/>
          <p:nvPr/>
        </p:nvSpPr>
        <p:spPr>
          <a:xfrm>
            <a:off x="838200" y="2415540"/>
            <a:ext cx="2430780" cy="205740"/>
          </a:xfrm>
          <a:prstGeom prst="rect">
            <a:avLst/>
          </a:prstGeom>
          <a:noFill/>
          <a:ln/>
        </p:spPr>
        <p:txBody>
          <a:bodyPr wrap="square" lIns="0" tIns="0" rIns="0" bIns="0" rtlCol="0" anchor="t"/>
          <a:lstStyle/>
          <a:p>
            <a:pPr algn="ctr" indent="0" marL="0">
              <a:lnSpc>
                <a:spcPct val="105000"/>
              </a:lnSpc>
              <a:buNone/>
            </a:pPr>
            <a:r>
              <a:rPr lang="en-US" altLang="en-US" sz="1140" b="1" dirty="0">
                <a:solidFill>
                  <a:srgbClr val="FFFFFF"/>
                </a:solidFill>
                <a:latin typeface="Arial" pitchFamily="34" charset="0"/>
                <a:ea typeface="Arial" pitchFamily="34" charset="-122"/>
                <a:cs typeface="Arial" pitchFamily="34" charset="-120"/>
              </a:rPr>
              <a:t>CURRENT EXPERIMENT</a:t>
            </a:r>
            <a:endParaRPr lang="en-US" sz="1140" dirty="0"/>
          </a:p>
        </p:txBody>
      </p:sp>
      <p:sp>
        <p:nvSpPr>
          <p:cNvPr id="14" name="Shape 12"/>
          <p:cNvSpPr/>
          <p:nvPr/>
        </p:nvSpPr>
        <p:spPr>
          <a:xfrm>
            <a:off x="6553200" y="2369820"/>
            <a:ext cx="2133600" cy="289560"/>
          </a:xfrm>
          <a:prstGeom prst="roundRect">
            <a:avLst/>
          </a:prstGeom>
          <a:solidFill>
            <a:srgbClr val="E8ECE8"/>
          </a:solidFill>
          <a:ln w="12700">
            <a:solidFill>
              <a:srgbClr val="E8ECE8">
                <a:alpha val="0"/>
              </a:srgbClr>
            </a:solidFill>
            <a:prstDash val="solid"/>
          </a:ln>
        </p:spPr>
      </p:sp>
      <p:sp>
        <p:nvSpPr>
          <p:cNvPr id="15" name="Text 13"/>
          <p:cNvSpPr/>
          <p:nvPr/>
        </p:nvSpPr>
        <p:spPr>
          <a:xfrm>
            <a:off x="6553200" y="2415540"/>
            <a:ext cx="2133600" cy="205740"/>
          </a:xfrm>
          <a:prstGeom prst="rect">
            <a:avLst/>
          </a:prstGeom>
          <a:noFill/>
          <a:ln/>
        </p:spPr>
        <p:txBody>
          <a:bodyPr wrap="square" lIns="0" tIns="0" rIns="0" bIns="0" rtlCol="0" anchor="t"/>
          <a:lstStyle/>
          <a:p>
            <a:pPr algn="ctr" indent="0" marL="0">
              <a:lnSpc>
                <a:spcPct val="105000"/>
              </a:lnSpc>
              <a:buNone/>
            </a:pPr>
            <a:r>
              <a:rPr lang="en-US" altLang="en-US" sz="1140" b="1" dirty="0">
                <a:solidFill>
                  <a:srgbClr val="62747A"/>
                </a:solidFill>
                <a:latin typeface="Arial" pitchFamily="34" charset="0"/>
                <a:ea typeface="Arial" pitchFamily="34" charset="-122"/>
                <a:cs typeface="Arial" pitchFamily="34" charset="-120"/>
              </a:rPr>
              <a:t>LATER EXTENSION</a:t>
            </a:r>
            <a:endParaRPr lang="en-US" sz="1140" dirty="0"/>
          </a:p>
        </p:txBody>
      </p:sp>
      <p:sp>
        <p:nvSpPr>
          <p:cNvPr id="16" name="Text 14"/>
          <p:cNvSpPr/>
          <p:nvPr/>
        </p:nvSpPr>
        <p:spPr>
          <a:xfrm>
            <a:off x="861060" y="2956560"/>
            <a:ext cx="4495800" cy="769620"/>
          </a:xfrm>
          <a:prstGeom prst="rect">
            <a:avLst/>
          </a:prstGeom>
          <a:noFill/>
          <a:ln/>
        </p:spPr>
        <p:txBody>
          <a:bodyPr wrap="square" lIns="0" tIns="0" rIns="0" bIns="0" rtlCol="0" anchor="t"/>
          <a:lstStyle/>
          <a:p>
            <a:pPr algn="l" indent="0" marL="0">
              <a:lnSpc>
                <a:spcPct val="105000"/>
              </a:lnSpc>
              <a:buNone/>
            </a:pPr>
            <a:r>
              <a:rPr lang="en-US" altLang="en-US" sz="2340" b="1" dirty="0">
                <a:solidFill>
                  <a:srgbClr val="183139"/>
                </a:solidFill>
                <a:latin typeface="Arial" pitchFamily="34" charset="0"/>
                <a:ea typeface="Arial" pitchFamily="34" charset="-122"/>
                <a:cs typeface="Arial" pitchFamily="34" charset="-120"/>
              </a:rPr>
              <a:t>Form an initial</a:t>
            </a:r>
            <a:endParaRPr lang="en-US" sz="2340" dirty="0"/>
          </a:p>
          <a:p>
            <a:pPr algn="l" indent="0" marL="0">
              <a:lnSpc>
                <a:spcPct val="105000"/>
              </a:lnSpc>
              <a:buNone/>
            </a:pPr>
            <a:r>
              <a:rPr lang="en-US" altLang="en-US" sz="2340" b="1" dirty="0">
                <a:solidFill>
                  <a:srgbClr val="183139"/>
                </a:solidFill>
                <a:latin typeface="Arial" pitchFamily="34" charset="0"/>
                <a:ea typeface="Arial" pitchFamily="34" charset="-122"/>
                <a:cs typeface="Arial" pitchFamily="34" charset="-120"/>
              </a:rPr>
              <a:t>physical estimate.</a:t>
            </a:r>
            <a:endParaRPr lang="en-US" sz="2340" dirty="0"/>
          </a:p>
        </p:txBody>
      </p:sp>
      <p:sp>
        <p:nvSpPr>
          <p:cNvPr id="17" name="Text 15"/>
          <p:cNvSpPr/>
          <p:nvPr/>
        </p:nvSpPr>
        <p:spPr>
          <a:xfrm>
            <a:off x="6576060" y="2956560"/>
            <a:ext cx="4572000" cy="769620"/>
          </a:xfrm>
          <a:prstGeom prst="rect">
            <a:avLst/>
          </a:prstGeom>
          <a:noFill/>
          <a:ln/>
        </p:spPr>
        <p:txBody>
          <a:bodyPr wrap="square" lIns="0" tIns="0" rIns="0" bIns="0" rtlCol="0" anchor="t"/>
          <a:lstStyle/>
          <a:p>
            <a:pPr algn="l" indent="0" marL="0">
              <a:lnSpc>
                <a:spcPct val="105000"/>
              </a:lnSpc>
              <a:buNone/>
            </a:pPr>
            <a:r>
              <a:rPr lang="en-US" altLang="en-US" sz="2340" b="1" dirty="0">
                <a:solidFill>
                  <a:srgbClr val="183139"/>
                </a:solidFill>
                <a:latin typeface="Arial" pitchFamily="34" charset="0"/>
                <a:ea typeface="Arial" pitchFamily="34" charset="-122"/>
                <a:cs typeface="Arial" pitchFamily="34" charset="-120"/>
              </a:rPr>
              <a:t>Use observed responses</a:t>
            </a:r>
            <a:endParaRPr lang="en-US" sz="2340" dirty="0"/>
          </a:p>
          <a:p>
            <a:pPr algn="l" indent="0" marL="0">
              <a:lnSpc>
                <a:spcPct val="105000"/>
              </a:lnSpc>
              <a:buNone/>
            </a:pPr>
            <a:r>
              <a:rPr lang="en-US" altLang="en-US" sz="2340" b="1" dirty="0">
                <a:solidFill>
                  <a:srgbClr val="183139"/>
                </a:solidFill>
                <a:latin typeface="Arial" pitchFamily="34" charset="0"/>
                <a:ea typeface="Arial" pitchFamily="34" charset="-122"/>
                <a:cs typeface="Arial" pitchFamily="34" charset="-120"/>
              </a:rPr>
              <a:t>to revise the estimate.</a:t>
            </a:r>
            <a:endParaRPr lang="en-US" sz="2340" dirty="0"/>
          </a:p>
        </p:txBody>
      </p:sp>
      <p:sp>
        <p:nvSpPr>
          <p:cNvPr id="18" name="Shape 16"/>
          <p:cNvSpPr/>
          <p:nvPr/>
        </p:nvSpPr>
        <p:spPr>
          <a:xfrm>
            <a:off x="861060" y="4038600"/>
            <a:ext cx="1821180" cy="632460"/>
          </a:xfrm>
          <a:prstGeom prst="roundRect">
            <a:avLst/>
          </a:prstGeom>
          <a:solidFill>
            <a:srgbClr val="FFFFFF"/>
          </a:solidFill>
          <a:ln w="12700">
            <a:solidFill>
              <a:srgbClr val="FFFFFF">
                <a:alpha val="0"/>
              </a:srgbClr>
            </a:solidFill>
            <a:prstDash val="solid"/>
          </a:ln>
        </p:spPr>
      </p:sp>
      <p:sp>
        <p:nvSpPr>
          <p:cNvPr id="19" name="Text 17"/>
          <p:cNvSpPr/>
          <p:nvPr/>
        </p:nvSpPr>
        <p:spPr>
          <a:xfrm>
            <a:off x="960120" y="4236720"/>
            <a:ext cx="1623060" cy="259080"/>
          </a:xfrm>
          <a:prstGeom prst="rect">
            <a:avLst/>
          </a:prstGeom>
          <a:noFill/>
          <a:ln/>
        </p:spPr>
        <p:txBody>
          <a:bodyPr wrap="square" lIns="0" tIns="0" rIns="0" bIns="0" rtlCol="0" anchor="t"/>
          <a:lstStyle/>
          <a:p>
            <a:pPr algn="ctr" indent="0" marL="0">
              <a:lnSpc>
                <a:spcPct val="105000"/>
              </a:lnSpc>
              <a:buNone/>
            </a:pPr>
            <a:r>
              <a:rPr lang="en-US" altLang="en-US" sz="1500" b="1" dirty="0">
                <a:solidFill>
                  <a:srgbClr val="087F7B"/>
                </a:solidFill>
                <a:latin typeface="Arial" pitchFamily="34" charset="0"/>
                <a:ea typeface="Arial" pitchFamily="34" charset="-122"/>
                <a:cs typeface="Arial" pitchFamily="34" charset="-120"/>
              </a:rPr>
              <a:t>Initial estimate</a:t>
            </a:r>
            <a:endParaRPr lang="en-US" sz="1500" dirty="0"/>
          </a:p>
        </p:txBody>
      </p:sp>
      <p:sp>
        <p:nvSpPr>
          <p:cNvPr id="20" name="Shape 18"/>
          <p:cNvSpPr/>
          <p:nvPr/>
        </p:nvSpPr>
        <p:spPr>
          <a:xfrm>
            <a:off x="2811780" y="4358640"/>
            <a:ext cx="396240" cy="0"/>
          </a:xfrm>
          <a:prstGeom prst="line">
            <a:avLst/>
          </a:prstGeom>
          <a:noFill/>
          <a:ln w="19050">
            <a:solidFill>
              <a:srgbClr val="087F7B"/>
            </a:solidFill>
            <a:prstDash val="solid"/>
            <a:tailEnd type="triangle"/>
          </a:ln>
        </p:spPr>
      </p:sp>
      <p:sp>
        <p:nvSpPr>
          <p:cNvPr id="21" name="Shape 19"/>
          <p:cNvSpPr/>
          <p:nvPr/>
        </p:nvSpPr>
        <p:spPr>
          <a:xfrm>
            <a:off x="3345180" y="4038600"/>
            <a:ext cx="2179320" cy="632460"/>
          </a:xfrm>
          <a:prstGeom prst="roundRect">
            <a:avLst/>
          </a:prstGeom>
          <a:solidFill>
            <a:srgbClr val="FFFFFF"/>
          </a:solidFill>
          <a:ln w="12700">
            <a:solidFill>
              <a:srgbClr val="FFFFFF">
                <a:alpha val="0"/>
              </a:srgbClr>
            </a:solidFill>
            <a:prstDash val="solid"/>
          </a:ln>
        </p:spPr>
      </p:sp>
      <p:sp>
        <p:nvSpPr>
          <p:cNvPr id="22" name="Text 20"/>
          <p:cNvSpPr/>
          <p:nvPr/>
        </p:nvSpPr>
        <p:spPr>
          <a:xfrm>
            <a:off x="3444240" y="4236720"/>
            <a:ext cx="1981200" cy="259080"/>
          </a:xfrm>
          <a:prstGeom prst="rect">
            <a:avLst/>
          </a:prstGeom>
          <a:noFill/>
          <a:ln/>
        </p:spPr>
        <p:txBody>
          <a:bodyPr wrap="square" lIns="0" tIns="0" rIns="0" bIns="0" rtlCol="0" anchor="t"/>
          <a:lstStyle/>
          <a:p>
            <a:pPr algn="ctr" indent="0" marL="0">
              <a:lnSpc>
                <a:spcPct val="105000"/>
              </a:lnSpc>
              <a:buNone/>
            </a:pPr>
            <a:r>
              <a:rPr lang="en-US" altLang="en-US" sz="1500" b="1" dirty="0">
                <a:solidFill>
                  <a:srgbClr val="183139"/>
                </a:solidFill>
                <a:latin typeface="Arial" pitchFamily="34" charset="0"/>
                <a:ea typeface="Arial" pitchFamily="34" charset="-122"/>
                <a:cs typeface="Arial" pitchFamily="34" charset="-120"/>
              </a:rPr>
              <a:t>Task execution</a:t>
            </a:r>
            <a:endParaRPr lang="en-US" sz="1500" dirty="0"/>
          </a:p>
        </p:txBody>
      </p:sp>
      <p:sp>
        <p:nvSpPr>
          <p:cNvPr id="23" name="Text 21"/>
          <p:cNvSpPr/>
          <p:nvPr/>
        </p:nvSpPr>
        <p:spPr>
          <a:xfrm>
            <a:off x="6576060" y="3840480"/>
            <a:ext cx="4533900" cy="243840"/>
          </a:xfrm>
          <a:prstGeom prst="rect">
            <a:avLst/>
          </a:prstGeom>
          <a:noFill/>
          <a:ln/>
        </p:spPr>
        <p:txBody>
          <a:bodyPr wrap="square" lIns="0" tIns="0" rIns="0" bIns="0" rtlCol="0" anchor="t"/>
          <a:lstStyle/>
          <a:p>
            <a:pPr algn="l" indent="0" marL="0">
              <a:lnSpc>
                <a:spcPct val="105000"/>
              </a:lnSpc>
              <a:buNone/>
            </a:pPr>
            <a:r>
              <a:rPr lang="en-US" altLang="en-US" sz="1440" dirty="0">
                <a:solidFill>
                  <a:srgbClr val="62747A"/>
                </a:solidFill>
                <a:latin typeface="Arial" pitchFamily="34" charset="0"/>
                <a:ea typeface="Arial" pitchFamily="34" charset="-122"/>
                <a:cs typeface="Arial" pitchFamily="34" charset="-120"/>
              </a:rPr>
              <a:t>Success, failure, and interaction data</a:t>
            </a:r>
            <a:endParaRPr lang="en-US" sz="1440" dirty="0"/>
          </a:p>
        </p:txBody>
      </p:sp>
      <p:sp>
        <p:nvSpPr>
          <p:cNvPr id="24" name="Shape 22"/>
          <p:cNvSpPr/>
          <p:nvPr/>
        </p:nvSpPr>
        <p:spPr>
          <a:xfrm>
            <a:off x="6576060" y="4206240"/>
            <a:ext cx="1821180" cy="632460"/>
          </a:xfrm>
          <a:prstGeom prst="roundRect">
            <a:avLst/>
          </a:prstGeom>
          <a:solidFill>
            <a:srgbClr val="FFFFFF"/>
          </a:solidFill>
          <a:ln w="7620">
            <a:solidFill>
              <a:srgbClr val="D8DFD9"/>
            </a:solidFill>
            <a:prstDash val="solid"/>
          </a:ln>
        </p:spPr>
      </p:sp>
      <p:sp>
        <p:nvSpPr>
          <p:cNvPr id="25" name="Text 23"/>
          <p:cNvSpPr/>
          <p:nvPr/>
        </p:nvSpPr>
        <p:spPr>
          <a:xfrm>
            <a:off x="6675120" y="4411980"/>
            <a:ext cx="1623060" cy="243840"/>
          </a:xfrm>
          <a:prstGeom prst="rect">
            <a:avLst/>
          </a:prstGeom>
          <a:noFill/>
          <a:ln/>
        </p:spPr>
        <p:txBody>
          <a:bodyPr wrap="square" lIns="0" tIns="0" rIns="0" bIns="0" rtlCol="0" anchor="t"/>
          <a:lstStyle/>
          <a:p>
            <a:pPr algn="ctr" indent="0" marL="0">
              <a:lnSpc>
                <a:spcPct val="105000"/>
              </a:lnSpc>
              <a:buNone/>
            </a:pPr>
            <a:r>
              <a:rPr lang="en-US" altLang="en-US" sz="1440" b="1" dirty="0">
                <a:solidFill>
                  <a:srgbClr val="62747A"/>
                </a:solidFill>
                <a:latin typeface="Arial" pitchFamily="34" charset="0"/>
                <a:ea typeface="Arial" pitchFamily="34" charset="-122"/>
                <a:cs typeface="Arial" pitchFamily="34" charset="-120"/>
              </a:rPr>
              <a:t>Revised estimate</a:t>
            </a:r>
            <a:endParaRPr lang="en-US" sz="1440" dirty="0"/>
          </a:p>
        </p:txBody>
      </p:sp>
      <p:sp>
        <p:nvSpPr>
          <p:cNvPr id="26" name="Shape 24"/>
          <p:cNvSpPr/>
          <p:nvPr/>
        </p:nvSpPr>
        <p:spPr>
          <a:xfrm>
            <a:off x="8496300" y="4526280"/>
            <a:ext cx="388620" cy="0"/>
          </a:xfrm>
          <a:prstGeom prst="line">
            <a:avLst/>
          </a:prstGeom>
          <a:noFill/>
          <a:ln w="19050">
            <a:solidFill>
              <a:srgbClr val="62747A"/>
            </a:solidFill>
            <a:prstDash val="dash"/>
            <a:tailEnd type="triangle"/>
          </a:ln>
        </p:spPr>
      </p:sp>
      <p:sp>
        <p:nvSpPr>
          <p:cNvPr id="27" name="Shape 25"/>
          <p:cNvSpPr/>
          <p:nvPr/>
        </p:nvSpPr>
        <p:spPr>
          <a:xfrm>
            <a:off x="9022080" y="4206240"/>
            <a:ext cx="2179320" cy="632460"/>
          </a:xfrm>
          <a:prstGeom prst="roundRect">
            <a:avLst/>
          </a:prstGeom>
          <a:solidFill>
            <a:srgbClr val="FFFFFF"/>
          </a:solidFill>
          <a:ln w="7620">
            <a:solidFill>
              <a:srgbClr val="D8DFD9"/>
            </a:solidFill>
            <a:prstDash val="solid"/>
          </a:ln>
        </p:spPr>
      </p:sp>
      <p:sp>
        <p:nvSpPr>
          <p:cNvPr id="28" name="Text 26"/>
          <p:cNvSpPr/>
          <p:nvPr/>
        </p:nvSpPr>
        <p:spPr>
          <a:xfrm>
            <a:off x="9121140" y="4411980"/>
            <a:ext cx="1981200" cy="243840"/>
          </a:xfrm>
          <a:prstGeom prst="rect">
            <a:avLst/>
          </a:prstGeom>
          <a:noFill/>
          <a:ln/>
        </p:spPr>
        <p:txBody>
          <a:bodyPr wrap="square" lIns="0" tIns="0" rIns="0" bIns="0" rtlCol="0" anchor="t"/>
          <a:lstStyle/>
          <a:p>
            <a:pPr algn="ctr" indent="0" marL="0">
              <a:lnSpc>
                <a:spcPct val="105000"/>
              </a:lnSpc>
              <a:buNone/>
            </a:pPr>
            <a:r>
              <a:rPr lang="en-US" altLang="en-US" sz="1440" b="1" dirty="0">
                <a:solidFill>
                  <a:srgbClr val="62747A"/>
                </a:solidFill>
                <a:latin typeface="Arial" pitchFamily="34" charset="0"/>
                <a:ea typeface="Arial" pitchFamily="34" charset="-122"/>
                <a:cs typeface="Arial" pitchFamily="34" charset="-120"/>
              </a:rPr>
              <a:t>Next execution</a:t>
            </a:r>
            <a:endParaRPr lang="en-US" sz="1440" dirty="0"/>
          </a:p>
        </p:txBody>
      </p:sp>
      <p:sp>
        <p:nvSpPr>
          <p:cNvPr id="29" name="Shape 27"/>
          <p:cNvSpPr/>
          <p:nvPr/>
        </p:nvSpPr>
        <p:spPr>
          <a:xfrm>
            <a:off x="10119360" y="4922520"/>
            <a:ext cx="0" cy="91440"/>
          </a:xfrm>
          <a:prstGeom prst="line">
            <a:avLst/>
          </a:prstGeom>
          <a:noFill/>
          <a:ln w="15240">
            <a:solidFill>
              <a:srgbClr val="93A5AA"/>
            </a:solidFill>
            <a:prstDash val="dash"/>
          </a:ln>
        </p:spPr>
      </p:sp>
      <p:sp>
        <p:nvSpPr>
          <p:cNvPr id="30" name="Shape 28"/>
          <p:cNvSpPr/>
          <p:nvPr/>
        </p:nvSpPr>
        <p:spPr>
          <a:xfrm flipH="1">
            <a:off x="7482840" y="5013960"/>
            <a:ext cx="2636520" cy="0"/>
          </a:xfrm>
          <a:prstGeom prst="line">
            <a:avLst/>
          </a:prstGeom>
          <a:noFill/>
          <a:ln w="15240">
            <a:solidFill>
              <a:srgbClr val="93A5AA"/>
            </a:solidFill>
            <a:prstDash val="dash"/>
          </a:ln>
        </p:spPr>
      </p:sp>
      <p:sp>
        <p:nvSpPr>
          <p:cNvPr id="31" name="Shape 29"/>
          <p:cNvSpPr/>
          <p:nvPr/>
        </p:nvSpPr>
        <p:spPr>
          <a:xfrm flipV="1">
            <a:off x="7482840" y="4930140"/>
            <a:ext cx="0" cy="83820"/>
          </a:xfrm>
          <a:prstGeom prst="line">
            <a:avLst/>
          </a:prstGeom>
          <a:noFill/>
          <a:ln w="15240">
            <a:solidFill>
              <a:srgbClr val="93A5AA"/>
            </a:solidFill>
            <a:prstDash val="dash"/>
            <a:tailEnd type="triangle"/>
          </a:ln>
        </p:spPr>
      </p:sp>
      <p:sp>
        <p:nvSpPr>
          <p:cNvPr id="32" name="Text 30"/>
          <p:cNvSpPr/>
          <p:nvPr/>
        </p:nvSpPr>
        <p:spPr>
          <a:xfrm>
            <a:off x="609600" y="5486400"/>
            <a:ext cx="10972800" cy="754380"/>
          </a:xfrm>
          <a:prstGeom prst="rect">
            <a:avLst/>
          </a:prstGeom>
          <a:noFill/>
          <a:ln/>
        </p:spPr>
        <p:txBody>
          <a:bodyPr wrap="square" lIns="0" tIns="0" rIns="0" bIns="0" rtlCol="0" anchor="t"/>
          <a:lstStyle/>
          <a:p>
            <a:pPr algn="l" indent="0" marL="0">
              <a:lnSpc>
                <a:spcPct val="105000"/>
              </a:lnSpc>
              <a:buNone/>
            </a:pPr>
            <a:r>
              <a:rPr lang="en-US" altLang="en-US" sz="2280" b="1" dirty="0">
                <a:solidFill>
                  <a:srgbClr val="183139"/>
                </a:solidFill>
                <a:latin typeface="Arial" pitchFamily="34" charset="0"/>
                <a:ea typeface="Arial" pitchFamily="34" charset="-122"/>
                <a:cs typeface="Arial" pitchFamily="34" charset="-120"/>
              </a:rPr>
              <a:t>Can a compact physical estimate support reliable</a:t>
            </a:r>
            <a:endParaRPr lang="en-US" sz="2280" dirty="0"/>
          </a:p>
          <a:p>
            <a:pPr algn="l" indent="0" marL="0">
              <a:lnSpc>
                <a:spcPct val="105000"/>
              </a:lnSpc>
              <a:buNone/>
            </a:pPr>
            <a:r>
              <a:rPr lang="en-US" altLang="en-US" sz="2280" b="1" dirty="0">
                <a:solidFill>
                  <a:srgbClr val="183139"/>
                </a:solidFill>
                <a:latin typeface="Arial" pitchFamily="34" charset="0"/>
                <a:ea typeface="Arial" pitchFamily="34" charset="-122"/>
                <a:cs typeface="Arial" pitchFamily="34" charset="-120"/>
              </a:rPr>
              <a:t>execution of a fixed manipulation task?</a:t>
            </a:r>
            <a:endParaRPr lang="en-US" sz="2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Initial physical understanding for robot deployment</dc:title>
  <dc:subject>Research idea for mentor discussion</dc:subject>
  <dc:creator/>
  <cp:lastModifiedBy/>
  <cp:revision>1</cp:revision>
  <dcterms:created xsi:type="dcterms:W3CDTF">2026-10-22T03:45:28Z</dcterms:created>
  <dcterms:modified xsi:type="dcterms:W3CDTF">2026-10-22T03:45:28Z</dcterms:modified>
</cp:coreProperties>
</file>